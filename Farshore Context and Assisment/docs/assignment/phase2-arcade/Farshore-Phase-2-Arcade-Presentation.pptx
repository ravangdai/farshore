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Types>
</file>

<file path=_rels/.rels><?xml version="1.0" encoding="UTF-8" standalone="yes"?><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Lst>
  <p:notesMasterIdLst>
    <p:notesMasterId r:id="rId2"/>
  </p:notesMasterIdLst>
  <p:sldSz cx="12192000" cy="6858000" type="screen16x9"/>
  <p:notesSz cx="6858000" cy="9144000"/>
  <p:defaultTextStyle/>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30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Farshore turns Odysseus' journey into five distinct arcade trials. Phase 2 focuses on how a player learns a trial, reviews an optional model strategy and recovers from failure. The new direction keeps the Odyssey setting and makes each shore a recognizable game. Source: user arcade design, current src/ArcadeApp.tsx. Original project artwork: public/art/title.png.</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50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Explain the variety briefly. The player moves on a grid, solves a puzzle duel, echoes a melody, controls a shield while rowing, then aims through twelve axe rings. Rivals take turns or visibly react. The myth provides context, while the arcade rules are adaptations. Antinous' competitive shots are an arcade invention. In Book XXI he postpones the contest before taking his turn. Source: src/lib/arcade.ts and src/lib/mythic.ts; Odyssey Books IX, X, XII, XXI. https://www.gutenberg.org/files/1727/1727-h/1727-h.htm#chap21, accessed October 8, 2026.</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45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Maya is the gamer concerned about fairness, Daniel is the reader with limited technical comfort, and Rosa is skeptical of AI. Their ages and sketches come from my Phase 1 slide. The arcade needs are design hypotheses, not new interview findings. Each of the five full task flows names the persona it serves. Source: original/Farshore_Phase12nd.pptx, slide 4; design packet persona page.</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45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first path is Title, Introduction, Map and Briefing. A briefing opens one of five games, then a result either retries or unlocks the next shore. The fifth passage reaches Homecoming. Settings, Pause/leave, Restart and Assistance are shared overlays. The full packet inventories all fifteen screens and their content. F1 handles starting and learning. F5 handles progress, assistance and finishing. Source: src/ArcadeApp.tsx, round component and design packet S01-S15.</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55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browser sends a shore ID, difficulty and at most two numeric attempts. The server derives the player observations and gives Llama a finite strategy catalog. It validates planId and focus and supplies an authored description. The player reviews it, then local game logic runs the match. Completed records and preferences stay in browser localStorage. The server sends derived habits and win count, rather than raw attempt objects, to the model. The game fixes focus while Llama chooses one of two strategies. Our measured endpoint is loopback Ollama. No third-party model provider receives these calls. A hosted endpoint would require a changed disclosure. Sources: server/arcade.ts, src/lib/arcade.ts, https://docs.ollama.com/api/openai-compatibility and https://docs.ollama.com/capabilities/structured-outputs, accessed October 8, 2026.</a:t>
            </a:r>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60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After selecting AI Rival Battle, Prepare sends the model request. Loading shows elapsed seconds and Cancel. Server validation must succeed before a strategy can be shown. The player can read its description and start, regenerate, or change input. Changing difficulty or mode discards the plan. A dedicated Discard action is a design proposal for clearer undo of preparation. There is no score undo after a completed round. Source: F2 and W05-W09/W27; src/ArcadeApp.tsx prepare, cancelAi and setDifficulty.</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45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Gameplay differs at each shore, but the interaction cycle is shared: enter, act, observe the rival and reach a clear or loss condition. Local simulation owns the physics and scoring, even in a model-planned match. Hidden tabs or lost focus pause and release held controls. Loss offers retry, practice, the map or assistance. Practice changes no campaign progress. The packet includes all five play interfaces and major turns. Sources: F3, W11-W20, src/components/arcade-round.tsx and src/lib/mythic.ts.</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45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These grayscale wireframes show information hierarchy rather than game art. Initial makes the optional model action visible. Loading provides real feedback and Cancel. A prepared result names the strategy and explains that the selected difficulty stays fixed. Start is disabled while the request is pending. The measured maximum above ten seconds supports elapsed-time feedback and cancellation. Source: W05-W07 and current prepare states; professor Phase 2 brief page 2.</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55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A rejected model result cannot become a model-planned duel. Explicit local play remains available. Finite allowed IDs and authored descriptions keep arbitrary prose out of the interface. A legal but unwanted strategy can still be regenerated or rejected. Connection failure, timeout and a busy provider preserve progress and provide explicit local play. Unsupported input returns guidance before inference. We show no confidence percentage because this generative model does not supply a calibrated probability. Source: F4, EC1-EC5, W08-W10, server/arcade.ts; professor confidence note on page 2.</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65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A standalone script calls the production adapter with six synthetic, realistic use-case inputs and captures real provider outputs. Temperature is zero, structured schema is strict, output cap is one hundred tokens and streaming is off. The six archived durations sum to 49.671 seconds. The exact arithmetic mean is 8.2785 seconds, rounded half up to 8.279. The raw JSON retains its original floating-point display of 8.278. All outputs are legal. First-time Cyclops and one-loss Strait differ from advisory preferences. S6 injects left-side lane durations that current new-game summaries do not collect. Its focus is constrained by the schema, rather than discovered by the model. Siren targeting uses current-round misses and begins fresh each round. This is feasibility evidence, not a tactical accuracy or enjoyment benchmark. Sources: evidence/phase2-arcade-spike-2026-10-08.json, quality-review.json, scripts/phase2-arcade-spike.mjs and src/lib/mythic.ts mythicSummary.</a:t>
            </a:r>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65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Two probes actually reach the model service: a nonexistent model returns 404 and malformed provider JSON returns 400 with unexpected EOF. Unsupported difficulty stops at the app boundary and returns 400. Exact error bodies are archived. No live rate-limit threshold or sustained load is measured. The adapter has a busy-service path for 429. Local inference produces no billed API fee in this run, but hardware and electricity cost are unmeasured. These results support visible preparation, elapsed time and Cancel, validated plans and retained progress with explicit fallback. Source: raw spike failure records and one-page summary.</a:t>
            </a:r>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40 seconds.</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prototype implements the core arcade loop and the model controls discussed today. Discard and explicit provider privacy detail remain proposals. Storage failure already triggers a persistent warning. Actual interviews and class critique require real people and are not invented in this package. The model remains provisional until player evaluation shows whether its strategy choices help. The supporting packet has every screen, five persona-labeled tasks, twenty-eight wireframes and exact technical evidence. Finish at ten minutes and invite the separate three-to-five-minute Q&amp;A. Sources: design packet and peer-critique record.</a:t>
            </a:r>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Screen inventory and content strategy. Source: src/ArcadeApp.tsx, src/components/arcade-round.tsx and editable/content.json screens. Screen IDs describe design surfaces, including overlays and the five play views.</a:t>
            </a:r>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Screen inventory and content strategy. Source: src/ArcadeApp.tsx, src/components/arcade-round.tsx and editable/content.json screens. Screen IDs describe design surfaces, including overlays and the five play views.</a:t>
            </a:r>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Screen inventory and content strategy. Source: src/ArcadeApp.tsx, src/components/arcade-round.tsx and editable/content.json screens. Screen IDs describe design surfaces, including overlays and the five play views.</a:t>
            </a:r>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Sources: server/arcade.ts request schema, observations, expectedFocus, JSON schema, provider body and timeout; src/lib/mythic.ts mythicSummary and compose; src/ArcadeApp.tsx prepare. No names, voice or free text enter this feature. Model output cannot change scoring or warning durations. The model is retained provisionally for bounded selection, pending player evaluation. Documentation: https://docs.ollama.com/api/openai-compatibility and https://docs.ollama.com/capabilities/structured-outputs, accessed October 8, 2026.</a:t>
            </a:r>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first usable trial needs no model configuration.</a:t>
            </a:r>
            <a:endParaRPr lang="en-US"/>
          </a:p>
          <a:p>
            <a:pPr>
              <a:lnSpc>
                <a:spcPct val="130000"/>
              </a:lnSpc>
            </a:pPr>
            <a:r>
              <a:rPr lang="en-US" sz="1200" b="0">
                <a:solidFill>
                  <a:srgbClr val="102E40"/>
                </a:solidFill>
                <a:latin typeface="Arial"/>
              </a:rPr>
              <a:t xml:space="preserve">Locked stops explain that earlier trials must be passed. Accessibility cues remain visible without sound. Sources: editable/content.json F1; src/ArcadeApp.tsx; server/arcade.ts; src/lib/arcade.ts. The accompanying wireframes show each linked screen and state. F2 and F3 appear in timed slides 6 and 7.</a:t>
            </a:r>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The live spike triggers real missing-model and malformed-request failures. 429 behavior is designed and unit-tested, not live-induced.</a:t>
            </a:r>
            <a:endParaRPr lang="en-US"/>
          </a:p>
          <a:p>
            <a:pPr>
              <a:lnSpc>
                <a:spcPct val="130000"/>
              </a:lnSpc>
            </a:pPr>
            <a:r>
              <a:rPr lang="en-US" sz="1200" b="0">
                <a:solidFill>
                  <a:srgbClr val="102E40"/>
                </a:solidFill>
                <a:latin typeface="Arial"/>
              </a:rPr>
              <a:t xml:space="preserve">Unsupported difficulty and oversized/invalid requests stop before model contact. Do not silently replace a failed model response. Sources: editable/content.json F4; src/ArcadeApp.tsx; server/arcade.ts; src/lib/arcade.ts. The accompanying wireframes show each linked screen and state. F2 and F3 appear in timed slides 6 and 7.</a:t>
            </a:r>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Assistance improves access to the narrative without claiming a skill-based clear.</a:t>
            </a:r>
            <a:endParaRPr lang="en-US"/>
          </a:p>
          <a:p>
            <a:pPr>
              <a:lnSpc>
                <a:spcPct val="130000"/>
              </a:lnSpc>
            </a:pPr>
            <a:r>
              <a:rPr lang="en-US" sz="1200" b="0">
                <a:solidFill>
                  <a:srgbClr val="102E40"/>
                </a:solidFill>
                <a:latin typeface="Arial"/>
              </a:rPr>
              <a:t xml:space="preserve">Practice and abandoned rounds award no campaign progress. Replays preserve earlier success even when the player loses. Sources: editable/content.json F5; src/ArcadeApp.tsx; server/arcade.ts; src/lib/arcade.ts. The accompanying wireframes show each linked screen and state. F2 and F3 appear in timed slides 6 and 7.</a:t>
            </a:r>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Sources: editable/content.json edges; server/arcade.ts; src/ArcadeApp.tsx; src/components/arcade-round.tsx; src/lib/arcade.ts; raw spike failure records. Live spike probes measure missing model, malformed provider request and unsupported difficulty. Timeout and provider 429 paths are implemented but were not induced live in this spike.</a:t>
            </a:r>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Sources: editable/content.json edges; server/arcade.ts; src/ArcadeApp.tsx; src/components/arcade-round.tsx; src/lib/arcade.ts; raw spike failure records. Live spike probes measure missing model, malformed provider request and unsupported difficulty. Timeout and provider 429 paths are implemented but were not induced live in this spike.</a:t>
            </a:r>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Sources: editable/content.json edges; server/arcade.ts; src/ArcadeApp.tsx; src/components/arcade-round.tsx; src/lib/arcade.ts; raw spike failure records. Live spike probes measure missing model, malformed provider request and unsupported difficulty. Timeout and provider 429 paths are implemented but were not induced live in this spike.</a:t>
            </a:r>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W01.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W02.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W03.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W04.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W05.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W06.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W07.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W08.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W09.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W10.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W11.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W12.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W13.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W14.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W15.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W16.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W17.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W18.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W19.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W20.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W21.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W22.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W23.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W24.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W25.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W26.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W27.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Source: editable/content.json W28. This is a grayscale design wireframe. Placeholder values illustrate a state and are not measured results. Implemented annotations refer to src/ArcadeApp.tsx, src/components/arcade-round.tsx, src/components/mythic-games.tsx, src/lib/mythic.ts and server/arcade.ts. Proposed controls are labeled on the slide.</a:t>
            </a:r>
            <a:endParaRPr 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p:nvPr>
            <p:ph type="body" idx="1"/>
          </p:nvPr>
        </p:nvSpPr>
        <p:spPr/>
        <p:txBody>
          <a:bodyPr/>
          <a:lstStyle/>
          <a:p>
            <a:pPr>
              <a:lnSpc>
                <a:spcPct val="130000"/>
              </a:lnSpc>
            </a:pPr>
            <a:r>
              <a:rPr lang="en-US" sz="1200" b="0">
                <a:solidFill>
                  <a:srgbClr val="102E40"/>
                </a:solidFill>
                <a:latin typeface="Arial"/>
              </a:rPr>
              <a:t xml:space="preserve">Timing: 0 seconds. Review appendix, outside the ten-minute talk.</a:t>
            </a:r>
            <a:endParaRPr lang="en-US"/>
          </a:p>
          <a:p>
            <a:pPr>
              <a:lnSpc>
                <a:spcPct val="130000"/>
              </a:lnSpc>
            </a:pPr>
            <a:r>
              <a:rPr lang="en-US" sz="1200" b="0">
                <a:solidFill>
                  <a:srgbClr val="102E40"/>
                </a:solidFill>
                <a:latin typeface="Arial"/>
              </a:rPr>
              <a:t xml:space="preserve"/>
            </a:r>
            <a:endParaRPr lang="en-US"/>
          </a:p>
          <a:p>
            <a:pPr>
              <a:lnSpc>
                <a:spcPct val="130000"/>
              </a:lnSpc>
            </a:pPr>
            <a:r>
              <a:rPr lang="en-US" sz="1200" b="0">
                <a:solidFill>
                  <a:srgbClr val="102E40"/>
                </a:solidFill>
                <a:latin typeface="Arial"/>
              </a:rPr>
              <a:t xml:space="preserve">Exact raw bodies copied without rewriting from evidence/phase2-arcade-spike-2026-10-08.json failures. E1 posts a nonexistent model. E2 posts a single opening brace as malformed JSON. The spike bypasses the app for these two probes, so their recorded statuses are provider statuses. The current app maps a provider non-OK response to HTTP 502 with a generic recovery message. E3 calls the production app adapter with difficulty impossible and returns HTTP 400. The one-page technical-spike-summary.pdf contains rate-limit, cost and output-quality conclusions.</a:t>
            </a:r>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E40"/>
        </a:solidFill>
        <a:effectLst/>
      </p:bgPr>
    </p:bg>
    <p:spTree>
      <p:nvGrpSpPr>
        <p:cNvPr id="1" name=""/>
        <p:cNvGrpSpPr/>
        <p:nvPr/>
      </p:nvGrpSpPr>
      <p:grpSpPr>
        <a:xfrm>
          <a:off x="0" y="0"/>
          <a:ext cx="0" cy="0"/>
          <a:chOff x="0" y="0"/>
          <a:chExt cx="0" cy="0"/>
        </a:xfrm>
      </p:grpSpPr>
      <p:sp>
        <p:nvSpPr>
          <p:cNvPr id="2" name="FARSHORE"/>
          <p:cNvSpPr txBox="1"/>
          <p:nvPr/>
        </p:nvSpPr>
        <p:spPr>
          <a:xfrm>
            <a:off x="609600" y="1190625"/>
            <a:ext cx="5000625" cy="941756"/>
          </a:xfrm>
          <a:prstGeom prst="rect">
            <a:avLst/>
          </a:prstGeom>
          <a:noFill/>
          <a:ln>
            <a:noFill/>
          </a:ln>
        </p:spPr>
        <p:txBody>
          <a:bodyPr wrap="square" lIns="0" rIns="0" tIns="0" bIns="0" anchor="t">
            <a:noAutofit/>
          </a:bodyPr>
          <a:lstStyle/>
          <a:p>
            <a:pPr>
              <a:lnSpc>
                <a:spcPct val="130000"/>
              </a:lnSpc>
            </a:pPr>
            <a:r>
              <a:rPr lang="en-US" sz="4350" b="1">
                <a:solidFill>
                  <a:srgbClr val="FFFFFF"/>
                </a:solidFill>
                <a:latin typeface="Arial"/>
              </a:rPr>
              <a:t xml:space="preserve">FARSHORE</a:t>
            </a:r>
            <a:endParaRPr lang="en-US"/>
          </a:p>
        </p:txBody>
      </p:sp>
      <p:sp>
        <p:nvSpPr>
          <p:cNvPr id="3" name="The Odyssey: Arcade Trials"/>
          <p:cNvSpPr txBox="1"/>
          <p:nvPr/>
        </p:nvSpPr>
        <p:spPr>
          <a:xfrm>
            <a:off x="609600" y="2047875"/>
            <a:ext cx="5000625" cy="1409319"/>
          </a:xfrm>
          <a:prstGeom prst="rect">
            <a:avLst/>
          </a:prstGeom>
          <a:noFill/>
          <a:ln>
            <a:noFill/>
          </a:ln>
        </p:spPr>
        <p:txBody>
          <a:bodyPr wrap="square" lIns="0" rIns="0" tIns="0" bIns="0" anchor="t">
            <a:noAutofit/>
          </a:bodyPr>
          <a:lstStyle/>
          <a:p>
            <a:pPr>
              <a:lnSpc>
                <a:spcPct val="130000"/>
              </a:lnSpc>
            </a:pPr>
            <a:r>
              <a:rPr lang="en-US" sz="3375" b="0">
                <a:solidFill>
                  <a:srgbClr val="FFFFFF"/>
                </a:solidFill>
                <a:latin typeface="Arial"/>
              </a:rPr>
              <a:t xml:space="preserve">The Odyssey:</a:t>
            </a:r>
            <a:endParaRPr lang="en-US"/>
          </a:p>
          <a:p>
            <a:pPr>
              <a:lnSpc>
                <a:spcPct val="130000"/>
              </a:lnSpc>
            </a:pPr>
            <a:r>
              <a:rPr lang="en-US" sz="3375" b="0">
                <a:solidFill>
                  <a:srgbClr val="FFFFFF"/>
                </a:solidFill>
                <a:latin typeface="Arial"/>
              </a:rPr>
              <a:t xml:space="preserve">Arcade Trials</a:t>
            </a:r>
            <a:endParaRPr lang="en-US"/>
          </a:p>
        </p:txBody>
      </p:sp>
      <p:sp>
        <p:nvSpPr>
          <p:cNvPr id="4" name="Phase 2: Interface structure and AI interaction design"/>
          <p:cNvSpPr txBox="1"/>
          <p:nvPr/>
        </p:nvSpPr>
        <p:spPr>
          <a:xfrm>
            <a:off x="609600" y="3667125"/>
            <a:ext cx="5000625" cy="854088"/>
          </a:xfrm>
          <a:prstGeom prst="rect">
            <a:avLst/>
          </a:prstGeom>
          <a:noFill/>
          <a:ln>
            <a:noFill/>
          </a:ln>
        </p:spPr>
        <p:txBody>
          <a:bodyPr wrap="square" lIns="0" rIns="0" tIns="0" bIns="0" anchor="t">
            <a:noAutofit/>
          </a:bodyPr>
          <a:lstStyle/>
          <a:p>
            <a:pPr>
              <a:lnSpc>
                <a:spcPct val="130000"/>
              </a:lnSpc>
            </a:pPr>
            <a:r>
              <a:rPr lang="en-US" sz="1950" b="0">
                <a:solidFill>
                  <a:srgbClr val="BFD6DE"/>
                </a:solidFill>
                <a:latin typeface="Arial"/>
              </a:rPr>
              <a:t xml:space="preserve">Phase 2: Interface structure</a:t>
            </a:r>
            <a:endParaRPr lang="en-US"/>
          </a:p>
          <a:p>
            <a:pPr>
              <a:lnSpc>
                <a:spcPct val="130000"/>
              </a:lnSpc>
            </a:pPr>
            <a:r>
              <a:rPr lang="en-US" sz="1950" b="0">
                <a:solidFill>
                  <a:srgbClr val="BFD6DE"/>
                </a:solidFill>
                <a:latin typeface="Arial"/>
              </a:rPr>
              <a:t xml:space="preserve">and AI interaction design</a:t>
            </a:r>
            <a:endParaRPr lang="en-US"/>
          </a:p>
        </p:txBody>
      </p:sp>
      <p:sp>
        <p:nvSpPr>
          <p:cNvPr id="5" name="Bibek Pathak CMPS 4200 HCI / October 8, 2026"/>
          <p:cNvSpPr txBox="1"/>
          <p:nvPr/>
        </p:nvSpPr>
        <p:spPr>
          <a:xfrm>
            <a:off x="609600" y="5143500"/>
            <a:ext cx="5000625" cy="766420"/>
          </a:xfrm>
          <a:prstGeom prst="rect">
            <a:avLst/>
          </a:prstGeom>
          <a:noFill/>
          <a:ln>
            <a:noFill/>
          </a:ln>
        </p:spPr>
        <p:txBody>
          <a:bodyPr wrap="square" lIns="0" rIns="0" tIns="0" bIns="0" anchor="t">
            <a:noAutofit/>
          </a:bodyPr>
          <a:lstStyle/>
          <a:p>
            <a:pPr>
              <a:lnSpc>
                <a:spcPct val="130000"/>
              </a:lnSpc>
            </a:pPr>
            <a:r>
              <a:rPr lang="en-US" sz="1725" b="0">
                <a:solidFill>
                  <a:srgbClr val="BFD6DE"/>
                </a:solidFill>
                <a:latin typeface="Arial"/>
              </a:rPr>
              <a:t xml:space="preserve">Bibek Pathak</a:t>
            </a:r>
            <a:endParaRPr lang="en-US"/>
          </a:p>
          <a:p>
            <a:pPr>
              <a:lnSpc>
                <a:spcPct val="130000"/>
              </a:lnSpc>
            </a:pPr>
            <a:r>
              <a:rPr lang="en-US" sz="1725" b="0">
                <a:solidFill>
                  <a:srgbClr val="BFD6DE"/>
                </a:solidFill>
                <a:latin typeface="Arial"/>
              </a:rPr>
              <a:t xml:space="preserve">CMPS 4200 HCI / October 8, 2026</a:t>
            </a:r>
            <a:endParaRPr lang="en-US"/>
          </a:p>
        </p:txBody>
      </p:sp>
      <p:pic>
        <p:nvPicPr>
          <p:cNvPr id="6" name="Original title art"/>
          <p:cNvPicPr>
            <a:picLocks noChangeAspect="1"/>
          </p:cNvPicPr>
          <p:nvPr/>
        </p:nvPicPr>
        <p:blipFill>
          <a:blip r:embed="rId3"/>
          <a:stretch>
            <a:fillRect/>
          </a:stretch>
        </p:blipFill>
        <p:spPr>
          <a:xfrm>
            <a:off x="6191250" y="1524000"/>
            <a:ext cx="5381625" cy="3028773"/>
          </a:xfrm>
          <a:prstGeom prst="rect">
            <a:avLst/>
          </a:prstGeom>
        </p:spPr>
      </p:pic>
      <p:sp>
        <p:nvSpPr>
          <p:cNvPr id="7" name="Farshore / Phase 2 / 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9EB9C5"/>
                </a:solidFill>
                <a:latin typeface="Arial"/>
              </a:rPr>
              <a:t xml:space="preserve">Farshore / Phase 2 / 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he five arcade trial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The five arcade trials</a:t>
            </a:r>
            <a:endParaRPr lang="en-US"/>
          </a:p>
        </p:txBody>
      </p:sp>
      <p:sp>
        <p:nvSpPr>
          <p:cNvPr id="3" name="Each shore uses different controls and shows an activ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Each shore uses different controls and shows an active rival</a:t>
            </a:r>
            <a:endParaRPr lang="en-US"/>
          </a:p>
        </p:txBody>
      </p:sp>
      <p:graphicFrame>
        <p:nvGraphicFramePr>
          <p:cNvPr id="4" name="Editable evidence table"/>
          <p:cNvGraphicFramePr/>
          <p:nvPr/>
        </p:nvGraphicFramePr>
        <p:xfrm>
          <a:off x="609600" y="1714500"/>
          <a:ext cx="10953750" cy="3228975"/>
        </p:xfrm>
        <a:graphic>
          <a:graphicData uri="http://schemas.openxmlformats.org/drawingml/2006/table">
            <a:tbl>
              <a:tblPr firstRow="1" bandRow="0"/>
              <a:tblGrid>
                <a:gridCol w="2857500"/>
                <a:gridCol w="3476625"/>
                <a:gridCol w="4619625"/>
              </a:tblGrid>
              <a:tr h="538162">
                <a:tc>
                  <a:txBody>
                    <a:bodyPr lIns="114300" rIns="114300" tIns="76200" bIns="0"/>
                    <a:lstStyle/>
                    <a:p>
                      <a:pPr>
                        <a:lnSpc>
                          <a:spcPct val="130000"/>
                        </a:lnSpc>
                      </a:pPr>
                      <a:r>
                        <a:rPr lang="en-US" sz="1875" b="1">
                          <a:solidFill>
                            <a:srgbClr val="102E40"/>
                          </a:solidFill>
                          <a:latin typeface="Arial"/>
                        </a:rPr>
                        <a:t xml:space="preserve">Shore</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Player interaction</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Visible rival action</a:t>
                      </a:r>
                      <a:endParaRPr lang="en-US"/>
                    </a:p>
                  </a:txBody>
                  <a:tcPr>
                    <a:solidFill>
                      <a:srgbClr val="DCE8EE"/>
                    </a:solidFill>
                  </a:tcPr>
                </a:tc>
              </a:tr>
              <a:tr h="538162">
                <a:tc>
                  <a:txBody>
                    <a:bodyPr lIns="114300" rIns="114300" tIns="76200" bIns="0"/>
                    <a:lstStyle/>
                    <a:p>
                      <a:pPr>
                        <a:lnSpc>
                          <a:spcPct val="130000"/>
                        </a:lnSpc>
                      </a:pPr>
                      <a:r>
                        <a:rPr lang="en-US" sz="1875" b="0">
                          <a:solidFill>
                            <a:srgbClr val="102E40"/>
                          </a:solidFill>
                          <a:latin typeface="Arial"/>
                        </a:rPr>
                        <a:t xml:space="preserve">Cyclops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Grid stealth</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Blind smash from noise clues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Circe</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Falling-potion match-3</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Own board, chains and curses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Sirens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Four-lane melody memory</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Composes and targets missed lanes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Scylla &amp; Charybdis</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Shield paddle and rowing</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Six heads with pulsing vortex</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Ithaca</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Turn-based archery</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Own scored shot or ring block</a:t>
                      </a:r>
                      <a:endParaRPr lang="en-US"/>
                    </a:p>
                  </a:txBody>
                  <a:tcPr>
                    <a:solidFill>
                      <a:srgbClr val="FFFFFF"/>
                    </a:solidFill>
                  </a:tcPr>
                </a:tc>
              </a:tr>
            </a:tbl>
          </a:graphicData>
        </a:graphic>
      </p:graphicFrame>
      <p:sp>
        <p:nvSpPr>
          <p:cNvPr id="5" name="Farshore / Phase 2 / 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yers and design need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Players and design needs</a:t>
            </a:r>
            <a:endParaRPr lang="en-US"/>
          </a:p>
        </p:txBody>
      </p:sp>
      <p:sp>
        <p:nvSpPr>
          <p:cNvPr id="3" name="Phase 1 persona sketches guide the flows"/>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Phase 1 persona sketches guide the flows</a:t>
            </a:r>
            <a:endParaRPr lang="en-US"/>
          </a:p>
        </p:txBody>
      </p:sp>
      <p:sp>
        <p:nvSpPr>
          <p:cNvPr id="4" name="Maya, 21"/>
          <p:cNvSpPr txBox="1"/>
          <p:nvPr/>
        </p:nvSpPr>
        <p:spPr>
          <a:xfrm>
            <a:off x="609600" y="1809750"/>
            <a:ext cx="3333750" cy="576472"/>
          </a:xfrm>
          <a:prstGeom prst="rect">
            <a:avLst/>
          </a:prstGeom>
          <a:noFill/>
          <a:ln>
            <a:noFill/>
          </a:ln>
        </p:spPr>
        <p:txBody>
          <a:bodyPr wrap="square" lIns="0" rIns="0" tIns="0" bIns="0" anchor="t">
            <a:noAutofit/>
          </a:bodyPr>
          <a:lstStyle/>
          <a:p>
            <a:pPr>
              <a:lnSpc>
                <a:spcPct val="130000"/>
              </a:lnSpc>
            </a:pPr>
            <a:r>
              <a:rPr lang="en-US" sz="2475" b="1">
                <a:solidFill>
                  <a:srgbClr val="102E40"/>
                </a:solidFill>
                <a:latin typeface="Arial"/>
              </a:rPr>
              <a:t xml:space="preserve">Maya, 21</a:t>
            </a:r>
            <a:endParaRPr lang="en-US"/>
          </a:p>
        </p:txBody>
      </p:sp>
      <p:sp>
        <p:nvSpPr>
          <p:cNvPr id="5" name="Win through skill and understand why the rival behaves "/>
          <p:cNvSpPr txBox="1"/>
          <p:nvPr/>
        </p:nvSpPr>
        <p:spPr>
          <a:xfrm>
            <a:off x="609600" y="2476500"/>
            <a:ext cx="3333750"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Win through skill and understand why the rival behaves differently.</a:t>
            </a:r>
            <a:endParaRPr lang="en-US"/>
          </a:p>
        </p:txBody>
      </p:sp>
      <p:sp>
        <p:nvSpPr>
          <p:cNvPr id="6" name="Fixed rules and visible rival warnings."/>
          <p:cNvSpPr txBox="1"/>
          <p:nvPr/>
        </p:nvSpPr>
        <p:spPr>
          <a:xfrm>
            <a:off x="609600" y="4048125"/>
            <a:ext cx="3333750" cy="854088"/>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Fixed rules and visible rival warnings.</a:t>
            </a:r>
            <a:endParaRPr lang="en-US"/>
          </a:p>
        </p:txBody>
      </p:sp>
      <p:sp>
        <p:nvSpPr>
          <p:cNvPr id="7" name="Daniel, 19"/>
          <p:cNvSpPr txBox="1"/>
          <p:nvPr/>
        </p:nvSpPr>
        <p:spPr>
          <a:xfrm>
            <a:off x="4419600" y="1809750"/>
            <a:ext cx="3333750" cy="576472"/>
          </a:xfrm>
          <a:prstGeom prst="rect">
            <a:avLst/>
          </a:prstGeom>
          <a:noFill/>
          <a:ln>
            <a:noFill/>
          </a:ln>
        </p:spPr>
        <p:txBody>
          <a:bodyPr wrap="square" lIns="0" rIns="0" tIns="0" bIns="0" anchor="t">
            <a:noAutofit/>
          </a:bodyPr>
          <a:lstStyle/>
          <a:p>
            <a:pPr>
              <a:lnSpc>
                <a:spcPct val="130000"/>
              </a:lnSpc>
            </a:pPr>
            <a:r>
              <a:rPr lang="en-US" sz="2475" b="1">
                <a:solidFill>
                  <a:srgbClr val="102E40"/>
                </a:solidFill>
                <a:latin typeface="Arial"/>
              </a:rPr>
              <a:t xml:space="preserve">Daniel, 19</a:t>
            </a:r>
            <a:endParaRPr lang="en-US"/>
          </a:p>
        </p:txBody>
      </p:sp>
      <p:sp>
        <p:nvSpPr>
          <p:cNvPr id="8" name="Experience the Odyssey without a confusing first encoun"/>
          <p:cNvSpPr txBox="1"/>
          <p:nvPr/>
        </p:nvSpPr>
        <p:spPr>
          <a:xfrm>
            <a:off x="4419600" y="2476500"/>
            <a:ext cx="3333750"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Experience the Odyssey without a confusing first encounter.</a:t>
            </a:r>
            <a:endParaRPr lang="en-US"/>
          </a:p>
        </p:txBody>
      </p:sp>
      <p:sp>
        <p:nvSpPr>
          <p:cNvPr id="9" name="Short practice and one clear objective per shore."/>
          <p:cNvSpPr txBox="1"/>
          <p:nvPr/>
        </p:nvSpPr>
        <p:spPr>
          <a:xfrm>
            <a:off x="4419600" y="4048125"/>
            <a:ext cx="3333750" cy="854088"/>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Short practice and one clear objective per shore.</a:t>
            </a:r>
            <a:endParaRPr lang="en-US"/>
          </a:p>
        </p:txBody>
      </p:sp>
      <p:sp>
        <p:nvSpPr>
          <p:cNvPr id="10" name="Rosa, 34"/>
          <p:cNvSpPr txBox="1"/>
          <p:nvPr/>
        </p:nvSpPr>
        <p:spPr>
          <a:xfrm>
            <a:off x="8229600" y="1809750"/>
            <a:ext cx="3333750" cy="576472"/>
          </a:xfrm>
          <a:prstGeom prst="rect">
            <a:avLst/>
          </a:prstGeom>
          <a:noFill/>
          <a:ln>
            <a:noFill/>
          </a:ln>
        </p:spPr>
        <p:txBody>
          <a:bodyPr wrap="square" lIns="0" rIns="0" tIns="0" bIns="0" anchor="t">
            <a:noAutofit/>
          </a:bodyPr>
          <a:lstStyle/>
          <a:p>
            <a:pPr>
              <a:lnSpc>
                <a:spcPct val="130000"/>
              </a:lnSpc>
            </a:pPr>
            <a:r>
              <a:rPr lang="en-US" sz="2475" b="1">
                <a:solidFill>
                  <a:srgbClr val="102E40"/>
                </a:solidFill>
                <a:latin typeface="Arial"/>
              </a:rPr>
              <a:t xml:space="preserve">Rosa, 34</a:t>
            </a:r>
            <a:endParaRPr lang="en-US"/>
          </a:p>
        </p:txBody>
      </p:sp>
      <p:sp>
        <p:nvSpPr>
          <p:cNvPr id="11" name="Know what the model changes and keep control over its r"/>
          <p:cNvSpPr txBox="1"/>
          <p:nvPr/>
        </p:nvSpPr>
        <p:spPr>
          <a:xfrm>
            <a:off x="8229600" y="2476500"/>
            <a:ext cx="3333750"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Know what the model changes and keep control over its result.</a:t>
            </a:r>
            <a:endParaRPr lang="en-US"/>
          </a:p>
        </p:txBody>
      </p:sp>
      <p:sp>
        <p:nvSpPr>
          <p:cNvPr id="12" name="Model labels, strategy review and a usable fallback."/>
          <p:cNvSpPr txBox="1"/>
          <p:nvPr/>
        </p:nvSpPr>
        <p:spPr>
          <a:xfrm>
            <a:off x="8229600" y="4048125"/>
            <a:ext cx="3333750" cy="854088"/>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Model labels, strategy review and a usable fallback.</a:t>
            </a:r>
            <a:endParaRPr lang="en-US"/>
          </a:p>
        </p:txBody>
      </p:sp>
      <p:sp>
        <p:nvSpPr>
          <p:cNvPr id="13" name="Provisional design references. Interview evidence has n"/>
          <p:cNvSpPr txBox="1"/>
          <p:nvPr/>
        </p:nvSpPr>
        <p:spPr>
          <a:xfrm>
            <a:off x="609600" y="5876925"/>
            <a:ext cx="10858500" cy="430359"/>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Provisional design references. Interview evidence has not been supplied.</a:t>
            </a:r>
            <a:endParaRPr lang="en-US"/>
          </a:p>
        </p:txBody>
      </p:sp>
      <p:sp>
        <p:nvSpPr>
          <p:cNvPr id="14" name="Farshore / Phase 2 / 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creen hierarch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Screen hierarchy</a:t>
            </a:r>
            <a:endParaRPr lang="en-US"/>
          </a:p>
        </p:txBody>
      </p:sp>
      <p:sp>
        <p:nvSpPr>
          <p:cNvPr id="3" name="A1 in the briefing is the only model feature in arcad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A1 in the briefing is the only model feature in arcade mode</a:t>
            </a:r>
            <a:endParaRPr lang="en-US"/>
          </a:p>
        </p:txBody>
      </p:sp>
      <p:sp>
        <p:nvSpPr>
          <p:cNvPr id="4" name="rect"/>
          <p:cNvSpPr txBox="0"/>
          <p:nvPr/>
        </p:nvSpPr>
        <p:spPr>
          <a:xfrm>
            <a:off x="609600" y="1666875"/>
            <a:ext cx="1888435" cy="516007"/>
          </a:xfrm>
          <a:prstGeom prst="rect">
            <a:avLst/>
          </a:prstGeom>
          <a:solidFill>
            <a:srgbClr val="F7FAFB"/>
          </a:solidFill>
          <a:ln w="12700">
            <a:solidFill>
              <a:srgbClr val="79909B"/>
            </a:solidFill>
          </a:ln>
        </p:spPr>
      </p:sp>
      <p:sp>
        <p:nvSpPr>
          <p:cNvPr id="5" name="S01 Title"/>
          <p:cNvSpPr txBox="1"/>
          <p:nvPr/>
        </p:nvSpPr>
        <p:spPr>
          <a:xfrm>
            <a:off x="704022" y="1759019"/>
            <a:ext cx="1699591"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S01 Title</a:t>
            </a:r>
            <a:endParaRPr lang="en-US"/>
          </a:p>
        </p:txBody>
      </p:sp>
      <p:sp>
        <p:nvSpPr>
          <p:cNvPr id="6" name="rect"/>
          <p:cNvSpPr txBox="0"/>
          <p:nvPr/>
        </p:nvSpPr>
        <p:spPr>
          <a:xfrm>
            <a:off x="3064565" y="1666875"/>
            <a:ext cx="1982857" cy="516007"/>
          </a:xfrm>
          <a:prstGeom prst="rect">
            <a:avLst/>
          </a:prstGeom>
          <a:solidFill>
            <a:srgbClr val="F7FAFB"/>
          </a:solidFill>
          <a:ln w="12700">
            <a:solidFill>
              <a:srgbClr val="79909B"/>
            </a:solidFill>
          </a:ln>
        </p:spPr>
      </p:sp>
      <p:sp>
        <p:nvSpPr>
          <p:cNvPr id="7" name="S02 Intro"/>
          <p:cNvSpPr txBox="1"/>
          <p:nvPr/>
        </p:nvSpPr>
        <p:spPr>
          <a:xfrm>
            <a:off x="3158987" y="1759019"/>
            <a:ext cx="1794013"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S02 Intro</a:t>
            </a:r>
            <a:endParaRPr lang="en-US"/>
          </a:p>
        </p:txBody>
      </p:sp>
      <p:sp>
        <p:nvSpPr>
          <p:cNvPr id="8" name="rect"/>
          <p:cNvSpPr txBox="0"/>
          <p:nvPr/>
        </p:nvSpPr>
        <p:spPr>
          <a:xfrm>
            <a:off x="5613952" y="1666875"/>
            <a:ext cx="2077278" cy="516007"/>
          </a:xfrm>
          <a:prstGeom prst="rect">
            <a:avLst/>
          </a:prstGeom>
          <a:solidFill>
            <a:srgbClr val="F7FAFB"/>
          </a:solidFill>
          <a:ln w="12700">
            <a:solidFill>
              <a:srgbClr val="79909B"/>
            </a:solidFill>
          </a:ln>
        </p:spPr>
      </p:sp>
      <p:sp>
        <p:nvSpPr>
          <p:cNvPr id="9" name="S03 Map"/>
          <p:cNvSpPr txBox="1"/>
          <p:nvPr/>
        </p:nvSpPr>
        <p:spPr>
          <a:xfrm>
            <a:off x="5708374" y="1759019"/>
            <a:ext cx="1888435"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S03 Map</a:t>
            </a:r>
            <a:endParaRPr lang="en-US"/>
          </a:p>
        </p:txBody>
      </p:sp>
      <p:sp>
        <p:nvSpPr>
          <p:cNvPr id="10" name="rect"/>
          <p:cNvSpPr txBox="0"/>
          <p:nvPr/>
        </p:nvSpPr>
        <p:spPr>
          <a:xfrm>
            <a:off x="8257761" y="1666875"/>
            <a:ext cx="3115917" cy="516007"/>
          </a:xfrm>
          <a:prstGeom prst="rect">
            <a:avLst/>
          </a:prstGeom>
          <a:solidFill>
            <a:srgbClr val="F7FAFB"/>
          </a:solidFill>
          <a:ln w="12700">
            <a:solidFill>
              <a:srgbClr val="79909B"/>
            </a:solidFill>
          </a:ln>
        </p:spPr>
      </p:sp>
      <p:sp>
        <p:nvSpPr>
          <p:cNvPr id="11" name="S04 Briefing [A1]"/>
          <p:cNvSpPr txBox="1"/>
          <p:nvPr/>
        </p:nvSpPr>
        <p:spPr>
          <a:xfrm>
            <a:off x="8352183" y="1759019"/>
            <a:ext cx="2927074"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S04 Briefing [A1]</a:t>
            </a:r>
            <a:endParaRPr lang="en-US"/>
          </a:p>
        </p:txBody>
      </p:sp>
      <p:cxnSp>
        <p:nvCxnSpPr>
          <p:cNvPr id="12" name="Connector 12"/>
          <p:cNvCxnSpPr/>
          <p:nvPr/>
        </p:nvCxnSpPr>
        <p:spPr>
          <a:xfrm>
            <a:off x="2498035" y="1924878"/>
            <a:ext cx="566530" cy="0"/>
          </a:xfrm>
          <a:prstGeom prst="line">
            <a:avLst/>
          </a:prstGeom>
          <a:ln w="19050">
            <a:solidFill>
              <a:srgbClr val="526875"/>
            </a:solidFill>
            <a:tailEnd type="triangle"/>
          </a:ln>
        </p:spPr>
      </p:cxnSp>
      <p:cxnSp>
        <p:nvCxnSpPr>
          <p:cNvPr id="13" name="Connector 13"/>
          <p:cNvCxnSpPr/>
          <p:nvPr/>
        </p:nvCxnSpPr>
        <p:spPr>
          <a:xfrm>
            <a:off x="5047422" y="1924878"/>
            <a:ext cx="566530" cy="0"/>
          </a:xfrm>
          <a:prstGeom prst="line">
            <a:avLst/>
          </a:prstGeom>
          <a:ln w="19050">
            <a:solidFill>
              <a:srgbClr val="526875"/>
            </a:solidFill>
            <a:tailEnd type="triangle"/>
          </a:ln>
        </p:spPr>
      </p:cxnSp>
      <p:cxnSp>
        <p:nvCxnSpPr>
          <p:cNvPr id="14" name="Connector 14"/>
          <p:cNvCxnSpPr/>
          <p:nvPr/>
        </p:nvCxnSpPr>
        <p:spPr>
          <a:xfrm>
            <a:off x="7691230" y="1924878"/>
            <a:ext cx="566530" cy="0"/>
          </a:xfrm>
          <a:prstGeom prst="line">
            <a:avLst/>
          </a:prstGeom>
          <a:ln w="19050">
            <a:solidFill>
              <a:srgbClr val="526875"/>
            </a:solidFill>
            <a:tailEnd type="triangle"/>
          </a:ln>
        </p:spPr>
      </p:cxnSp>
      <p:sp>
        <p:nvSpPr>
          <p:cNvPr id="15" name="rect"/>
          <p:cNvSpPr txBox="0"/>
          <p:nvPr/>
        </p:nvSpPr>
        <p:spPr>
          <a:xfrm>
            <a:off x="609600" y="3002963"/>
            <a:ext cx="1982857" cy="783224"/>
          </a:xfrm>
          <a:prstGeom prst="rect">
            <a:avLst/>
          </a:prstGeom>
          <a:solidFill>
            <a:srgbClr val="F7FAFB"/>
          </a:solidFill>
          <a:ln w="12700">
            <a:solidFill>
              <a:srgbClr val="79909B"/>
            </a:solidFill>
          </a:ln>
        </p:spPr>
      </p:sp>
      <p:sp>
        <p:nvSpPr>
          <p:cNvPr id="16" name="S05 Cyclops Grid stealth"/>
          <p:cNvSpPr txBox="1"/>
          <p:nvPr/>
        </p:nvSpPr>
        <p:spPr>
          <a:xfrm>
            <a:off x="7040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S05 Cyclops</a:t>
            </a:r>
            <a:endParaRPr lang="en-US"/>
          </a:p>
          <a:p>
            <a:pPr>
              <a:lnSpc>
                <a:spcPct val="130000"/>
              </a:lnSpc>
            </a:pPr>
            <a:r>
              <a:rPr lang="en-US" sz="1561" b="1">
                <a:solidFill>
                  <a:srgbClr val="102E40"/>
                </a:solidFill>
                <a:latin typeface="Arial"/>
              </a:rPr>
              <a:t xml:space="preserve">Grid stealth</a:t>
            </a:r>
            <a:endParaRPr lang="en-US"/>
          </a:p>
        </p:txBody>
      </p:sp>
      <p:cxnSp>
        <p:nvCxnSpPr>
          <p:cNvPr id="17" name="Connector 17"/>
          <p:cNvCxnSpPr/>
          <p:nvPr/>
        </p:nvCxnSpPr>
        <p:spPr>
          <a:xfrm flipH="1">
            <a:off x="1601028" y="2182882"/>
            <a:ext cx="8214691" cy="820082"/>
          </a:xfrm>
          <a:prstGeom prst="line">
            <a:avLst/>
          </a:prstGeom>
          <a:ln w="19050">
            <a:solidFill>
              <a:srgbClr val="526875"/>
            </a:solidFill>
            <a:tailEnd type="triangle"/>
          </a:ln>
        </p:spPr>
      </p:cxnSp>
      <p:cxnSp>
        <p:nvCxnSpPr>
          <p:cNvPr id="18" name="Connector 18"/>
          <p:cNvCxnSpPr/>
          <p:nvPr/>
        </p:nvCxnSpPr>
        <p:spPr>
          <a:xfrm>
            <a:off x="1601028" y="3786188"/>
            <a:ext cx="3163128" cy="737152"/>
          </a:xfrm>
          <a:prstGeom prst="line">
            <a:avLst/>
          </a:prstGeom>
          <a:ln w="19050">
            <a:solidFill>
              <a:srgbClr val="526875"/>
            </a:solidFill>
            <a:tailEnd type="triangle"/>
          </a:ln>
        </p:spPr>
      </p:cxnSp>
      <p:sp>
        <p:nvSpPr>
          <p:cNvPr id="19" name="rect"/>
          <p:cNvSpPr txBox="0"/>
          <p:nvPr/>
        </p:nvSpPr>
        <p:spPr>
          <a:xfrm>
            <a:off x="2781300" y="3002963"/>
            <a:ext cx="1982857" cy="783224"/>
          </a:xfrm>
          <a:prstGeom prst="rect">
            <a:avLst/>
          </a:prstGeom>
          <a:solidFill>
            <a:srgbClr val="F7FAFB"/>
          </a:solidFill>
          <a:ln w="12700">
            <a:solidFill>
              <a:srgbClr val="79909B"/>
            </a:solidFill>
          </a:ln>
        </p:spPr>
      </p:sp>
      <p:sp>
        <p:nvSpPr>
          <p:cNvPr id="20" name="S06 Circe Puzzle duel"/>
          <p:cNvSpPr txBox="1"/>
          <p:nvPr/>
        </p:nvSpPr>
        <p:spPr>
          <a:xfrm>
            <a:off x="28757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S06 Circe</a:t>
            </a:r>
            <a:endParaRPr lang="en-US"/>
          </a:p>
          <a:p>
            <a:pPr>
              <a:lnSpc>
                <a:spcPct val="130000"/>
              </a:lnSpc>
            </a:pPr>
            <a:r>
              <a:rPr lang="en-US" sz="1561" b="1">
                <a:solidFill>
                  <a:srgbClr val="102E40"/>
                </a:solidFill>
                <a:latin typeface="Arial"/>
              </a:rPr>
              <a:t xml:space="preserve">Puzzle duel</a:t>
            </a:r>
            <a:endParaRPr lang="en-US"/>
          </a:p>
        </p:txBody>
      </p:sp>
      <p:cxnSp>
        <p:nvCxnSpPr>
          <p:cNvPr id="21" name="Connector 21"/>
          <p:cNvCxnSpPr/>
          <p:nvPr/>
        </p:nvCxnSpPr>
        <p:spPr>
          <a:xfrm flipH="1">
            <a:off x="3772728" y="2182882"/>
            <a:ext cx="6042991" cy="820082"/>
          </a:xfrm>
          <a:prstGeom prst="line">
            <a:avLst/>
          </a:prstGeom>
          <a:ln w="19050">
            <a:solidFill>
              <a:srgbClr val="526875"/>
            </a:solidFill>
            <a:tailEnd type="triangle"/>
          </a:ln>
        </p:spPr>
      </p:cxnSp>
      <p:cxnSp>
        <p:nvCxnSpPr>
          <p:cNvPr id="22" name="Connector 22"/>
          <p:cNvCxnSpPr/>
          <p:nvPr/>
        </p:nvCxnSpPr>
        <p:spPr>
          <a:xfrm>
            <a:off x="3772728" y="3786188"/>
            <a:ext cx="991428" cy="737152"/>
          </a:xfrm>
          <a:prstGeom prst="line">
            <a:avLst/>
          </a:prstGeom>
          <a:ln w="19050">
            <a:solidFill>
              <a:srgbClr val="526875"/>
            </a:solidFill>
            <a:tailEnd type="triangle"/>
          </a:ln>
        </p:spPr>
      </p:cxnSp>
      <p:sp>
        <p:nvSpPr>
          <p:cNvPr id="23" name="rect"/>
          <p:cNvSpPr txBox="0"/>
          <p:nvPr/>
        </p:nvSpPr>
        <p:spPr>
          <a:xfrm>
            <a:off x="4953000" y="3002963"/>
            <a:ext cx="1982857" cy="783224"/>
          </a:xfrm>
          <a:prstGeom prst="rect">
            <a:avLst/>
          </a:prstGeom>
          <a:solidFill>
            <a:srgbClr val="F7FAFB"/>
          </a:solidFill>
          <a:ln w="12700">
            <a:solidFill>
              <a:srgbClr val="79909B"/>
            </a:solidFill>
          </a:ln>
        </p:spPr>
      </p:sp>
      <p:sp>
        <p:nvSpPr>
          <p:cNvPr id="24" name="S07 Sirens Melody memory"/>
          <p:cNvSpPr txBox="1"/>
          <p:nvPr/>
        </p:nvSpPr>
        <p:spPr>
          <a:xfrm>
            <a:off x="50474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S07 Sirens</a:t>
            </a:r>
            <a:endParaRPr lang="en-US"/>
          </a:p>
          <a:p>
            <a:pPr>
              <a:lnSpc>
                <a:spcPct val="130000"/>
              </a:lnSpc>
            </a:pPr>
            <a:r>
              <a:rPr lang="en-US" sz="1561" b="1">
                <a:solidFill>
                  <a:srgbClr val="102E40"/>
                </a:solidFill>
                <a:latin typeface="Arial"/>
              </a:rPr>
              <a:t xml:space="preserve">Melody memory</a:t>
            </a:r>
            <a:endParaRPr lang="en-US"/>
          </a:p>
        </p:txBody>
      </p:sp>
      <p:cxnSp>
        <p:nvCxnSpPr>
          <p:cNvPr id="25" name="Connector 25"/>
          <p:cNvCxnSpPr/>
          <p:nvPr/>
        </p:nvCxnSpPr>
        <p:spPr>
          <a:xfrm flipH="1">
            <a:off x="5944428" y="2182882"/>
            <a:ext cx="3871291" cy="820082"/>
          </a:xfrm>
          <a:prstGeom prst="line">
            <a:avLst/>
          </a:prstGeom>
          <a:ln w="19050">
            <a:solidFill>
              <a:srgbClr val="526875"/>
            </a:solidFill>
            <a:tailEnd type="triangle"/>
          </a:ln>
        </p:spPr>
      </p:cxnSp>
      <p:cxnSp>
        <p:nvCxnSpPr>
          <p:cNvPr id="26" name="Connector 26"/>
          <p:cNvCxnSpPr/>
          <p:nvPr/>
        </p:nvCxnSpPr>
        <p:spPr>
          <a:xfrm flipH="1">
            <a:off x="4764157" y="3786188"/>
            <a:ext cx="1180272" cy="737152"/>
          </a:xfrm>
          <a:prstGeom prst="line">
            <a:avLst/>
          </a:prstGeom>
          <a:ln w="19050">
            <a:solidFill>
              <a:srgbClr val="526875"/>
            </a:solidFill>
            <a:tailEnd type="triangle"/>
          </a:ln>
        </p:spPr>
      </p:cxnSp>
      <p:sp>
        <p:nvSpPr>
          <p:cNvPr id="27" name="rect"/>
          <p:cNvSpPr txBox="0"/>
          <p:nvPr/>
        </p:nvSpPr>
        <p:spPr>
          <a:xfrm>
            <a:off x="7124700" y="3002963"/>
            <a:ext cx="1982857" cy="783224"/>
          </a:xfrm>
          <a:prstGeom prst="rect">
            <a:avLst/>
          </a:prstGeom>
          <a:solidFill>
            <a:srgbClr val="F7FAFB"/>
          </a:solidFill>
          <a:ln w="12700">
            <a:solidFill>
              <a:srgbClr val="79909B"/>
            </a:solidFill>
          </a:ln>
        </p:spPr>
      </p:sp>
      <p:sp>
        <p:nvSpPr>
          <p:cNvPr id="28" name="S08 Strait Paddle deflector"/>
          <p:cNvSpPr txBox="1"/>
          <p:nvPr/>
        </p:nvSpPr>
        <p:spPr>
          <a:xfrm>
            <a:off x="72191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S08 Strait</a:t>
            </a:r>
            <a:endParaRPr lang="en-US"/>
          </a:p>
          <a:p>
            <a:pPr>
              <a:lnSpc>
                <a:spcPct val="130000"/>
              </a:lnSpc>
            </a:pPr>
            <a:r>
              <a:rPr lang="en-US" sz="1561" b="1">
                <a:solidFill>
                  <a:srgbClr val="102E40"/>
                </a:solidFill>
                <a:latin typeface="Arial"/>
              </a:rPr>
              <a:t xml:space="preserve">Paddle deflector</a:t>
            </a:r>
            <a:endParaRPr lang="en-US"/>
          </a:p>
        </p:txBody>
      </p:sp>
      <p:cxnSp>
        <p:nvCxnSpPr>
          <p:cNvPr id="29" name="Connector 29"/>
          <p:cNvCxnSpPr/>
          <p:nvPr/>
        </p:nvCxnSpPr>
        <p:spPr>
          <a:xfrm flipH="1">
            <a:off x="8116128" y="2182882"/>
            <a:ext cx="1699591" cy="820082"/>
          </a:xfrm>
          <a:prstGeom prst="line">
            <a:avLst/>
          </a:prstGeom>
          <a:ln w="19050">
            <a:solidFill>
              <a:srgbClr val="526875"/>
            </a:solidFill>
            <a:tailEnd type="triangle"/>
          </a:ln>
        </p:spPr>
      </p:cxnSp>
      <p:cxnSp>
        <p:nvCxnSpPr>
          <p:cNvPr id="30" name="Connector 30"/>
          <p:cNvCxnSpPr/>
          <p:nvPr/>
        </p:nvCxnSpPr>
        <p:spPr>
          <a:xfrm flipH="1">
            <a:off x="4764157" y="3786188"/>
            <a:ext cx="3351972" cy="737152"/>
          </a:xfrm>
          <a:prstGeom prst="line">
            <a:avLst/>
          </a:prstGeom>
          <a:ln w="19050">
            <a:solidFill>
              <a:srgbClr val="526875"/>
            </a:solidFill>
            <a:tailEnd type="triangle"/>
          </a:ln>
        </p:spPr>
      </p:cxnSp>
      <p:sp>
        <p:nvSpPr>
          <p:cNvPr id="31" name="rect"/>
          <p:cNvSpPr txBox="0"/>
          <p:nvPr/>
        </p:nvSpPr>
        <p:spPr>
          <a:xfrm>
            <a:off x="9296400" y="3002963"/>
            <a:ext cx="1982857" cy="783224"/>
          </a:xfrm>
          <a:prstGeom prst="rect">
            <a:avLst/>
          </a:prstGeom>
          <a:solidFill>
            <a:srgbClr val="F7FAFB"/>
          </a:solidFill>
          <a:ln w="12700">
            <a:solidFill>
              <a:srgbClr val="79909B"/>
            </a:solidFill>
          </a:ln>
        </p:spPr>
      </p:sp>
      <p:sp>
        <p:nvSpPr>
          <p:cNvPr id="32" name="S09 Bow Turn-based shots"/>
          <p:cNvSpPr txBox="1"/>
          <p:nvPr/>
        </p:nvSpPr>
        <p:spPr>
          <a:xfrm>
            <a:off x="9390822" y="3095107"/>
            <a:ext cx="1794013" cy="70263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S09 Bow</a:t>
            </a:r>
            <a:endParaRPr lang="en-US"/>
          </a:p>
          <a:p>
            <a:pPr>
              <a:lnSpc>
                <a:spcPct val="130000"/>
              </a:lnSpc>
            </a:pPr>
            <a:r>
              <a:rPr lang="en-US" sz="1561" b="1">
                <a:solidFill>
                  <a:srgbClr val="102E40"/>
                </a:solidFill>
                <a:latin typeface="Arial"/>
              </a:rPr>
              <a:t xml:space="preserve">Turn-based shots</a:t>
            </a:r>
            <a:endParaRPr lang="en-US"/>
          </a:p>
        </p:txBody>
      </p:sp>
      <p:cxnSp>
        <p:nvCxnSpPr>
          <p:cNvPr id="33" name="Connector 33"/>
          <p:cNvCxnSpPr/>
          <p:nvPr/>
        </p:nvCxnSpPr>
        <p:spPr>
          <a:xfrm>
            <a:off x="9815720" y="2182882"/>
            <a:ext cx="472109" cy="820082"/>
          </a:xfrm>
          <a:prstGeom prst="line">
            <a:avLst/>
          </a:prstGeom>
          <a:ln w="19050">
            <a:solidFill>
              <a:srgbClr val="526875"/>
            </a:solidFill>
            <a:tailEnd type="triangle"/>
          </a:ln>
        </p:spPr>
      </p:cxnSp>
      <p:cxnSp>
        <p:nvCxnSpPr>
          <p:cNvPr id="34" name="Connector 34"/>
          <p:cNvCxnSpPr/>
          <p:nvPr/>
        </p:nvCxnSpPr>
        <p:spPr>
          <a:xfrm flipH="1">
            <a:off x="4764157" y="3786188"/>
            <a:ext cx="5523672" cy="737152"/>
          </a:xfrm>
          <a:prstGeom prst="line">
            <a:avLst/>
          </a:prstGeom>
          <a:ln w="19050">
            <a:solidFill>
              <a:srgbClr val="526875"/>
            </a:solidFill>
            <a:tailEnd type="triangle"/>
          </a:ln>
        </p:spPr>
      </p:cxnSp>
      <p:sp>
        <p:nvSpPr>
          <p:cNvPr id="35" name="rect"/>
          <p:cNvSpPr txBox="0"/>
          <p:nvPr/>
        </p:nvSpPr>
        <p:spPr>
          <a:xfrm>
            <a:off x="3300620" y="4523340"/>
            <a:ext cx="2927074" cy="516007"/>
          </a:xfrm>
          <a:prstGeom prst="rect">
            <a:avLst/>
          </a:prstGeom>
          <a:solidFill>
            <a:srgbClr val="F7FAFB"/>
          </a:solidFill>
          <a:ln w="12700">
            <a:solidFill>
              <a:srgbClr val="79909B"/>
            </a:solidFill>
          </a:ln>
        </p:spPr>
      </p:sp>
      <p:sp>
        <p:nvSpPr>
          <p:cNvPr id="36" name="S10 Round result"/>
          <p:cNvSpPr txBox="1"/>
          <p:nvPr/>
        </p:nvSpPr>
        <p:spPr>
          <a:xfrm>
            <a:off x="3395041" y="4615484"/>
            <a:ext cx="2738230"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S10 Round result</a:t>
            </a:r>
            <a:endParaRPr lang="en-US"/>
          </a:p>
        </p:txBody>
      </p:sp>
      <p:sp>
        <p:nvSpPr>
          <p:cNvPr id="37" name="rect"/>
          <p:cNvSpPr txBox="0"/>
          <p:nvPr/>
        </p:nvSpPr>
        <p:spPr>
          <a:xfrm>
            <a:off x="7880074" y="4523340"/>
            <a:ext cx="3304761" cy="516007"/>
          </a:xfrm>
          <a:prstGeom prst="rect">
            <a:avLst/>
          </a:prstGeom>
          <a:solidFill>
            <a:srgbClr val="F7FAFB"/>
          </a:solidFill>
          <a:ln w="12700">
            <a:solidFill>
              <a:srgbClr val="79909B"/>
            </a:solidFill>
          </a:ln>
        </p:spPr>
      </p:sp>
      <p:sp>
        <p:nvSpPr>
          <p:cNvPr id="38" name="S11 Homecoming"/>
          <p:cNvSpPr txBox="1"/>
          <p:nvPr/>
        </p:nvSpPr>
        <p:spPr>
          <a:xfrm>
            <a:off x="7974496" y="4615484"/>
            <a:ext cx="3115917" cy="398468"/>
          </a:xfrm>
          <a:prstGeom prst="rect">
            <a:avLst/>
          </a:prstGeom>
          <a:noFill/>
          <a:ln>
            <a:noFill/>
          </a:ln>
        </p:spPr>
        <p:txBody>
          <a:bodyPr wrap="square" lIns="0" rIns="0" tIns="0" bIns="0" anchor="t">
            <a:noAutofit/>
          </a:bodyPr>
          <a:lstStyle/>
          <a:p>
            <a:pPr>
              <a:lnSpc>
                <a:spcPct val="130000"/>
              </a:lnSpc>
            </a:pPr>
            <a:r>
              <a:rPr lang="en-US" sz="1561" b="1">
                <a:solidFill>
                  <a:srgbClr val="102E40"/>
                </a:solidFill>
                <a:latin typeface="Arial"/>
              </a:rPr>
              <a:t xml:space="preserve">S11 Homecoming</a:t>
            </a:r>
            <a:endParaRPr lang="en-US"/>
          </a:p>
        </p:txBody>
      </p:sp>
      <p:cxnSp>
        <p:nvCxnSpPr>
          <p:cNvPr id="39" name="Connector 39"/>
          <p:cNvCxnSpPr/>
          <p:nvPr/>
        </p:nvCxnSpPr>
        <p:spPr>
          <a:xfrm>
            <a:off x="6227693" y="4781343"/>
            <a:ext cx="1652380" cy="0"/>
          </a:xfrm>
          <a:prstGeom prst="line">
            <a:avLst/>
          </a:prstGeom>
          <a:ln w="19050">
            <a:solidFill>
              <a:srgbClr val="526875"/>
            </a:solidFill>
            <a:tailEnd type="triangle"/>
          </a:ln>
        </p:spPr>
      </p:cxnSp>
      <p:sp>
        <p:nvSpPr>
          <p:cNvPr id="40" name="Next trial opens its briefing after a clear or assist. "/>
          <p:cNvSpPr txBox="1"/>
          <p:nvPr/>
        </p:nvSpPr>
        <p:spPr>
          <a:xfrm>
            <a:off x="609600" y="5251277"/>
            <a:ext cx="10858500" cy="383983"/>
          </a:xfrm>
          <a:prstGeom prst="rect">
            <a:avLst/>
          </a:prstGeom>
          <a:noFill/>
          <a:ln>
            <a:noFill/>
          </a:ln>
        </p:spPr>
        <p:txBody>
          <a:bodyPr wrap="square" lIns="0" rIns="0" tIns="0" bIns="0" anchor="t">
            <a:noAutofit/>
          </a:bodyPr>
          <a:lstStyle/>
          <a:p>
            <a:pPr>
              <a:lnSpc>
                <a:spcPct val="130000"/>
              </a:lnSpc>
            </a:pPr>
            <a:r>
              <a:rPr lang="en-US" sz="1487" b="0">
                <a:solidFill>
                  <a:srgbClr val="526875"/>
                </a:solidFill>
                <a:latin typeface="Arial"/>
              </a:rPr>
              <a:t xml:space="preserve">Next trial opens its briefing after a clear or assist. The fifth passage opens Homecoming.</a:t>
            </a:r>
            <a:endParaRPr lang="en-US"/>
          </a:p>
        </p:txBody>
      </p:sp>
      <p:sp>
        <p:nvSpPr>
          <p:cNvPr id="41" name="Shared overlays: S12 Settings, S13 Pause/leave, S14 Res"/>
          <p:cNvSpPr txBox="1"/>
          <p:nvPr/>
        </p:nvSpPr>
        <p:spPr>
          <a:xfrm>
            <a:off x="609600" y="5610639"/>
            <a:ext cx="10858500" cy="383983"/>
          </a:xfrm>
          <a:prstGeom prst="rect">
            <a:avLst/>
          </a:prstGeom>
          <a:noFill/>
          <a:ln>
            <a:noFill/>
          </a:ln>
        </p:spPr>
        <p:txBody>
          <a:bodyPr wrap="square" lIns="0" rIns="0" tIns="0" bIns="0" anchor="t">
            <a:noAutofit/>
          </a:bodyPr>
          <a:lstStyle/>
          <a:p>
            <a:pPr>
              <a:lnSpc>
                <a:spcPct val="130000"/>
              </a:lnSpc>
            </a:pPr>
            <a:r>
              <a:rPr lang="en-US" sz="1487" b="0">
                <a:solidFill>
                  <a:srgbClr val="526875"/>
                </a:solidFill>
                <a:latin typeface="Arial"/>
              </a:rPr>
              <a:t xml:space="preserve">Shared overlays: S12 Settings, S13 Pause/leave, S14 Restart, S15 Assisted passage</a:t>
            </a:r>
            <a:endParaRPr lang="en-US"/>
          </a:p>
        </p:txBody>
      </p:sp>
      <p:sp>
        <p:nvSpPr>
          <p:cNvPr id="42" name="Farshore / Phase 2 / 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odel data flow and privac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Model data flow and privacy</a:t>
            </a:r>
            <a:endParaRPr lang="en-US"/>
          </a:p>
        </p:txBody>
      </p:sp>
      <p:sp>
        <p:nvSpPr>
          <p:cNvPr id="3" name="Numeric summaries prepare a strategy before the round"/>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Numeric summaries prepare a strategy before the round</a:t>
            </a:r>
            <a:endParaRPr lang="en-US"/>
          </a:p>
        </p:txBody>
      </p:sp>
      <p:sp>
        <p:nvSpPr>
          <p:cNvPr id="4" name="rect"/>
          <p:cNvSpPr txBox="0"/>
          <p:nvPr/>
        </p:nvSpPr>
        <p:spPr>
          <a:xfrm>
            <a:off x="609600" y="1666875"/>
            <a:ext cx="3068707" cy="775173"/>
          </a:xfrm>
          <a:prstGeom prst="rect">
            <a:avLst/>
          </a:prstGeom>
          <a:solidFill>
            <a:srgbClr val="F7FAFB"/>
          </a:solidFill>
          <a:ln w="12700">
            <a:solidFill>
              <a:srgbClr val="79909B"/>
            </a:solidFill>
          </a:ln>
        </p:spPr>
      </p:sp>
      <p:sp>
        <p:nvSpPr>
          <p:cNvPr id="5" name="Selected shore, difficulty, up to 2 numeric summaries"/>
          <p:cNvSpPr txBox="1"/>
          <p:nvPr/>
        </p:nvSpPr>
        <p:spPr>
          <a:xfrm>
            <a:off x="722906" y="1794551"/>
            <a:ext cx="2842094"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Selected shore, difficulty,</a:t>
            </a:r>
            <a:endParaRPr lang="en-US"/>
          </a:p>
          <a:p>
            <a:pPr>
              <a:lnSpc>
                <a:spcPct val="130000"/>
              </a:lnSpc>
            </a:pPr>
            <a:r>
              <a:rPr lang="en-US" sz="1636" b="1">
                <a:solidFill>
                  <a:srgbClr val="102E40"/>
                </a:solidFill>
                <a:latin typeface="Arial"/>
              </a:rPr>
              <a:t xml:space="preserve">up to 2 numeric summaries</a:t>
            </a:r>
            <a:endParaRPr lang="en-US"/>
          </a:p>
        </p:txBody>
      </p:sp>
      <p:sp>
        <p:nvSpPr>
          <p:cNvPr id="6" name="rect"/>
          <p:cNvSpPr txBox="0"/>
          <p:nvPr/>
        </p:nvSpPr>
        <p:spPr>
          <a:xfrm>
            <a:off x="4669735" y="1666875"/>
            <a:ext cx="2549387" cy="775173"/>
          </a:xfrm>
          <a:prstGeom prst="rect">
            <a:avLst/>
          </a:prstGeom>
          <a:solidFill>
            <a:srgbClr val="F7FAFB"/>
          </a:solidFill>
          <a:ln w="12700">
            <a:solidFill>
              <a:srgbClr val="79909B"/>
            </a:solidFill>
          </a:ln>
        </p:spPr>
      </p:sp>
      <p:sp>
        <p:nvSpPr>
          <p:cNvPr id="7" name="React preparation Request + Cancel"/>
          <p:cNvSpPr txBox="1"/>
          <p:nvPr/>
        </p:nvSpPr>
        <p:spPr>
          <a:xfrm>
            <a:off x="4783041" y="1794551"/>
            <a:ext cx="2322775"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React preparation</a:t>
            </a:r>
            <a:endParaRPr lang="en-US"/>
          </a:p>
          <a:p>
            <a:pPr>
              <a:lnSpc>
                <a:spcPct val="130000"/>
              </a:lnSpc>
            </a:pPr>
            <a:r>
              <a:rPr lang="en-US" sz="1636" b="1">
                <a:solidFill>
                  <a:srgbClr val="102E40"/>
                </a:solidFill>
                <a:latin typeface="Arial"/>
              </a:rPr>
              <a:t xml:space="preserve">Request + Cancel</a:t>
            </a:r>
            <a:endParaRPr lang="en-US"/>
          </a:p>
        </p:txBody>
      </p:sp>
      <p:sp>
        <p:nvSpPr>
          <p:cNvPr id="8" name="rect"/>
          <p:cNvSpPr txBox="0"/>
          <p:nvPr/>
        </p:nvSpPr>
        <p:spPr>
          <a:xfrm>
            <a:off x="8210550" y="1666875"/>
            <a:ext cx="3210339" cy="775173"/>
          </a:xfrm>
          <a:prstGeom prst="rect">
            <a:avLst/>
          </a:prstGeom>
          <a:solidFill>
            <a:srgbClr val="F7FAFB"/>
          </a:solidFill>
          <a:ln w="12700">
            <a:solidFill>
              <a:srgbClr val="79909B"/>
            </a:solidFill>
          </a:ln>
        </p:spPr>
      </p:sp>
      <p:sp>
        <p:nvSpPr>
          <p:cNvPr id="9" name="POST /api/arcade Derive observations"/>
          <p:cNvSpPr txBox="1"/>
          <p:nvPr/>
        </p:nvSpPr>
        <p:spPr>
          <a:xfrm>
            <a:off x="8323856" y="1794551"/>
            <a:ext cx="2983727"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POST /api/arcade</a:t>
            </a:r>
            <a:endParaRPr lang="en-US"/>
          </a:p>
          <a:p>
            <a:pPr>
              <a:lnSpc>
                <a:spcPct val="130000"/>
              </a:lnSpc>
            </a:pPr>
            <a:r>
              <a:rPr lang="en-US" sz="1636" b="1">
                <a:solidFill>
                  <a:srgbClr val="102E40"/>
                </a:solidFill>
                <a:latin typeface="Arial"/>
              </a:rPr>
              <a:t xml:space="preserve">Derive observations</a:t>
            </a:r>
            <a:endParaRPr lang="en-US"/>
          </a:p>
        </p:txBody>
      </p:sp>
      <p:sp>
        <p:nvSpPr>
          <p:cNvPr id="10" name="rect"/>
          <p:cNvSpPr txBox="0"/>
          <p:nvPr/>
        </p:nvSpPr>
        <p:spPr>
          <a:xfrm>
            <a:off x="8210550" y="3399614"/>
            <a:ext cx="3210339" cy="775173"/>
          </a:xfrm>
          <a:prstGeom prst="rect">
            <a:avLst/>
          </a:prstGeom>
          <a:solidFill>
            <a:srgbClr val="F7FAFB"/>
          </a:solidFill>
          <a:ln w="12700">
            <a:solidFill>
              <a:srgbClr val="79909B"/>
            </a:solidFill>
          </a:ln>
        </p:spPr>
      </p:sp>
      <p:sp>
        <p:nvSpPr>
          <p:cNvPr id="11" name="Local Ollama Llama 3.2 3B"/>
          <p:cNvSpPr txBox="1"/>
          <p:nvPr/>
        </p:nvSpPr>
        <p:spPr>
          <a:xfrm>
            <a:off x="8323856" y="3527290"/>
            <a:ext cx="2983727"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Local Ollama</a:t>
            </a:r>
            <a:endParaRPr lang="en-US"/>
          </a:p>
          <a:p>
            <a:pPr>
              <a:lnSpc>
                <a:spcPct val="130000"/>
              </a:lnSpc>
            </a:pPr>
            <a:r>
              <a:rPr lang="en-US" sz="1636" b="1">
                <a:solidFill>
                  <a:srgbClr val="102E40"/>
                </a:solidFill>
                <a:latin typeface="Arial"/>
              </a:rPr>
              <a:t xml:space="preserve">Llama 3.2 3B</a:t>
            </a:r>
            <a:endParaRPr lang="en-US"/>
          </a:p>
        </p:txBody>
      </p:sp>
      <p:sp>
        <p:nvSpPr>
          <p:cNvPr id="12" name="rect"/>
          <p:cNvSpPr txBox="0"/>
          <p:nvPr/>
        </p:nvSpPr>
        <p:spPr>
          <a:xfrm>
            <a:off x="4669735" y="3399614"/>
            <a:ext cx="2832652" cy="775173"/>
          </a:xfrm>
          <a:prstGeom prst="rect">
            <a:avLst/>
          </a:prstGeom>
          <a:solidFill>
            <a:srgbClr val="F7FAFB"/>
          </a:solidFill>
          <a:ln w="12700">
            <a:solidFill>
              <a:srgbClr val="79909B"/>
            </a:solidFill>
          </a:ln>
        </p:spPr>
      </p:sp>
      <p:sp>
        <p:nvSpPr>
          <p:cNvPr id="13" name="Validate planId + focus Authored description"/>
          <p:cNvSpPr txBox="1"/>
          <p:nvPr/>
        </p:nvSpPr>
        <p:spPr>
          <a:xfrm>
            <a:off x="4783041" y="3527290"/>
            <a:ext cx="2606040"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Validate planId + focus</a:t>
            </a:r>
            <a:endParaRPr lang="en-US"/>
          </a:p>
          <a:p>
            <a:pPr>
              <a:lnSpc>
                <a:spcPct val="130000"/>
              </a:lnSpc>
            </a:pPr>
            <a:r>
              <a:rPr lang="en-US" sz="1636" b="1">
                <a:solidFill>
                  <a:srgbClr val="102E40"/>
                </a:solidFill>
                <a:latin typeface="Arial"/>
              </a:rPr>
              <a:t xml:space="preserve">Authored description</a:t>
            </a:r>
            <a:endParaRPr lang="en-US"/>
          </a:p>
        </p:txBody>
      </p:sp>
      <p:sp>
        <p:nvSpPr>
          <p:cNvPr id="14" name="rect"/>
          <p:cNvSpPr txBox="0"/>
          <p:nvPr/>
        </p:nvSpPr>
        <p:spPr>
          <a:xfrm>
            <a:off x="609600" y="3399614"/>
            <a:ext cx="3068707" cy="775173"/>
          </a:xfrm>
          <a:prstGeom prst="rect">
            <a:avLst/>
          </a:prstGeom>
          <a:solidFill>
            <a:srgbClr val="F7FAFB"/>
          </a:solidFill>
          <a:ln w="12700">
            <a:solidFill>
              <a:srgbClr val="79909B"/>
            </a:solidFill>
          </a:ln>
        </p:spPr>
      </p:sp>
      <p:sp>
        <p:nvSpPr>
          <p:cNvPr id="15" name="Review, then start Local rival simulation"/>
          <p:cNvSpPr txBox="1"/>
          <p:nvPr/>
        </p:nvSpPr>
        <p:spPr>
          <a:xfrm>
            <a:off x="722906" y="3527290"/>
            <a:ext cx="2842094" cy="731606"/>
          </a:xfrm>
          <a:prstGeom prst="rect">
            <a:avLst/>
          </a:prstGeom>
          <a:noFill/>
          <a:ln>
            <a:noFill/>
          </a:ln>
        </p:spPr>
        <p:txBody>
          <a:bodyPr wrap="square" lIns="0" rIns="0" tIns="0" bIns="0" anchor="t">
            <a:noAutofit/>
          </a:bodyPr>
          <a:lstStyle/>
          <a:p>
            <a:pPr>
              <a:lnSpc>
                <a:spcPct val="130000"/>
              </a:lnSpc>
            </a:pPr>
            <a:r>
              <a:rPr lang="en-US" sz="1636" b="1">
                <a:solidFill>
                  <a:srgbClr val="102E40"/>
                </a:solidFill>
                <a:latin typeface="Arial"/>
              </a:rPr>
              <a:t xml:space="preserve">Review, then start</a:t>
            </a:r>
            <a:endParaRPr lang="en-US"/>
          </a:p>
          <a:p>
            <a:pPr>
              <a:lnSpc>
                <a:spcPct val="130000"/>
              </a:lnSpc>
            </a:pPr>
            <a:r>
              <a:rPr lang="en-US" sz="1636" b="1">
                <a:solidFill>
                  <a:srgbClr val="102E40"/>
                </a:solidFill>
                <a:latin typeface="Arial"/>
              </a:rPr>
              <a:t xml:space="preserve">Local rival simulation</a:t>
            </a:r>
            <a:endParaRPr lang="en-US"/>
          </a:p>
        </p:txBody>
      </p:sp>
      <p:cxnSp>
        <p:nvCxnSpPr>
          <p:cNvPr id="16" name="Connector 16"/>
          <p:cNvCxnSpPr/>
          <p:nvPr/>
        </p:nvCxnSpPr>
        <p:spPr>
          <a:xfrm>
            <a:off x="3678307" y="2049902"/>
            <a:ext cx="991428" cy="0"/>
          </a:xfrm>
          <a:prstGeom prst="line">
            <a:avLst/>
          </a:prstGeom>
          <a:ln w="19050">
            <a:solidFill>
              <a:srgbClr val="526875"/>
            </a:solidFill>
            <a:tailEnd type="triangle"/>
          </a:ln>
        </p:spPr>
      </p:cxnSp>
      <p:cxnSp>
        <p:nvCxnSpPr>
          <p:cNvPr id="17" name="Connector 17"/>
          <p:cNvCxnSpPr/>
          <p:nvPr/>
        </p:nvCxnSpPr>
        <p:spPr>
          <a:xfrm>
            <a:off x="7219122" y="2049902"/>
            <a:ext cx="991428" cy="0"/>
          </a:xfrm>
          <a:prstGeom prst="line">
            <a:avLst/>
          </a:prstGeom>
          <a:ln w="19050">
            <a:solidFill>
              <a:srgbClr val="526875"/>
            </a:solidFill>
            <a:tailEnd type="triangle"/>
          </a:ln>
        </p:spPr>
      </p:cxnSp>
      <p:cxnSp>
        <p:nvCxnSpPr>
          <p:cNvPr id="18" name="Connector 18"/>
          <p:cNvCxnSpPr/>
          <p:nvPr/>
        </p:nvCxnSpPr>
        <p:spPr>
          <a:xfrm>
            <a:off x="9815720" y="2442048"/>
            <a:ext cx="0" cy="957566"/>
          </a:xfrm>
          <a:prstGeom prst="line">
            <a:avLst/>
          </a:prstGeom>
          <a:ln w="19050">
            <a:solidFill>
              <a:srgbClr val="526875"/>
            </a:solidFill>
            <a:tailEnd type="triangle"/>
          </a:ln>
        </p:spPr>
      </p:cxnSp>
      <p:cxnSp>
        <p:nvCxnSpPr>
          <p:cNvPr id="19" name="Connector 19"/>
          <p:cNvCxnSpPr/>
          <p:nvPr/>
        </p:nvCxnSpPr>
        <p:spPr>
          <a:xfrm flipH="1">
            <a:off x="7502387" y="3782641"/>
            <a:ext cx="708163" cy="0"/>
          </a:xfrm>
          <a:prstGeom prst="line">
            <a:avLst/>
          </a:prstGeom>
          <a:ln w="19050">
            <a:solidFill>
              <a:srgbClr val="526875"/>
            </a:solidFill>
            <a:tailEnd type="triangle"/>
          </a:ln>
        </p:spPr>
      </p:cxnSp>
      <p:cxnSp>
        <p:nvCxnSpPr>
          <p:cNvPr id="20" name="Connector 20"/>
          <p:cNvCxnSpPr/>
          <p:nvPr/>
        </p:nvCxnSpPr>
        <p:spPr>
          <a:xfrm flipH="1">
            <a:off x="3678307" y="3782641"/>
            <a:ext cx="991428" cy="0"/>
          </a:xfrm>
          <a:prstGeom prst="line">
            <a:avLst/>
          </a:prstGeom>
          <a:ln w="19050">
            <a:solidFill>
              <a:srgbClr val="526875"/>
            </a:solidFill>
            <a:tailEnd type="triangle"/>
          </a:ln>
        </p:spPr>
      </p:cxnSp>
      <p:sp>
        <p:nvSpPr>
          <p:cNvPr id="21" name="rect"/>
          <p:cNvSpPr txBox="0"/>
          <p:nvPr/>
        </p:nvSpPr>
        <p:spPr>
          <a:xfrm>
            <a:off x="609600" y="4813165"/>
            <a:ext cx="5382039" cy="729574"/>
          </a:xfrm>
          <a:prstGeom prst="rect">
            <a:avLst/>
          </a:prstGeom>
          <a:solidFill>
            <a:srgbClr val="F7FAFB"/>
          </a:solidFill>
          <a:ln w="12700">
            <a:solidFill>
              <a:srgbClr val="79909B"/>
            </a:solidFill>
          </a:ln>
        </p:spPr>
      </p:sp>
      <p:sp>
        <p:nvSpPr>
          <p:cNvPr id="22" name="Browser localStorage: campaign records, recent summarie"/>
          <p:cNvSpPr txBox="1"/>
          <p:nvPr/>
        </p:nvSpPr>
        <p:spPr>
          <a:xfrm>
            <a:off x="722906" y="4940840"/>
            <a:ext cx="5098774" cy="731606"/>
          </a:xfrm>
          <a:prstGeom prst="rect">
            <a:avLst/>
          </a:prstGeom>
          <a:noFill/>
          <a:ln>
            <a:noFill/>
          </a:ln>
        </p:spPr>
        <p:txBody>
          <a:bodyPr wrap="square" lIns="0" rIns="0" tIns="0" bIns="0" anchor="t">
            <a:noAutofit/>
          </a:bodyPr>
          <a:lstStyle/>
          <a:p>
            <a:pPr>
              <a:lnSpc>
                <a:spcPct val="130000"/>
              </a:lnSpc>
            </a:pPr>
            <a:r>
              <a:rPr lang="en-US" sz="1636" b="0">
                <a:solidFill>
                  <a:srgbClr val="102E40"/>
                </a:solidFill>
                <a:latin typeface="Arial"/>
              </a:rPr>
              <a:t xml:space="preserve">Browser localStorage: campaign records, recent summaries and preferences</a:t>
            </a:r>
            <a:endParaRPr lang="en-US"/>
          </a:p>
        </p:txBody>
      </p:sp>
      <p:cxnSp>
        <p:nvCxnSpPr>
          <p:cNvPr id="23" name="Connector 23"/>
          <p:cNvCxnSpPr/>
          <p:nvPr/>
        </p:nvCxnSpPr>
        <p:spPr>
          <a:xfrm>
            <a:off x="2148674" y="4174787"/>
            <a:ext cx="0" cy="638378"/>
          </a:xfrm>
          <a:prstGeom prst="line">
            <a:avLst/>
          </a:prstGeom>
          <a:ln w="19050">
            <a:solidFill>
              <a:srgbClr val="526875"/>
            </a:solidFill>
            <a:tailEnd type="triangle"/>
          </a:ln>
        </p:spPr>
      </p:cxnSp>
      <p:sp>
        <p:nvSpPr>
          <p:cNvPr id="24" name="Round results and settings"/>
          <p:cNvSpPr txBox="1"/>
          <p:nvPr/>
        </p:nvSpPr>
        <p:spPr>
          <a:xfrm>
            <a:off x="2422497" y="4384540"/>
            <a:ext cx="3115917" cy="355015"/>
          </a:xfrm>
          <a:prstGeom prst="rect">
            <a:avLst/>
          </a:prstGeom>
          <a:noFill/>
          <a:ln>
            <a:noFill/>
          </a:ln>
        </p:spPr>
        <p:txBody>
          <a:bodyPr wrap="square" lIns="0" rIns="0" tIns="0" bIns="0" anchor="t">
            <a:noAutofit/>
          </a:bodyPr>
          <a:lstStyle/>
          <a:p>
            <a:pPr>
              <a:lnSpc>
                <a:spcPct val="130000"/>
              </a:lnSpc>
            </a:pPr>
            <a:r>
              <a:rPr lang="en-US" sz="1338" b="0">
                <a:solidFill>
                  <a:srgbClr val="526875"/>
                </a:solidFill>
                <a:latin typeface="Arial"/>
              </a:rPr>
              <a:t xml:space="preserve">Round results and settings</a:t>
            </a:r>
            <a:endParaRPr lang="en-US"/>
          </a:p>
        </p:txBody>
      </p:sp>
      <p:sp>
        <p:nvSpPr>
          <p:cNvPr id="25" name="Measured boundary: loopback inference. No third-party A"/>
          <p:cNvSpPr txBox="1"/>
          <p:nvPr/>
        </p:nvSpPr>
        <p:spPr>
          <a:xfrm>
            <a:off x="6747013" y="4813165"/>
            <a:ext cx="4626665" cy="1310978"/>
          </a:xfrm>
          <a:prstGeom prst="rect">
            <a:avLst/>
          </a:prstGeom>
          <a:noFill/>
          <a:ln>
            <a:noFill/>
          </a:ln>
        </p:spPr>
        <p:txBody>
          <a:bodyPr wrap="square" lIns="0" rIns="0" tIns="0" bIns="0" anchor="t">
            <a:noAutofit/>
          </a:bodyPr>
          <a:lstStyle/>
          <a:p>
            <a:pPr>
              <a:lnSpc>
                <a:spcPct val="130000"/>
              </a:lnSpc>
            </a:pPr>
            <a:r>
              <a:rPr lang="en-US" sz="1561" b="0">
                <a:solidFill>
                  <a:srgbClr val="126978"/>
                </a:solidFill>
                <a:latin typeface="Arial"/>
              </a:rPr>
              <a:t xml:space="preserve">Measured boundary: loopback inference. No third-party AI provider. A future hosted endpoint would receive derived habits and selected game settings.</a:t>
            </a:r>
            <a:endParaRPr lang="en-US"/>
          </a:p>
        </p:txBody>
      </p:sp>
      <p:sp>
        <p:nvSpPr>
          <p:cNvPr id="26" name="Farshore / Phase 2 / 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2: Strategy preparation and review"/>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F2: Strategy preparation and review</a:t>
            </a:r>
            <a:endParaRPr lang="en-US"/>
          </a:p>
        </p:txBody>
      </p:sp>
      <p:sp>
        <p:nvSpPr>
          <p:cNvPr id="3" name="Maya and Rosa / player control before a match"/>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Maya and Rosa / player control before a match</a:t>
            </a:r>
            <a:endParaRPr lang="en-US"/>
          </a:p>
        </p:txBody>
      </p:sp>
      <p:sp>
        <p:nvSpPr>
          <p:cNvPr id="4" name="rect"/>
          <p:cNvSpPr txBox="0"/>
          <p:nvPr/>
        </p:nvSpPr>
        <p:spPr>
          <a:xfrm>
            <a:off x="609600" y="1666875"/>
            <a:ext cx="6143625" cy="536893"/>
          </a:xfrm>
          <a:prstGeom prst="rect">
            <a:avLst/>
          </a:prstGeom>
          <a:solidFill>
            <a:srgbClr val="F7FAFB"/>
          </a:solidFill>
          <a:ln w="12700">
            <a:solidFill>
              <a:srgbClr val="79909B"/>
            </a:solidFill>
          </a:ln>
        </p:spPr>
      </p:sp>
      <p:sp>
        <p:nvSpPr>
          <p:cNvPr id="5" name="1. Choose a shore, difficulty and AI Rival Battle"/>
          <p:cNvSpPr txBox="1"/>
          <p:nvPr/>
        </p:nvSpPr>
        <p:spPr>
          <a:xfrm>
            <a:off x="762000" y="1762125"/>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1. Choose a shore, difficulty and AI Rival Battle</a:t>
            </a:r>
            <a:endParaRPr lang="en-US"/>
          </a:p>
        </p:txBody>
      </p:sp>
      <p:cxnSp>
        <p:nvCxnSpPr>
          <p:cNvPr id="6" name="Connector 6"/>
          <p:cNvCxnSpPr/>
          <p:nvPr/>
        </p:nvCxnSpPr>
        <p:spPr>
          <a:xfrm>
            <a:off x="3681412" y="2203768"/>
            <a:ext cx="0" cy="169545"/>
          </a:xfrm>
          <a:prstGeom prst="line">
            <a:avLst/>
          </a:prstGeom>
          <a:ln w="19050">
            <a:solidFill>
              <a:srgbClr val="526875"/>
            </a:solidFill>
            <a:tailEnd type="triangle"/>
          </a:ln>
        </p:spPr>
      </p:cxnSp>
      <p:sp>
        <p:nvSpPr>
          <p:cNvPr id="7" name="rect"/>
          <p:cNvSpPr txBox="0"/>
          <p:nvPr/>
        </p:nvSpPr>
        <p:spPr>
          <a:xfrm>
            <a:off x="609600" y="2373312"/>
            <a:ext cx="6143625" cy="536893"/>
          </a:xfrm>
          <a:prstGeom prst="rect">
            <a:avLst/>
          </a:prstGeom>
          <a:solidFill>
            <a:srgbClr val="F7FAFB"/>
          </a:solidFill>
          <a:ln w="12700">
            <a:solidFill>
              <a:srgbClr val="79909B"/>
            </a:solidFill>
          </a:ln>
        </p:spPr>
      </p:sp>
      <p:sp>
        <p:nvSpPr>
          <p:cNvPr id="8" name="2. Press Prepare with connected model"/>
          <p:cNvSpPr txBox="1"/>
          <p:nvPr/>
        </p:nvSpPr>
        <p:spPr>
          <a:xfrm>
            <a:off x="762000" y="2468562"/>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2. Press Prepare with connected model</a:t>
            </a:r>
            <a:endParaRPr lang="en-US"/>
          </a:p>
        </p:txBody>
      </p:sp>
      <p:cxnSp>
        <p:nvCxnSpPr>
          <p:cNvPr id="9" name="Connector 9"/>
          <p:cNvCxnSpPr/>
          <p:nvPr/>
        </p:nvCxnSpPr>
        <p:spPr>
          <a:xfrm>
            <a:off x="3681412" y="2910205"/>
            <a:ext cx="0" cy="169545"/>
          </a:xfrm>
          <a:prstGeom prst="line">
            <a:avLst/>
          </a:prstGeom>
          <a:ln w="19050">
            <a:solidFill>
              <a:srgbClr val="526875"/>
            </a:solidFill>
            <a:tailEnd type="triangle"/>
          </a:ln>
        </p:spPr>
      </p:cxnSp>
      <p:sp>
        <p:nvSpPr>
          <p:cNvPr id="10" name="rect"/>
          <p:cNvSpPr txBox="0"/>
          <p:nvPr/>
        </p:nvSpPr>
        <p:spPr>
          <a:xfrm>
            <a:off x="609600" y="3079750"/>
            <a:ext cx="6143625" cy="536893"/>
          </a:xfrm>
          <a:prstGeom prst="rect">
            <a:avLst/>
          </a:prstGeom>
          <a:solidFill>
            <a:srgbClr val="F7FAFB"/>
          </a:solidFill>
          <a:ln w="12700">
            <a:solidFill>
              <a:srgbClr val="79909B"/>
            </a:solidFill>
          </a:ln>
        </p:spPr>
      </p:sp>
      <p:sp>
        <p:nvSpPr>
          <p:cNvPr id="11" name="3. Show elapsed preparation and Cancel"/>
          <p:cNvSpPr txBox="1"/>
          <p:nvPr/>
        </p:nvSpPr>
        <p:spPr>
          <a:xfrm>
            <a:off x="762000" y="3175000"/>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3. Show elapsed preparation and Cancel</a:t>
            </a:r>
            <a:endParaRPr lang="en-US"/>
          </a:p>
        </p:txBody>
      </p:sp>
      <p:cxnSp>
        <p:nvCxnSpPr>
          <p:cNvPr id="12" name="Connector 12"/>
          <p:cNvCxnSpPr/>
          <p:nvPr/>
        </p:nvCxnSpPr>
        <p:spPr>
          <a:xfrm>
            <a:off x="3681412" y="3616643"/>
            <a:ext cx="0" cy="169545"/>
          </a:xfrm>
          <a:prstGeom prst="line">
            <a:avLst/>
          </a:prstGeom>
          <a:ln w="19050">
            <a:solidFill>
              <a:srgbClr val="526875"/>
            </a:solidFill>
            <a:tailEnd type="triangle"/>
          </a:ln>
        </p:spPr>
      </p:cxnSp>
      <p:sp>
        <p:nvSpPr>
          <p:cNvPr id="13" name="rect"/>
          <p:cNvSpPr txBox="0"/>
          <p:nvPr/>
        </p:nvSpPr>
        <p:spPr>
          <a:xfrm>
            <a:off x="609600" y="3786188"/>
            <a:ext cx="6143625" cy="536893"/>
          </a:xfrm>
          <a:prstGeom prst="rect">
            <a:avLst/>
          </a:prstGeom>
          <a:solidFill>
            <a:srgbClr val="F7FAFB"/>
          </a:solidFill>
          <a:ln w="12700">
            <a:solidFill>
              <a:srgbClr val="79909B"/>
            </a:solidFill>
          </a:ln>
        </p:spPr>
      </p:sp>
      <p:sp>
        <p:nvSpPr>
          <p:cNvPr id="14" name="4. Server validates allowed plan and focus"/>
          <p:cNvSpPr txBox="1"/>
          <p:nvPr/>
        </p:nvSpPr>
        <p:spPr>
          <a:xfrm>
            <a:off x="762000" y="3881438"/>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4. Server validates allowed plan and focus</a:t>
            </a:r>
            <a:endParaRPr lang="en-US"/>
          </a:p>
        </p:txBody>
      </p:sp>
      <p:cxnSp>
        <p:nvCxnSpPr>
          <p:cNvPr id="15" name="Connector 15"/>
          <p:cNvCxnSpPr/>
          <p:nvPr/>
        </p:nvCxnSpPr>
        <p:spPr>
          <a:xfrm>
            <a:off x="3681412" y="4323080"/>
            <a:ext cx="0" cy="169545"/>
          </a:xfrm>
          <a:prstGeom prst="line">
            <a:avLst/>
          </a:prstGeom>
          <a:ln w="19050">
            <a:solidFill>
              <a:srgbClr val="526875"/>
            </a:solidFill>
            <a:tailEnd type="triangle"/>
          </a:ln>
        </p:spPr>
      </p:cxnSp>
      <p:sp>
        <p:nvSpPr>
          <p:cNvPr id="16" name="rect"/>
          <p:cNvSpPr txBox="0"/>
          <p:nvPr/>
        </p:nvSpPr>
        <p:spPr>
          <a:xfrm>
            <a:off x="609600" y="4492625"/>
            <a:ext cx="6143625" cy="536893"/>
          </a:xfrm>
          <a:prstGeom prst="rect">
            <a:avLst/>
          </a:prstGeom>
          <a:solidFill>
            <a:srgbClr val="F7FAFB"/>
          </a:solidFill>
          <a:ln w="12700">
            <a:solidFill>
              <a:srgbClr val="79909B"/>
            </a:solidFill>
          </a:ln>
        </p:spPr>
      </p:sp>
      <p:sp>
        <p:nvSpPr>
          <p:cNvPr id="17" name="5. Read strategy and fixed-rules explanation"/>
          <p:cNvSpPr txBox="1"/>
          <p:nvPr/>
        </p:nvSpPr>
        <p:spPr>
          <a:xfrm>
            <a:off x="762000" y="4587875"/>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5. Read strategy and fixed-rules explanation</a:t>
            </a:r>
            <a:endParaRPr lang="en-US"/>
          </a:p>
        </p:txBody>
      </p:sp>
      <p:cxnSp>
        <p:nvCxnSpPr>
          <p:cNvPr id="18" name="Connector 18"/>
          <p:cNvCxnSpPr/>
          <p:nvPr/>
        </p:nvCxnSpPr>
        <p:spPr>
          <a:xfrm>
            <a:off x="3681412" y="5029518"/>
            <a:ext cx="0" cy="169545"/>
          </a:xfrm>
          <a:prstGeom prst="line">
            <a:avLst/>
          </a:prstGeom>
          <a:ln w="19050">
            <a:solidFill>
              <a:srgbClr val="526875"/>
            </a:solidFill>
            <a:tailEnd type="triangle"/>
          </a:ln>
        </p:spPr>
      </p:cxnSp>
      <p:sp>
        <p:nvSpPr>
          <p:cNvPr id="19" name="rect"/>
          <p:cNvSpPr txBox="0"/>
          <p:nvPr/>
        </p:nvSpPr>
        <p:spPr>
          <a:xfrm>
            <a:off x="609600" y="5199062"/>
            <a:ext cx="6143625" cy="536893"/>
          </a:xfrm>
          <a:prstGeom prst="rect">
            <a:avLst/>
          </a:prstGeom>
          <a:solidFill>
            <a:srgbClr val="F7FAFB"/>
          </a:solidFill>
          <a:ln w="12700">
            <a:solidFill>
              <a:srgbClr val="79909B"/>
            </a:solidFill>
          </a:ln>
        </p:spPr>
      </p:sp>
      <p:sp>
        <p:nvSpPr>
          <p:cNvPr id="20" name="6. Start a labeled model-planned duel"/>
          <p:cNvSpPr txBox="1"/>
          <p:nvPr/>
        </p:nvSpPr>
        <p:spPr>
          <a:xfrm>
            <a:off x="762000" y="5294312"/>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6. Start a labeled model-planned duel</a:t>
            </a:r>
            <a:endParaRPr lang="en-US"/>
          </a:p>
        </p:txBody>
      </p:sp>
      <p:sp>
        <p:nvSpPr>
          <p:cNvPr id="21" name="•"/>
          <p:cNvSpPr txBox="1"/>
          <p:nvPr/>
        </p:nvSpPr>
        <p:spPr>
          <a:xfrm>
            <a:off x="7620000" y="1809750"/>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2" name="Cancel preserves progress."/>
          <p:cNvSpPr txBox="1"/>
          <p:nvPr/>
        </p:nvSpPr>
        <p:spPr>
          <a:xfrm>
            <a:off x="7848600" y="1809750"/>
            <a:ext cx="3629025" cy="47419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Cancel preserves progress.</a:t>
            </a:r>
            <a:endParaRPr lang="en-US"/>
          </a:p>
        </p:txBody>
      </p:sp>
      <p:sp>
        <p:nvSpPr>
          <p:cNvPr id="23" name="•"/>
          <p:cNvSpPr txBox="1"/>
          <p:nvPr/>
        </p:nvSpPr>
        <p:spPr>
          <a:xfrm>
            <a:off x="7620000" y="2426970"/>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4" name="Prepare another replaces the candidate."/>
          <p:cNvSpPr txBox="1"/>
          <p:nvPr/>
        </p:nvSpPr>
        <p:spPr>
          <a:xfrm>
            <a:off x="7848600" y="2426970"/>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Prepare another replaces the candidate.</a:t>
            </a:r>
            <a:endParaRPr lang="en-US"/>
          </a:p>
        </p:txBody>
      </p:sp>
      <p:sp>
        <p:nvSpPr>
          <p:cNvPr id="25" name="•"/>
          <p:cNvSpPr txBox="1"/>
          <p:nvPr/>
        </p:nvSpPr>
        <p:spPr>
          <a:xfrm>
            <a:off x="7620000" y="3366135"/>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6" name="Edit difficulty or choose Solo to discard."/>
          <p:cNvSpPr txBox="1"/>
          <p:nvPr/>
        </p:nvSpPr>
        <p:spPr>
          <a:xfrm>
            <a:off x="7848600" y="3366135"/>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Edit difficulty or choose Solo to discard.</a:t>
            </a:r>
            <a:endParaRPr lang="en-US"/>
          </a:p>
        </p:txBody>
      </p:sp>
      <p:sp>
        <p:nvSpPr>
          <p:cNvPr id="27" name="•"/>
          <p:cNvSpPr txBox="1"/>
          <p:nvPr/>
        </p:nvSpPr>
        <p:spPr>
          <a:xfrm>
            <a:off x="7620000" y="4305300"/>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8" name="Proposed: a dedicated Discard action."/>
          <p:cNvSpPr txBox="1"/>
          <p:nvPr/>
        </p:nvSpPr>
        <p:spPr>
          <a:xfrm>
            <a:off x="7848600" y="4305300"/>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Proposed: a dedicated Discard action.</a:t>
            </a:r>
            <a:endParaRPr lang="en-US"/>
          </a:p>
        </p:txBody>
      </p:sp>
      <p:sp>
        <p:nvSpPr>
          <p:cNvPr id="29" name="Farshore / Phase 2 / 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3: Active play and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F3: Active play and recovery</a:t>
            </a:r>
            <a:endParaRPr lang="en-US"/>
          </a:p>
        </p:txBody>
      </p:sp>
      <p:sp>
        <p:nvSpPr>
          <p:cNvPr id="3" name="Maya and Daniel / local simulation keeps play responsiv"/>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Maya and Daniel / local simulation keeps play responsive</a:t>
            </a:r>
            <a:endParaRPr lang="en-US"/>
          </a:p>
        </p:txBody>
      </p:sp>
      <p:sp>
        <p:nvSpPr>
          <p:cNvPr id="4" name="rect"/>
          <p:cNvSpPr txBox="0"/>
          <p:nvPr/>
        </p:nvSpPr>
        <p:spPr>
          <a:xfrm>
            <a:off x="609600" y="1666875"/>
            <a:ext cx="6143625" cy="536893"/>
          </a:xfrm>
          <a:prstGeom prst="rect">
            <a:avLst/>
          </a:prstGeom>
          <a:solidFill>
            <a:srgbClr val="F7FAFB"/>
          </a:solidFill>
          <a:ln w="12700">
            <a:solidFill>
              <a:srgbClr val="79909B"/>
            </a:solidFill>
          </a:ln>
        </p:spPr>
      </p:sp>
      <p:sp>
        <p:nvSpPr>
          <p:cNvPr id="5" name="1. Start Solo, local AI or model-planned duel"/>
          <p:cNvSpPr txBox="1"/>
          <p:nvPr/>
        </p:nvSpPr>
        <p:spPr>
          <a:xfrm>
            <a:off x="762000" y="1762125"/>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1. Start Solo, local AI or model-planned duel</a:t>
            </a:r>
            <a:endParaRPr lang="en-US"/>
          </a:p>
        </p:txBody>
      </p:sp>
      <p:cxnSp>
        <p:nvCxnSpPr>
          <p:cNvPr id="6" name="Connector 6"/>
          <p:cNvCxnSpPr/>
          <p:nvPr/>
        </p:nvCxnSpPr>
        <p:spPr>
          <a:xfrm>
            <a:off x="3681412" y="2203768"/>
            <a:ext cx="0" cy="169545"/>
          </a:xfrm>
          <a:prstGeom prst="line">
            <a:avLst/>
          </a:prstGeom>
          <a:ln w="19050">
            <a:solidFill>
              <a:srgbClr val="526875"/>
            </a:solidFill>
            <a:tailEnd type="triangle"/>
          </a:ln>
        </p:spPr>
      </p:cxnSp>
      <p:sp>
        <p:nvSpPr>
          <p:cNvPr id="7" name="rect"/>
          <p:cNvSpPr txBox="0"/>
          <p:nvPr/>
        </p:nvSpPr>
        <p:spPr>
          <a:xfrm>
            <a:off x="609600" y="2373312"/>
            <a:ext cx="6143625" cy="536893"/>
          </a:xfrm>
          <a:prstGeom prst="rect">
            <a:avLst/>
          </a:prstGeom>
          <a:solidFill>
            <a:srgbClr val="F7FAFB"/>
          </a:solidFill>
          <a:ln w="12700">
            <a:solidFill>
              <a:srgbClr val="79909B"/>
            </a:solidFill>
          </a:ln>
        </p:spPr>
      </p:sp>
      <p:sp>
        <p:nvSpPr>
          <p:cNvPr id="8" name="2. Read countdown and game-mode label"/>
          <p:cNvSpPr txBox="1"/>
          <p:nvPr/>
        </p:nvSpPr>
        <p:spPr>
          <a:xfrm>
            <a:off x="762000" y="2468562"/>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2. Read countdown and game-mode label</a:t>
            </a:r>
            <a:endParaRPr lang="en-US"/>
          </a:p>
        </p:txBody>
      </p:sp>
      <p:cxnSp>
        <p:nvCxnSpPr>
          <p:cNvPr id="9" name="Connector 9"/>
          <p:cNvCxnSpPr/>
          <p:nvPr/>
        </p:nvCxnSpPr>
        <p:spPr>
          <a:xfrm>
            <a:off x="3681412" y="2910205"/>
            <a:ext cx="0" cy="169545"/>
          </a:xfrm>
          <a:prstGeom prst="line">
            <a:avLst/>
          </a:prstGeom>
          <a:ln w="19050">
            <a:solidFill>
              <a:srgbClr val="526875"/>
            </a:solidFill>
            <a:tailEnd type="triangle"/>
          </a:ln>
        </p:spPr>
      </p:cxnSp>
      <p:sp>
        <p:nvSpPr>
          <p:cNvPr id="10" name="rect"/>
          <p:cNvSpPr txBox="0"/>
          <p:nvPr/>
        </p:nvSpPr>
        <p:spPr>
          <a:xfrm>
            <a:off x="609600" y="3079750"/>
            <a:ext cx="6143625" cy="536893"/>
          </a:xfrm>
          <a:prstGeom prst="rect">
            <a:avLst/>
          </a:prstGeom>
          <a:solidFill>
            <a:srgbClr val="F7FAFB"/>
          </a:solidFill>
          <a:ln w="12700">
            <a:solidFill>
              <a:srgbClr val="79909B"/>
            </a:solidFill>
          </a:ln>
        </p:spPr>
      </p:sp>
      <p:sp>
        <p:nvSpPr>
          <p:cNvPr id="11" name="3. Make the encounter-specific move"/>
          <p:cNvSpPr txBox="1"/>
          <p:nvPr/>
        </p:nvSpPr>
        <p:spPr>
          <a:xfrm>
            <a:off x="762000" y="3175000"/>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3. Make the encounter-specific move</a:t>
            </a:r>
            <a:endParaRPr lang="en-US"/>
          </a:p>
        </p:txBody>
      </p:sp>
      <p:cxnSp>
        <p:nvCxnSpPr>
          <p:cNvPr id="12" name="Connector 12"/>
          <p:cNvCxnSpPr/>
          <p:nvPr/>
        </p:nvCxnSpPr>
        <p:spPr>
          <a:xfrm>
            <a:off x="3681412" y="3616643"/>
            <a:ext cx="0" cy="169545"/>
          </a:xfrm>
          <a:prstGeom prst="line">
            <a:avLst/>
          </a:prstGeom>
          <a:ln w="19050">
            <a:solidFill>
              <a:srgbClr val="526875"/>
            </a:solidFill>
            <a:tailEnd type="triangle"/>
          </a:ln>
        </p:spPr>
      </p:cxnSp>
      <p:sp>
        <p:nvSpPr>
          <p:cNvPr id="13" name="rect"/>
          <p:cNvSpPr txBox="0"/>
          <p:nvPr/>
        </p:nvSpPr>
        <p:spPr>
          <a:xfrm>
            <a:off x="609600" y="3786188"/>
            <a:ext cx="6143625" cy="536893"/>
          </a:xfrm>
          <a:prstGeom prst="rect">
            <a:avLst/>
          </a:prstGeom>
          <a:solidFill>
            <a:srgbClr val="F7FAFB"/>
          </a:solidFill>
          <a:ln w="12700">
            <a:solidFill>
              <a:srgbClr val="79909B"/>
            </a:solidFill>
          </a:ln>
        </p:spPr>
      </p:sp>
      <p:sp>
        <p:nvSpPr>
          <p:cNvPr id="14" name="4. Observe a rival turn or visible attack warning"/>
          <p:cNvSpPr txBox="1"/>
          <p:nvPr/>
        </p:nvSpPr>
        <p:spPr>
          <a:xfrm>
            <a:off x="762000" y="3881438"/>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4. Observe a rival turn or visible attack warning</a:t>
            </a:r>
            <a:endParaRPr lang="en-US"/>
          </a:p>
        </p:txBody>
      </p:sp>
      <p:cxnSp>
        <p:nvCxnSpPr>
          <p:cNvPr id="15" name="Connector 15"/>
          <p:cNvCxnSpPr/>
          <p:nvPr/>
        </p:nvCxnSpPr>
        <p:spPr>
          <a:xfrm>
            <a:off x="3681412" y="4323080"/>
            <a:ext cx="0" cy="169545"/>
          </a:xfrm>
          <a:prstGeom prst="line">
            <a:avLst/>
          </a:prstGeom>
          <a:ln w="19050">
            <a:solidFill>
              <a:srgbClr val="526875"/>
            </a:solidFill>
            <a:tailEnd type="triangle"/>
          </a:ln>
        </p:spPr>
      </p:cxnSp>
      <p:sp>
        <p:nvSpPr>
          <p:cNvPr id="16" name="rect"/>
          <p:cNvSpPr txBox="0"/>
          <p:nvPr/>
        </p:nvSpPr>
        <p:spPr>
          <a:xfrm>
            <a:off x="609600" y="4492625"/>
            <a:ext cx="6143625" cy="536893"/>
          </a:xfrm>
          <a:prstGeom prst="rect">
            <a:avLst/>
          </a:prstGeom>
          <a:solidFill>
            <a:srgbClr val="F7FAFB"/>
          </a:solidFill>
          <a:ln w="12700">
            <a:solidFill>
              <a:srgbClr val="79909B"/>
            </a:solidFill>
          </a:ln>
        </p:spPr>
      </p:sp>
      <p:sp>
        <p:nvSpPr>
          <p:cNvPr id="17" name="5. Continue until the clear or loss rule"/>
          <p:cNvSpPr txBox="1"/>
          <p:nvPr/>
        </p:nvSpPr>
        <p:spPr>
          <a:xfrm>
            <a:off x="762000" y="4587875"/>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5. Continue until the clear or loss rule</a:t>
            </a:r>
            <a:endParaRPr lang="en-US"/>
          </a:p>
        </p:txBody>
      </p:sp>
      <p:cxnSp>
        <p:nvCxnSpPr>
          <p:cNvPr id="18" name="Connector 18"/>
          <p:cNvCxnSpPr/>
          <p:nvPr/>
        </p:nvCxnSpPr>
        <p:spPr>
          <a:xfrm>
            <a:off x="3681412" y="5029518"/>
            <a:ext cx="0" cy="169545"/>
          </a:xfrm>
          <a:prstGeom prst="line">
            <a:avLst/>
          </a:prstGeom>
          <a:ln w="19050">
            <a:solidFill>
              <a:srgbClr val="526875"/>
            </a:solidFill>
            <a:tailEnd type="triangle"/>
          </a:ln>
        </p:spPr>
      </p:cxnSp>
      <p:sp>
        <p:nvSpPr>
          <p:cNvPr id="19" name="rect"/>
          <p:cNvSpPr txBox="0"/>
          <p:nvPr/>
        </p:nvSpPr>
        <p:spPr>
          <a:xfrm>
            <a:off x="609600" y="5199062"/>
            <a:ext cx="6143625" cy="536893"/>
          </a:xfrm>
          <a:prstGeom prst="rect">
            <a:avLst/>
          </a:prstGeom>
          <a:solidFill>
            <a:srgbClr val="F7FAFB"/>
          </a:solidFill>
          <a:ln w="12700">
            <a:solidFill>
              <a:srgbClr val="79909B"/>
            </a:solidFill>
          </a:ln>
        </p:spPr>
      </p:sp>
      <p:sp>
        <p:nvSpPr>
          <p:cNvPr id="20" name="6. Review both performance and next action"/>
          <p:cNvSpPr txBox="1"/>
          <p:nvPr/>
        </p:nvSpPr>
        <p:spPr>
          <a:xfrm>
            <a:off x="762000" y="5294312"/>
            <a:ext cx="5838825"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6. Review both performance and next action</a:t>
            </a:r>
            <a:endParaRPr lang="en-US"/>
          </a:p>
        </p:txBody>
      </p:sp>
      <p:sp>
        <p:nvSpPr>
          <p:cNvPr id="21" name="•"/>
          <p:cNvSpPr txBox="1"/>
          <p:nvPr/>
        </p:nvSpPr>
        <p:spPr>
          <a:xfrm>
            <a:off x="7620000" y="1809750"/>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2" name="Warnings show what the rival will do."/>
          <p:cNvSpPr txBox="1"/>
          <p:nvPr/>
        </p:nvSpPr>
        <p:spPr>
          <a:xfrm>
            <a:off x="7848600" y="1809750"/>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Warnings show what the rival will do.</a:t>
            </a:r>
            <a:endParaRPr lang="en-US"/>
          </a:p>
        </p:txBody>
      </p:sp>
      <p:sp>
        <p:nvSpPr>
          <p:cNvPr id="23" name="•"/>
          <p:cNvSpPr txBox="1"/>
          <p:nvPr/>
        </p:nvSpPr>
        <p:spPr>
          <a:xfrm>
            <a:off x="7620000" y="2748915"/>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4" name="Pause stops clocks and held controls."/>
          <p:cNvSpPr txBox="1"/>
          <p:nvPr/>
        </p:nvSpPr>
        <p:spPr>
          <a:xfrm>
            <a:off x="7848600" y="2748915"/>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Pause stops clocks and held controls.</a:t>
            </a:r>
            <a:endParaRPr lang="en-US"/>
          </a:p>
        </p:txBody>
      </p:sp>
      <p:sp>
        <p:nvSpPr>
          <p:cNvPr id="25" name="•"/>
          <p:cNvSpPr txBox="1"/>
          <p:nvPr/>
        </p:nvSpPr>
        <p:spPr>
          <a:xfrm>
            <a:off x="7620000" y="3688080"/>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6" name="Loss offers retry or short practice."/>
          <p:cNvSpPr txBox="1"/>
          <p:nvPr/>
        </p:nvSpPr>
        <p:spPr>
          <a:xfrm>
            <a:off x="7848600" y="3688080"/>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Loss offers retry or short practice.</a:t>
            </a:r>
            <a:endParaRPr lang="en-US"/>
          </a:p>
        </p:txBody>
      </p:sp>
      <p:sp>
        <p:nvSpPr>
          <p:cNvPr id="27" name="•"/>
          <p:cNvSpPr txBox="1"/>
          <p:nvPr/>
        </p:nvSpPr>
        <p:spPr>
          <a:xfrm>
            <a:off x="7620000" y="4627245"/>
            <a:ext cx="171450" cy="474193"/>
          </a:xfrm>
          <a:prstGeom prst="rect">
            <a:avLst/>
          </a:prstGeom>
          <a:noFill/>
          <a:ln>
            <a:noFill/>
          </a:ln>
        </p:spPr>
        <p:txBody>
          <a:bodyPr wrap="square" lIns="0" rIns="0" tIns="0" bIns="0" anchor="t">
            <a:noAutofit/>
          </a:bodyPr>
          <a:lstStyle/>
          <a:p>
            <a:pPr>
              <a:lnSpc>
                <a:spcPct val="130000"/>
              </a:lnSpc>
            </a:pPr>
            <a:r>
              <a:rPr lang="en-US" sz="1950" b="0">
                <a:solidFill>
                  <a:srgbClr val="126978"/>
                </a:solidFill>
                <a:latin typeface="Arial"/>
              </a:rPr>
              <a:t xml:space="preserve">•</a:t>
            </a:r>
            <a:endParaRPr lang="en-US"/>
          </a:p>
        </p:txBody>
      </p:sp>
      <p:sp>
        <p:nvSpPr>
          <p:cNvPr id="28" name="Assistance has an honest report label."/>
          <p:cNvSpPr txBox="1"/>
          <p:nvPr/>
        </p:nvSpPr>
        <p:spPr>
          <a:xfrm>
            <a:off x="7848600" y="4627245"/>
            <a:ext cx="36290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Assistance has an honest report label.</a:t>
            </a:r>
            <a:endParaRPr lang="en-US"/>
          </a:p>
        </p:txBody>
      </p:sp>
      <p:sp>
        <p:nvSpPr>
          <p:cNvPr id="29" name="Farshore / Phase 2 / 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I preparation state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AI preparation states</a:t>
            </a:r>
            <a:endParaRPr lang="en-US"/>
          </a:p>
        </p:txBody>
      </p:sp>
      <p:sp>
        <p:nvSpPr>
          <p:cNvPr id="3" name="Initial, loading and reviewed success"/>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Initial, loading and reviewed success</a:t>
            </a:r>
            <a:endParaRPr lang="en-US"/>
          </a:p>
        </p:txBody>
      </p:sp>
      <p:sp>
        <p:nvSpPr>
          <p:cNvPr id="4" name="Initial"/>
          <p:cNvSpPr txBox="1"/>
          <p:nvPr/>
        </p:nvSpPr>
        <p:spPr>
          <a:xfrm>
            <a:off x="609600" y="1781175"/>
            <a:ext cx="3333750" cy="547249"/>
          </a:xfrm>
          <a:prstGeom prst="rect">
            <a:avLst/>
          </a:prstGeom>
          <a:noFill/>
          <a:ln>
            <a:noFill/>
          </a:ln>
        </p:spPr>
        <p:txBody>
          <a:bodyPr wrap="square" lIns="0" rIns="0" tIns="0" bIns="0" anchor="t">
            <a:noAutofit/>
          </a:bodyPr>
          <a:lstStyle/>
          <a:p>
            <a:pPr>
              <a:lnSpc>
                <a:spcPct val="130000"/>
              </a:lnSpc>
            </a:pPr>
            <a:r>
              <a:rPr lang="en-US" sz="2325" b="1">
                <a:solidFill>
                  <a:srgbClr val="102E40"/>
                </a:solidFill>
                <a:latin typeface="Arial"/>
              </a:rPr>
              <a:t xml:space="preserve">Initial</a:t>
            </a:r>
            <a:endParaRPr lang="en-US"/>
          </a:p>
        </p:txBody>
      </p:sp>
      <p:sp>
        <p:nvSpPr>
          <p:cNvPr id="5" name="rect"/>
          <p:cNvSpPr txBox="0"/>
          <p:nvPr/>
        </p:nvSpPr>
        <p:spPr>
          <a:xfrm>
            <a:off x="609600" y="2381250"/>
            <a:ext cx="3333750" cy="2809875"/>
          </a:xfrm>
          <a:prstGeom prst="rect">
            <a:avLst/>
          </a:prstGeom>
          <a:solidFill>
            <a:srgbClr val="FFFFFF"/>
          </a:solidFill>
          <a:ln w="12700">
            <a:solidFill>
              <a:srgbClr val="777777"/>
            </a:solidFill>
          </a:ln>
        </p:spPr>
      </p:sp>
      <p:sp>
        <p:nvSpPr>
          <p:cNvPr id="6" name="rect"/>
          <p:cNvSpPr txBox="0"/>
          <p:nvPr/>
        </p:nvSpPr>
        <p:spPr>
          <a:xfrm>
            <a:off x="762000" y="2590800"/>
            <a:ext cx="3028950" cy="657225"/>
          </a:xfrm>
          <a:prstGeom prst="rect">
            <a:avLst/>
          </a:prstGeom>
          <a:solidFill>
            <a:srgbClr val="F4F4F4"/>
          </a:solidFill>
          <a:ln w="12700">
            <a:solidFill>
              <a:srgbClr val="999999"/>
            </a:solidFill>
          </a:ln>
        </p:spPr>
      </p:sp>
      <p:sp>
        <p:nvSpPr>
          <p:cNvPr id="7" name="Difficulty and mode"/>
          <p:cNvSpPr txBox="1"/>
          <p:nvPr/>
        </p:nvSpPr>
        <p:spPr>
          <a:xfrm>
            <a:off x="876300" y="27527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Difficulty and mode</a:t>
            </a:r>
            <a:endParaRPr lang="en-US"/>
          </a:p>
        </p:txBody>
      </p:sp>
      <p:sp>
        <p:nvSpPr>
          <p:cNvPr id="8" name="rect"/>
          <p:cNvSpPr txBox="0"/>
          <p:nvPr/>
        </p:nvSpPr>
        <p:spPr>
          <a:xfrm>
            <a:off x="762000" y="3409950"/>
            <a:ext cx="3028950" cy="657225"/>
          </a:xfrm>
          <a:prstGeom prst="rect">
            <a:avLst/>
          </a:prstGeom>
          <a:solidFill>
            <a:srgbClr val="F4F4F4"/>
          </a:solidFill>
          <a:ln w="12700">
            <a:solidFill>
              <a:srgbClr val="999999"/>
            </a:solidFill>
          </a:ln>
        </p:spPr>
      </p:sp>
      <p:sp>
        <p:nvSpPr>
          <p:cNvPr id="9" name="Local rival ready"/>
          <p:cNvSpPr txBox="1"/>
          <p:nvPr/>
        </p:nvSpPr>
        <p:spPr>
          <a:xfrm>
            <a:off x="876300" y="357187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Local rival ready</a:t>
            </a:r>
            <a:endParaRPr lang="en-US"/>
          </a:p>
        </p:txBody>
      </p:sp>
      <p:sp>
        <p:nvSpPr>
          <p:cNvPr id="10" name="rect"/>
          <p:cNvSpPr txBox="0"/>
          <p:nvPr/>
        </p:nvSpPr>
        <p:spPr>
          <a:xfrm>
            <a:off x="762000" y="4229100"/>
            <a:ext cx="3028950" cy="657225"/>
          </a:xfrm>
          <a:prstGeom prst="rect">
            <a:avLst/>
          </a:prstGeom>
          <a:solidFill>
            <a:srgbClr val="F4F4F4"/>
          </a:solidFill>
          <a:ln w="12700">
            <a:solidFill>
              <a:srgbClr val="999999"/>
            </a:solidFill>
          </a:ln>
        </p:spPr>
      </p:sp>
      <p:sp>
        <p:nvSpPr>
          <p:cNvPr id="11" name="Prepare with model"/>
          <p:cNvSpPr txBox="1"/>
          <p:nvPr/>
        </p:nvSpPr>
        <p:spPr>
          <a:xfrm>
            <a:off x="876300" y="43910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Prepare with model</a:t>
            </a:r>
            <a:endParaRPr lang="en-US"/>
          </a:p>
        </p:txBody>
      </p:sp>
      <p:sp>
        <p:nvSpPr>
          <p:cNvPr id="12" name="Loading"/>
          <p:cNvSpPr txBox="1"/>
          <p:nvPr/>
        </p:nvSpPr>
        <p:spPr>
          <a:xfrm>
            <a:off x="4419600" y="1781175"/>
            <a:ext cx="3333750" cy="547249"/>
          </a:xfrm>
          <a:prstGeom prst="rect">
            <a:avLst/>
          </a:prstGeom>
          <a:noFill/>
          <a:ln>
            <a:noFill/>
          </a:ln>
        </p:spPr>
        <p:txBody>
          <a:bodyPr wrap="square" lIns="0" rIns="0" tIns="0" bIns="0" anchor="t">
            <a:noAutofit/>
          </a:bodyPr>
          <a:lstStyle/>
          <a:p>
            <a:pPr>
              <a:lnSpc>
                <a:spcPct val="130000"/>
              </a:lnSpc>
            </a:pPr>
            <a:r>
              <a:rPr lang="en-US" sz="2325" b="1">
                <a:solidFill>
                  <a:srgbClr val="102E40"/>
                </a:solidFill>
                <a:latin typeface="Arial"/>
              </a:rPr>
              <a:t xml:space="preserve">Loading</a:t>
            </a:r>
            <a:endParaRPr lang="en-US"/>
          </a:p>
        </p:txBody>
      </p:sp>
      <p:sp>
        <p:nvSpPr>
          <p:cNvPr id="13" name="rect"/>
          <p:cNvSpPr txBox="0"/>
          <p:nvPr/>
        </p:nvSpPr>
        <p:spPr>
          <a:xfrm>
            <a:off x="4419600" y="2381250"/>
            <a:ext cx="3333750" cy="2809875"/>
          </a:xfrm>
          <a:prstGeom prst="rect">
            <a:avLst/>
          </a:prstGeom>
          <a:solidFill>
            <a:srgbClr val="FFFFFF"/>
          </a:solidFill>
          <a:ln w="12700">
            <a:solidFill>
              <a:srgbClr val="777777"/>
            </a:solidFill>
          </a:ln>
        </p:spPr>
      </p:sp>
      <p:sp>
        <p:nvSpPr>
          <p:cNvPr id="14" name="rect"/>
          <p:cNvSpPr txBox="0"/>
          <p:nvPr/>
        </p:nvSpPr>
        <p:spPr>
          <a:xfrm>
            <a:off x="4572000" y="2590800"/>
            <a:ext cx="3028950" cy="657225"/>
          </a:xfrm>
          <a:prstGeom prst="rect">
            <a:avLst/>
          </a:prstGeom>
          <a:solidFill>
            <a:srgbClr val="F4F4F4"/>
          </a:solidFill>
          <a:ln w="12700">
            <a:solidFill>
              <a:srgbClr val="999999"/>
            </a:solidFill>
          </a:ln>
        </p:spPr>
      </p:sp>
      <p:sp>
        <p:nvSpPr>
          <p:cNvPr id="15" name="Preparing strategy"/>
          <p:cNvSpPr txBox="1"/>
          <p:nvPr/>
        </p:nvSpPr>
        <p:spPr>
          <a:xfrm>
            <a:off x="4686300" y="27527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Preparing strategy</a:t>
            </a:r>
            <a:endParaRPr lang="en-US"/>
          </a:p>
        </p:txBody>
      </p:sp>
      <p:sp>
        <p:nvSpPr>
          <p:cNvPr id="16" name="rect"/>
          <p:cNvSpPr txBox="0"/>
          <p:nvPr/>
        </p:nvSpPr>
        <p:spPr>
          <a:xfrm>
            <a:off x="4572000" y="3409950"/>
            <a:ext cx="3028950" cy="657225"/>
          </a:xfrm>
          <a:prstGeom prst="rect">
            <a:avLst/>
          </a:prstGeom>
          <a:solidFill>
            <a:srgbClr val="F4F4F4"/>
          </a:solidFill>
          <a:ln w="12700">
            <a:solidFill>
              <a:srgbClr val="999999"/>
            </a:solidFill>
          </a:ln>
        </p:spPr>
      </p:sp>
      <p:sp>
        <p:nvSpPr>
          <p:cNvPr id="17" name="12 seconds elapsed"/>
          <p:cNvSpPr txBox="1"/>
          <p:nvPr/>
        </p:nvSpPr>
        <p:spPr>
          <a:xfrm>
            <a:off x="4686300" y="357187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12 seconds elapsed</a:t>
            </a:r>
            <a:endParaRPr lang="en-US"/>
          </a:p>
        </p:txBody>
      </p:sp>
      <p:sp>
        <p:nvSpPr>
          <p:cNvPr id="18" name="rect"/>
          <p:cNvSpPr txBox="0"/>
          <p:nvPr/>
        </p:nvSpPr>
        <p:spPr>
          <a:xfrm>
            <a:off x="4572000" y="4229100"/>
            <a:ext cx="3028950" cy="657225"/>
          </a:xfrm>
          <a:prstGeom prst="rect">
            <a:avLst/>
          </a:prstGeom>
          <a:solidFill>
            <a:srgbClr val="F4F4F4"/>
          </a:solidFill>
          <a:ln w="12700">
            <a:solidFill>
              <a:srgbClr val="999999"/>
            </a:solidFill>
          </a:ln>
        </p:spPr>
      </p:sp>
      <p:sp>
        <p:nvSpPr>
          <p:cNvPr id="19" name="Cancel / Practice"/>
          <p:cNvSpPr txBox="1"/>
          <p:nvPr/>
        </p:nvSpPr>
        <p:spPr>
          <a:xfrm>
            <a:off x="4686300" y="43910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Cancel / Practice</a:t>
            </a:r>
            <a:endParaRPr lang="en-US"/>
          </a:p>
        </p:txBody>
      </p:sp>
      <p:sp>
        <p:nvSpPr>
          <p:cNvPr id="20" name="Success"/>
          <p:cNvSpPr txBox="1"/>
          <p:nvPr/>
        </p:nvSpPr>
        <p:spPr>
          <a:xfrm>
            <a:off x="8229600" y="1781175"/>
            <a:ext cx="3333750" cy="547249"/>
          </a:xfrm>
          <a:prstGeom prst="rect">
            <a:avLst/>
          </a:prstGeom>
          <a:noFill/>
          <a:ln>
            <a:noFill/>
          </a:ln>
        </p:spPr>
        <p:txBody>
          <a:bodyPr wrap="square" lIns="0" rIns="0" tIns="0" bIns="0" anchor="t">
            <a:noAutofit/>
          </a:bodyPr>
          <a:lstStyle/>
          <a:p>
            <a:pPr>
              <a:lnSpc>
                <a:spcPct val="130000"/>
              </a:lnSpc>
            </a:pPr>
            <a:r>
              <a:rPr lang="en-US" sz="2325" b="1">
                <a:solidFill>
                  <a:srgbClr val="102E40"/>
                </a:solidFill>
                <a:latin typeface="Arial"/>
              </a:rPr>
              <a:t xml:space="preserve">Success</a:t>
            </a:r>
            <a:endParaRPr lang="en-US"/>
          </a:p>
        </p:txBody>
      </p:sp>
      <p:sp>
        <p:nvSpPr>
          <p:cNvPr id="21" name="rect"/>
          <p:cNvSpPr txBox="0"/>
          <p:nvPr/>
        </p:nvSpPr>
        <p:spPr>
          <a:xfrm>
            <a:off x="8229600" y="2381250"/>
            <a:ext cx="3333750" cy="2809875"/>
          </a:xfrm>
          <a:prstGeom prst="rect">
            <a:avLst/>
          </a:prstGeom>
          <a:solidFill>
            <a:srgbClr val="FFFFFF"/>
          </a:solidFill>
          <a:ln w="12700">
            <a:solidFill>
              <a:srgbClr val="777777"/>
            </a:solidFill>
          </a:ln>
        </p:spPr>
      </p:sp>
      <p:sp>
        <p:nvSpPr>
          <p:cNvPr id="22" name="rect"/>
          <p:cNvSpPr txBox="0"/>
          <p:nvPr/>
        </p:nvSpPr>
        <p:spPr>
          <a:xfrm>
            <a:off x="8382000" y="2590800"/>
            <a:ext cx="3028950" cy="657225"/>
          </a:xfrm>
          <a:prstGeom prst="rect">
            <a:avLst/>
          </a:prstGeom>
          <a:solidFill>
            <a:srgbClr val="F4F4F4"/>
          </a:solidFill>
          <a:ln w="12700">
            <a:solidFill>
              <a:srgbClr val="999999"/>
            </a:solidFill>
          </a:ln>
        </p:spPr>
      </p:sp>
      <p:sp>
        <p:nvSpPr>
          <p:cNvPr id="23" name="Chain Alchemist"/>
          <p:cNvSpPr txBox="1"/>
          <p:nvPr/>
        </p:nvSpPr>
        <p:spPr>
          <a:xfrm>
            <a:off x="8496300" y="27527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Chain Alchemist</a:t>
            </a:r>
            <a:endParaRPr lang="en-US"/>
          </a:p>
        </p:txBody>
      </p:sp>
      <p:sp>
        <p:nvSpPr>
          <p:cNvPr id="24" name="rect"/>
          <p:cNvSpPr txBox="0"/>
          <p:nvPr/>
        </p:nvSpPr>
        <p:spPr>
          <a:xfrm>
            <a:off x="8382000" y="3409950"/>
            <a:ext cx="3028950" cy="657225"/>
          </a:xfrm>
          <a:prstGeom prst="rect">
            <a:avLst/>
          </a:prstGeom>
          <a:solidFill>
            <a:srgbClr val="F4F4F4"/>
          </a:solidFill>
          <a:ln w="12700">
            <a:solidFill>
              <a:srgbClr val="999999"/>
            </a:solidFill>
          </a:ln>
        </p:spPr>
      </p:sp>
      <p:sp>
        <p:nvSpPr>
          <p:cNvPr id="25" name="Fixed Normal rules"/>
          <p:cNvSpPr txBox="1"/>
          <p:nvPr/>
        </p:nvSpPr>
        <p:spPr>
          <a:xfrm>
            <a:off x="8496300" y="357187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Fixed Normal rules</a:t>
            </a:r>
            <a:endParaRPr lang="en-US"/>
          </a:p>
        </p:txBody>
      </p:sp>
      <p:sp>
        <p:nvSpPr>
          <p:cNvPr id="26" name="rect"/>
          <p:cNvSpPr txBox="0"/>
          <p:nvPr/>
        </p:nvSpPr>
        <p:spPr>
          <a:xfrm>
            <a:off x="8382000" y="4229100"/>
            <a:ext cx="3028950" cy="657225"/>
          </a:xfrm>
          <a:prstGeom prst="rect">
            <a:avLst/>
          </a:prstGeom>
          <a:solidFill>
            <a:srgbClr val="F4F4F4"/>
          </a:solidFill>
          <a:ln w="12700">
            <a:solidFill>
              <a:srgbClr val="999999"/>
            </a:solidFill>
          </a:ln>
        </p:spPr>
      </p:sp>
      <p:sp>
        <p:nvSpPr>
          <p:cNvPr id="27" name="Start / Prepare another"/>
          <p:cNvSpPr txBox="1"/>
          <p:nvPr/>
        </p:nvSpPr>
        <p:spPr>
          <a:xfrm>
            <a:off x="8496300" y="4391025"/>
            <a:ext cx="2800350" cy="430359"/>
          </a:xfrm>
          <a:prstGeom prst="rect">
            <a:avLst/>
          </a:prstGeom>
          <a:noFill/>
          <a:ln>
            <a:noFill/>
          </a:ln>
        </p:spPr>
        <p:txBody>
          <a:bodyPr wrap="square" lIns="0" rIns="0" tIns="0" bIns="0" anchor="t">
            <a:noAutofit/>
          </a:bodyPr>
          <a:lstStyle/>
          <a:p>
            <a:pPr>
              <a:lnSpc>
                <a:spcPct val="130000"/>
              </a:lnSpc>
            </a:pPr>
            <a:r>
              <a:rPr lang="en-US" sz="1725" b="0">
                <a:solidFill>
                  <a:srgbClr val="222222"/>
                </a:solidFill>
                <a:latin typeface="Arial"/>
              </a:rPr>
              <a:t xml:space="preserve">Start / Prepare another</a:t>
            </a:r>
            <a:endParaRPr lang="en-US"/>
          </a:p>
        </p:txBody>
      </p:sp>
      <p:sp>
        <p:nvSpPr>
          <p:cNvPr id="28" name="W05-W07 / F2. Preparation consumes no gameplay time."/>
          <p:cNvSpPr txBox="1"/>
          <p:nvPr/>
        </p:nvSpPr>
        <p:spPr>
          <a:xfrm>
            <a:off x="609600" y="5819775"/>
            <a:ext cx="10858500" cy="444970"/>
          </a:xfrm>
          <a:prstGeom prst="rect">
            <a:avLst/>
          </a:prstGeom>
          <a:noFill/>
          <a:ln>
            <a:noFill/>
          </a:ln>
        </p:spPr>
        <p:txBody>
          <a:bodyPr wrap="square" lIns="0" rIns="0" tIns="0" bIns="0" anchor="t">
            <a:noAutofit/>
          </a:bodyPr>
          <a:lstStyle/>
          <a:p>
            <a:pPr>
              <a:lnSpc>
                <a:spcPct val="130000"/>
              </a:lnSpc>
            </a:pPr>
            <a:r>
              <a:rPr lang="en-US" sz="1800" b="0">
                <a:solidFill>
                  <a:srgbClr val="526875"/>
                </a:solidFill>
                <a:latin typeface="Arial"/>
              </a:rPr>
              <a:t xml:space="preserve">W05-W07 / F2. Preparation consumes no gameplay time.</a:t>
            </a:r>
            <a:endParaRPr lang="en-US"/>
          </a:p>
        </p:txBody>
      </p:sp>
      <p:sp>
        <p:nvSpPr>
          <p:cNvPr id="29" name="Farshore / Phase 2 / 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4: Uncertainty and error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F4: Uncertainty and error recovery</a:t>
            </a:r>
            <a:endParaRPr lang="en-US"/>
          </a:p>
        </p:txBody>
      </p:sp>
      <p:sp>
        <p:nvSpPr>
          <p:cNvPr id="3" name="Rosa and Maya / no dead end and no invented confidenc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Rosa and Maya / no dead end and no invented confidence score</a:t>
            </a:r>
            <a:endParaRPr lang="en-US"/>
          </a:p>
        </p:txBody>
      </p:sp>
      <p:sp>
        <p:nvSpPr>
          <p:cNvPr id="4" name="Uncertain or unsupported"/>
          <p:cNvSpPr txBox="1"/>
          <p:nvPr/>
        </p:nvSpPr>
        <p:spPr>
          <a:xfrm>
            <a:off x="609600" y="1790700"/>
            <a:ext cx="5191125"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Uncertain or unsupported</a:t>
            </a:r>
            <a:endParaRPr lang="en-US"/>
          </a:p>
        </p:txBody>
      </p:sp>
      <p:sp>
        <p:nvSpPr>
          <p:cNvPr id="5" name="rect"/>
          <p:cNvSpPr txBox="0"/>
          <p:nvPr/>
        </p:nvSpPr>
        <p:spPr>
          <a:xfrm>
            <a:off x="609600" y="2381250"/>
            <a:ext cx="5095875" cy="2762250"/>
          </a:xfrm>
          <a:prstGeom prst="rect">
            <a:avLst/>
          </a:prstGeom>
          <a:solidFill>
            <a:srgbClr val="FFFFFF"/>
          </a:solidFill>
          <a:ln w="12700">
            <a:solidFill>
              <a:srgbClr val="777777"/>
            </a:solidFill>
          </a:ln>
        </p:spPr>
      </p:sp>
      <p:sp>
        <p:nvSpPr>
          <p:cNvPr id="6" name="rect"/>
          <p:cNvSpPr txBox="0"/>
          <p:nvPr/>
        </p:nvSpPr>
        <p:spPr>
          <a:xfrm>
            <a:off x="781050" y="2647950"/>
            <a:ext cx="4752975" cy="638175"/>
          </a:xfrm>
          <a:prstGeom prst="rect">
            <a:avLst/>
          </a:prstGeom>
          <a:solidFill>
            <a:srgbClr val="F4F4F4"/>
          </a:solidFill>
          <a:ln w="12700">
            <a:solidFill>
              <a:srgbClr val="999999"/>
            </a:solidFill>
          </a:ln>
        </p:spPr>
      </p:sp>
      <p:sp>
        <p:nvSpPr>
          <p:cNvPr id="7" name="Unsupported strategy"/>
          <p:cNvSpPr txBox="1"/>
          <p:nvPr/>
        </p:nvSpPr>
        <p:spPr>
          <a:xfrm>
            <a:off x="914400" y="280035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Unsupported strategy</a:t>
            </a:r>
            <a:endParaRPr lang="en-US"/>
          </a:p>
        </p:txBody>
      </p:sp>
      <p:sp>
        <p:nvSpPr>
          <p:cNvPr id="8" name="rect"/>
          <p:cNvSpPr txBox="0"/>
          <p:nvPr/>
        </p:nvSpPr>
        <p:spPr>
          <a:xfrm>
            <a:off x="781050" y="3429000"/>
            <a:ext cx="4752975" cy="638175"/>
          </a:xfrm>
          <a:prstGeom prst="rect">
            <a:avLst/>
          </a:prstGeom>
          <a:solidFill>
            <a:srgbClr val="F4F4F4"/>
          </a:solidFill>
          <a:ln w="12700">
            <a:solidFill>
              <a:srgbClr val="999999"/>
            </a:solidFill>
          </a:ln>
        </p:spPr>
      </p:sp>
      <p:sp>
        <p:nvSpPr>
          <p:cNvPr id="9" name="Nothing changed"/>
          <p:cNvSpPr txBox="1"/>
          <p:nvPr/>
        </p:nvSpPr>
        <p:spPr>
          <a:xfrm>
            <a:off x="914400" y="358140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Nothing changed</a:t>
            </a:r>
            <a:endParaRPr lang="en-US"/>
          </a:p>
        </p:txBody>
      </p:sp>
      <p:sp>
        <p:nvSpPr>
          <p:cNvPr id="10" name="rect"/>
          <p:cNvSpPr txBox="0"/>
          <p:nvPr/>
        </p:nvSpPr>
        <p:spPr>
          <a:xfrm>
            <a:off x="781050" y="4210050"/>
            <a:ext cx="4752975" cy="638175"/>
          </a:xfrm>
          <a:prstGeom prst="rect">
            <a:avLst/>
          </a:prstGeom>
          <a:solidFill>
            <a:srgbClr val="F4F4F4"/>
          </a:solidFill>
          <a:ln w="12700">
            <a:solidFill>
              <a:srgbClr val="999999"/>
            </a:solidFill>
          </a:ln>
        </p:spPr>
      </p:sp>
      <p:sp>
        <p:nvSpPr>
          <p:cNvPr id="11" name="Retry / local AI / Solo"/>
          <p:cNvSpPr txBox="1"/>
          <p:nvPr/>
        </p:nvSpPr>
        <p:spPr>
          <a:xfrm>
            <a:off x="914400" y="436245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Retry / local AI / Solo</a:t>
            </a:r>
            <a:endParaRPr lang="en-US"/>
          </a:p>
        </p:txBody>
      </p:sp>
      <p:sp>
        <p:nvSpPr>
          <p:cNvPr id="12" name="Service error"/>
          <p:cNvSpPr txBox="1"/>
          <p:nvPr/>
        </p:nvSpPr>
        <p:spPr>
          <a:xfrm>
            <a:off x="6276975" y="1790700"/>
            <a:ext cx="5191125" cy="532638"/>
          </a:xfrm>
          <a:prstGeom prst="rect">
            <a:avLst/>
          </a:prstGeom>
          <a:noFill/>
          <a:ln>
            <a:noFill/>
          </a:ln>
        </p:spPr>
        <p:txBody>
          <a:bodyPr wrap="square" lIns="0" rIns="0" tIns="0" bIns="0" anchor="t">
            <a:noAutofit/>
          </a:bodyPr>
          <a:lstStyle/>
          <a:p>
            <a:pPr>
              <a:lnSpc>
                <a:spcPct val="130000"/>
              </a:lnSpc>
            </a:pPr>
            <a:r>
              <a:rPr lang="en-US" sz="2250" b="1">
                <a:solidFill>
                  <a:srgbClr val="102E40"/>
                </a:solidFill>
                <a:latin typeface="Arial"/>
              </a:rPr>
              <a:t xml:space="preserve">Service error</a:t>
            </a:r>
            <a:endParaRPr lang="en-US"/>
          </a:p>
        </p:txBody>
      </p:sp>
      <p:sp>
        <p:nvSpPr>
          <p:cNvPr id="13" name="rect"/>
          <p:cNvSpPr txBox="0"/>
          <p:nvPr/>
        </p:nvSpPr>
        <p:spPr>
          <a:xfrm>
            <a:off x="6276975" y="2381250"/>
            <a:ext cx="5095875" cy="2762250"/>
          </a:xfrm>
          <a:prstGeom prst="rect">
            <a:avLst/>
          </a:prstGeom>
          <a:solidFill>
            <a:srgbClr val="FFFFFF"/>
          </a:solidFill>
          <a:ln w="12700">
            <a:solidFill>
              <a:srgbClr val="777777"/>
            </a:solidFill>
          </a:ln>
        </p:spPr>
      </p:sp>
      <p:sp>
        <p:nvSpPr>
          <p:cNvPr id="14" name="rect"/>
          <p:cNvSpPr txBox="0"/>
          <p:nvPr/>
        </p:nvSpPr>
        <p:spPr>
          <a:xfrm>
            <a:off x="6448425" y="2647950"/>
            <a:ext cx="4752975" cy="638175"/>
          </a:xfrm>
          <a:prstGeom prst="rect">
            <a:avLst/>
          </a:prstGeom>
          <a:solidFill>
            <a:srgbClr val="F4F4F4"/>
          </a:solidFill>
          <a:ln w="12700">
            <a:solidFill>
              <a:srgbClr val="999999"/>
            </a:solidFill>
          </a:ln>
        </p:spPr>
      </p:sp>
      <p:sp>
        <p:nvSpPr>
          <p:cNvPr id="15" name="Unavailable or timed out"/>
          <p:cNvSpPr txBox="1"/>
          <p:nvPr/>
        </p:nvSpPr>
        <p:spPr>
          <a:xfrm>
            <a:off x="6581775" y="280035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Unavailable or timed out</a:t>
            </a:r>
            <a:endParaRPr lang="en-US"/>
          </a:p>
        </p:txBody>
      </p:sp>
      <p:sp>
        <p:nvSpPr>
          <p:cNvPr id="16" name="rect"/>
          <p:cNvSpPr txBox="0"/>
          <p:nvPr/>
        </p:nvSpPr>
        <p:spPr>
          <a:xfrm>
            <a:off x="6448425" y="3429000"/>
            <a:ext cx="4752975" cy="638175"/>
          </a:xfrm>
          <a:prstGeom prst="rect">
            <a:avLst/>
          </a:prstGeom>
          <a:solidFill>
            <a:srgbClr val="F4F4F4"/>
          </a:solidFill>
          <a:ln w="12700">
            <a:solidFill>
              <a:srgbClr val="999999"/>
            </a:solidFill>
          </a:ln>
        </p:spPr>
      </p:sp>
      <p:sp>
        <p:nvSpPr>
          <p:cNvPr id="17" name="Your voyage is kept"/>
          <p:cNvSpPr txBox="1"/>
          <p:nvPr/>
        </p:nvSpPr>
        <p:spPr>
          <a:xfrm>
            <a:off x="6581775" y="358140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Your voyage is kept</a:t>
            </a:r>
            <a:endParaRPr lang="en-US"/>
          </a:p>
        </p:txBody>
      </p:sp>
      <p:sp>
        <p:nvSpPr>
          <p:cNvPr id="18" name="rect"/>
          <p:cNvSpPr txBox="0"/>
          <p:nvPr/>
        </p:nvSpPr>
        <p:spPr>
          <a:xfrm>
            <a:off x="6448425" y="4210050"/>
            <a:ext cx="4752975" cy="638175"/>
          </a:xfrm>
          <a:prstGeom prst="rect">
            <a:avLst/>
          </a:prstGeom>
          <a:solidFill>
            <a:srgbClr val="F4F4F4"/>
          </a:solidFill>
          <a:ln w="12700">
            <a:solidFill>
              <a:srgbClr val="999999"/>
            </a:solidFill>
          </a:ln>
        </p:spPr>
      </p:sp>
      <p:sp>
        <p:nvSpPr>
          <p:cNvPr id="19" name="Retry / check / local play"/>
          <p:cNvSpPr txBox="1"/>
          <p:nvPr/>
        </p:nvSpPr>
        <p:spPr>
          <a:xfrm>
            <a:off x="6581775" y="4362450"/>
            <a:ext cx="4495800" cy="459581"/>
          </a:xfrm>
          <a:prstGeom prst="rect">
            <a:avLst/>
          </a:prstGeom>
          <a:noFill/>
          <a:ln>
            <a:noFill/>
          </a:ln>
        </p:spPr>
        <p:txBody>
          <a:bodyPr wrap="square" lIns="0" rIns="0" tIns="0" bIns="0" anchor="t">
            <a:noAutofit/>
          </a:bodyPr>
          <a:lstStyle/>
          <a:p>
            <a:pPr>
              <a:lnSpc>
                <a:spcPct val="130000"/>
              </a:lnSpc>
            </a:pPr>
            <a:r>
              <a:rPr lang="en-US" sz="1875" b="0">
                <a:solidFill>
                  <a:srgbClr val="222222"/>
                </a:solidFill>
                <a:latin typeface="Arial"/>
              </a:rPr>
              <a:t xml:space="preserve">Retry / check / local play</a:t>
            </a:r>
            <a:endParaRPr lang="en-US"/>
          </a:p>
        </p:txBody>
      </p:sp>
      <p:sp>
        <p:nvSpPr>
          <p:cNvPr id="20" name="W08-W09 / F4. Invalid input is rejected before model co"/>
          <p:cNvSpPr txBox="1"/>
          <p:nvPr/>
        </p:nvSpPr>
        <p:spPr>
          <a:xfrm>
            <a:off x="609600" y="5819775"/>
            <a:ext cx="10858500" cy="444970"/>
          </a:xfrm>
          <a:prstGeom prst="rect">
            <a:avLst/>
          </a:prstGeom>
          <a:noFill/>
          <a:ln>
            <a:noFill/>
          </a:ln>
        </p:spPr>
        <p:txBody>
          <a:bodyPr wrap="square" lIns="0" rIns="0" tIns="0" bIns="0" anchor="t">
            <a:noAutofit/>
          </a:bodyPr>
          <a:lstStyle/>
          <a:p>
            <a:pPr>
              <a:lnSpc>
                <a:spcPct val="130000"/>
              </a:lnSpc>
            </a:pPr>
            <a:r>
              <a:rPr lang="en-US" sz="1800" b="0">
                <a:solidFill>
                  <a:srgbClr val="526875"/>
                </a:solidFill>
                <a:latin typeface="Arial"/>
              </a:rPr>
              <a:t xml:space="preserve">W08-W09 / F4. Invalid input is rejected before model contact.</a:t>
            </a:r>
            <a:endParaRPr lang="en-US"/>
          </a:p>
        </p:txBody>
      </p:sp>
      <p:sp>
        <p:nvSpPr>
          <p:cNvPr id="21" name="Farshore / Phase 2 / 9"/>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I technical spik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AI technical spike</a:t>
            </a:r>
            <a:endParaRPr lang="en-US"/>
          </a:p>
        </p:txBody>
      </p:sp>
      <p:sp>
        <p:nvSpPr>
          <p:cNvPr id="3" name="Six synthetic use-case inputs, real local Llama 3.2 3B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Six synthetic use-case inputs, real local Llama 3.2 3B calls</a:t>
            </a:r>
            <a:endParaRPr lang="en-US"/>
          </a:p>
        </p:txBody>
      </p:sp>
      <p:sp>
        <p:nvSpPr>
          <p:cNvPr id="4" name="Min 7.317s     Mean 8.279s     Max 11.613s"/>
          <p:cNvSpPr txBox="1"/>
          <p:nvPr/>
        </p:nvSpPr>
        <p:spPr>
          <a:xfrm>
            <a:off x="609600" y="1638300"/>
            <a:ext cx="10858500" cy="591083"/>
          </a:xfrm>
          <a:prstGeom prst="rect">
            <a:avLst/>
          </a:prstGeom>
          <a:noFill/>
          <a:ln>
            <a:noFill/>
          </a:ln>
        </p:spPr>
        <p:txBody>
          <a:bodyPr wrap="square" lIns="0" rIns="0" tIns="0" bIns="0" anchor="t">
            <a:noAutofit/>
          </a:bodyPr>
          <a:lstStyle/>
          <a:p>
            <a:pPr>
              <a:lnSpc>
                <a:spcPct val="130000"/>
              </a:lnSpc>
            </a:pPr>
            <a:r>
              <a:rPr lang="en-US" sz="2550" b="1">
                <a:solidFill>
                  <a:srgbClr val="126978"/>
                </a:solidFill>
                <a:latin typeface="Arial"/>
              </a:rPr>
              <a:t xml:space="preserve">Min 7.317s     Mean 8.279s     Max 11.613s</a:t>
            </a:r>
            <a:endParaRPr lang="en-US"/>
          </a:p>
        </p:txBody>
      </p:sp>
      <p:graphicFrame>
        <p:nvGraphicFramePr>
          <p:cNvPr id="5" name="Editable evidence table"/>
          <p:cNvGraphicFramePr/>
          <p:nvPr/>
        </p:nvGraphicFramePr>
        <p:xfrm>
          <a:off x="609600" y="2362200"/>
          <a:ext cx="10858500" cy="3400425"/>
        </p:xfrm>
        <a:graphic>
          <a:graphicData uri="http://schemas.openxmlformats.org/drawingml/2006/table">
            <a:tbl>
              <a:tblPr firstRow="1" bandRow="0"/>
              <a:tblGrid>
                <a:gridCol w="3143250"/>
                <a:gridCol w="1381125"/>
                <a:gridCol w="2476500"/>
                <a:gridCol w="3857625"/>
              </a:tblGrid>
              <a:tr h="485775">
                <a:tc>
                  <a:txBody>
                    <a:bodyPr lIns="114300" rIns="114300" tIns="76200" bIns="0"/>
                    <a:lstStyle/>
                    <a:p>
                      <a:pPr>
                        <a:lnSpc>
                          <a:spcPct val="130000"/>
                        </a:lnSpc>
                      </a:pPr>
                      <a:r>
                        <a:rPr lang="en-US" sz="1575" b="1">
                          <a:solidFill>
                            <a:srgbClr val="102E40"/>
                          </a:solidFill>
                          <a:latin typeface="Arial"/>
                        </a:rPr>
                        <a:t xml:space="preserve">Sample</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Seconds</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Selected plan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Review</a:t>
                      </a:r>
                      <a:endParaRPr lang="en-US"/>
                    </a:p>
                  </a:txBody>
                  <a:tcPr>
                    <a:solidFill>
                      <a:srgbClr val="DCE8EE"/>
                    </a:solidFill>
                  </a:tcPr>
                </a:tc>
              </a:tr>
              <a:tr h="485775">
                <a:tc>
                  <a:txBody>
                    <a:bodyPr lIns="114300" rIns="114300" tIns="76200" bIns="0"/>
                    <a:lstStyle/>
                    <a:p>
                      <a:pPr>
                        <a:lnSpc>
                          <a:spcPct val="130000"/>
                        </a:lnSpc>
                      </a:pPr>
                      <a:r>
                        <a:rPr lang="en-US" sz="1575" b="0">
                          <a:solidFill>
                            <a:srgbClr val="102E40"/>
                          </a:solidFill>
                          <a:latin typeface="Arial"/>
                        </a:rPr>
                        <a:t xml:space="preserve">S1 First-time Cyclops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11.613</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focused/center</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advisory mismatch</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S2 Circe after two losses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7.597</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chain/balanced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Matches loss preference</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S3 Sirens with red-lane misses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7.317</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echo/balanced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lane targeting is local</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S4 Strait after one hull loss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7.889</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pincer/balanced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advisory mismatch</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S5 Archery after low ring score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7.614</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feint/balanced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Legal block-shot policy</a:t>
                      </a:r>
                      <a:endParaRPr lang="en-US"/>
                    </a:p>
                  </a:txBody>
                  <a:tcPr>
                    <a:solidFill>
                      <a:srgbClr val="FFFFFF"/>
                    </a:solidFill>
                  </a:tcPr>
                </a:tc>
              </a:tr>
              <a:tr h="485775">
                <a:tc>
                  <a:txBody>
                    <a:bodyPr lIns="114300" rIns="114300" tIns="76200" bIns="0"/>
                    <a:lstStyle/>
                    <a:p>
                      <a:pPr>
                        <a:lnSpc>
                          <a:spcPct val="130000"/>
                        </a:lnSpc>
                      </a:pPr>
                      <a:r>
                        <a:rPr lang="en-US" sz="1575" b="0">
                          <a:solidFill>
                            <a:srgbClr val="102E40"/>
                          </a:solidFill>
                          <a:latin typeface="Arial"/>
                        </a:rPr>
                        <a:t xml:space="preserve">S6 Cyclops with left-side habit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7.641</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focused/left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Schema fixes left focus</a:t>
                      </a:r>
                      <a:endParaRPr lang="en-US"/>
                    </a:p>
                  </a:txBody>
                  <a:tcPr>
                    <a:solidFill>
                      <a:srgbClr val="FFFFFF"/>
                    </a:solidFill>
                  </a:tcPr>
                </a:tc>
              </a:tr>
            </a:tbl>
          </a:graphicData>
        </a:graphic>
      </p:graphicFrame>
      <p:sp>
        <p:nvSpPr>
          <p:cNvPr id="6" name="Six legal outputs from one sequential run. Tactical qua"/>
          <p:cNvSpPr txBox="1"/>
          <p:nvPr/>
        </p:nvSpPr>
        <p:spPr>
          <a:xfrm>
            <a:off x="609600" y="5953125"/>
            <a:ext cx="10858500" cy="415747"/>
          </a:xfrm>
          <a:prstGeom prst="rect">
            <a:avLst/>
          </a:prstGeom>
          <a:noFill/>
          <a:ln>
            <a:noFill/>
          </a:ln>
        </p:spPr>
        <p:txBody>
          <a:bodyPr wrap="square" lIns="0" rIns="0" tIns="0" bIns="0" anchor="t">
            <a:noAutofit/>
          </a:bodyPr>
          <a:lstStyle/>
          <a:p>
            <a:pPr>
              <a:lnSpc>
                <a:spcPct val="130000"/>
              </a:lnSpc>
            </a:pPr>
            <a:r>
              <a:rPr lang="en-US" sz="1650" b="0">
                <a:solidFill>
                  <a:srgbClr val="526875"/>
                </a:solidFill>
                <a:latin typeface="Arial"/>
              </a:rPr>
              <a:t xml:space="preserve">Six legal outputs from one sequential run. Tactical quality still needs evaluation.</a:t>
            </a:r>
            <a:endParaRPr lang="en-US"/>
          </a:p>
        </p:txBody>
      </p:sp>
      <p:sp>
        <p:nvSpPr>
          <p:cNvPr id="7" name="Farshore / Phase 2 / 10"/>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ailure evidence and design decision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Failure evidence and design decisions</a:t>
            </a:r>
            <a:endParaRPr lang="en-US"/>
          </a:p>
        </p:txBody>
      </p:sp>
      <p:sp>
        <p:nvSpPr>
          <p:cNvPr id="3" name="Observed HTTP responses and designed UI recovery"/>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Observed HTTP responses and designed UI recovery</a:t>
            </a:r>
            <a:endParaRPr lang="en-US"/>
          </a:p>
        </p:txBody>
      </p:sp>
      <p:graphicFrame>
        <p:nvGraphicFramePr>
          <p:cNvPr id="4" name="Editable evidence table"/>
          <p:cNvGraphicFramePr/>
          <p:nvPr/>
        </p:nvGraphicFramePr>
        <p:xfrm>
          <a:off x="609600" y="1714500"/>
          <a:ext cx="10953750" cy="2152650"/>
        </p:xfrm>
        <a:graphic>
          <a:graphicData uri="http://schemas.openxmlformats.org/drawingml/2006/table">
            <a:tbl>
              <a:tblPr firstRow="1" bandRow="0"/>
              <a:tblGrid>
                <a:gridCol w="3476625"/>
                <a:gridCol w="3619500"/>
                <a:gridCol w="3857625"/>
              </a:tblGrid>
              <a:tr h="538162">
                <a:tc>
                  <a:txBody>
                    <a:bodyPr lIns="114300" rIns="114300" tIns="76200" bIns="0"/>
                    <a:lstStyle/>
                    <a:p>
                      <a:pPr>
                        <a:lnSpc>
                          <a:spcPct val="130000"/>
                        </a:lnSpc>
                      </a:pPr>
                      <a:r>
                        <a:rPr lang="en-US" sz="1875" b="1">
                          <a:solidFill>
                            <a:srgbClr val="102E40"/>
                          </a:solidFill>
                          <a:latin typeface="Arial"/>
                        </a:rPr>
                        <a:t xml:space="preserve">Triggered condition</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Observed response</a:t>
                      </a:r>
                      <a:endParaRPr lang="en-US"/>
                    </a:p>
                  </a:txBody>
                  <a:tcPr>
                    <a:solidFill>
                      <a:srgbClr val="DCE8EE"/>
                    </a:solidFill>
                  </a:tcPr>
                </a:tc>
                <a:tc>
                  <a:txBody>
                    <a:bodyPr lIns="114300" rIns="114300" tIns="76200" bIns="0"/>
                    <a:lstStyle/>
                    <a:p>
                      <a:pPr>
                        <a:lnSpc>
                          <a:spcPct val="130000"/>
                        </a:lnSpc>
                      </a:pPr>
                      <a:r>
                        <a:rPr lang="en-US" sz="1875" b="1">
                          <a:solidFill>
                            <a:srgbClr val="102E40"/>
                          </a:solidFill>
                          <a:latin typeface="Arial"/>
                        </a:rPr>
                        <a:t xml:space="preserve">Designed recovery</a:t>
                      </a:r>
                      <a:endParaRPr lang="en-US"/>
                    </a:p>
                  </a:txBody>
                  <a:tcPr>
                    <a:solidFill>
                      <a:srgbClr val="DCE8EE"/>
                    </a:solidFill>
                  </a:tcPr>
                </a:tc>
              </a:tr>
              <a:tr h="538162">
                <a:tc>
                  <a:txBody>
                    <a:bodyPr lIns="114300" rIns="114300" tIns="76200" bIns="0"/>
                    <a:lstStyle/>
                    <a:p>
                      <a:pPr>
                        <a:lnSpc>
                          <a:spcPct val="130000"/>
                        </a:lnSpc>
                      </a:pPr>
                      <a:r>
                        <a:rPr lang="en-US" sz="1875" b="0">
                          <a:solidFill>
                            <a:srgbClr val="102E40"/>
                          </a:solidFill>
                          <a:latin typeface="Arial"/>
                        </a:rPr>
                        <a:t xml:space="preserve">Nonexistent provider model</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HTTP 404, model not found</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Check / retry / local play</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Malformed provider JSON</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HTTP 400, unexpected EOF</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Explain failure / retain selections</a:t>
                      </a:r>
                      <a:endParaRPr lang="en-US"/>
                    </a:p>
                  </a:txBody>
                  <a:tcPr>
                    <a:solidFill>
                      <a:srgbClr val="FFFFFF"/>
                    </a:solidFill>
                  </a:tcPr>
                </a:tc>
              </a:tr>
              <a:tr h="538162">
                <a:tc>
                  <a:txBody>
                    <a:bodyPr lIns="114300" rIns="114300" tIns="76200" bIns="0"/>
                    <a:lstStyle/>
                    <a:p>
                      <a:pPr>
                        <a:lnSpc>
                          <a:spcPct val="130000"/>
                        </a:lnSpc>
                      </a:pPr>
                      <a:r>
                        <a:rPr lang="en-US" sz="1875" b="0">
                          <a:solidFill>
                            <a:srgbClr val="102E40"/>
                          </a:solidFill>
                          <a:latin typeface="Arial"/>
                        </a:rPr>
                        <a:t xml:space="preserve">Unsupported difficulty</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App HTTP 400 before inference</a:t>
                      </a:r>
                      <a:endParaRPr lang="en-US"/>
                    </a:p>
                  </a:txBody>
                  <a:tcPr>
                    <a:solidFill>
                      <a:srgbClr val="FFFFFF"/>
                    </a:solidFill>
                  </a:tcPr>
                </a:tc>
                <a:tc>
                  <a:txBody>
                    <a:bodyPr lIns="114300" rIns="114300" tIns="76200" bIns="0"/>
                    <a:lstStyle/>
                    <a:p>
                      <a:pPr>
                        <a:lnSpc>
                          <a:spcPct val="130000"/>
                        </a:lnSpc>
                      </a:pPr>
                      <a:r>
                        <a:rPr lang="en-US" sz="1875" b="0">
                          <a:solidFill>
                            <a:srgbClr val="102E40"/>
                          </a:solidFill>
                          <a:latin typeface="Arial"/>
                        </a:rPr>
                        <a:t xml:space="preserve">Supported-choice guidance</a:t>
                      </a:r>
                      <a:endParaRPr lang="en-US"/>
                    </a:p>
                  </a:txBody>
                  <a:tcPr>
                    <a:solidFill>
                      <a:srgbClr val="FFFFFF"/>
                    </a:solidFill>
                  </a:tcPr>
                </a:tc>
              </a:tr>
            </a:tbl>
          </a:graphicData>
        </a:graphic>
      </p:graphicFrame>
      <p:sp>
        <p:nvSpPr>
          <p:cNvPr id="5" name="Wait design: elapsed time and Cancel. No round runs dur"/>
          <p:cNvSpPr txBox="1"/>
          <p:nvPr/>
        </p:nvSpPr>
        <p:spPr>
          <a:xfrm>
            <a:off x="609600" y="4429125"/>
            <a:ext cx="10858500"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Wait design: elapsed time and Cancel. No round runs during preparation.</a:t>
            </a:r>
            <a:endParaRPr lang="en-US"/>
          </a:p>
        </p:txBody>
      </p:sp>
      <p:sp>
        <p:nvSpPr>
          <p:cNvPr id="6" name="No live 429 or capacity benchmark. Local API calls had "/>
          <p:cNvSpPr txBox="1"/>
          <p:nvPr/>
        </p:nvSpPr>
        <p:spPr>
          <a:xfrm>
            <a:off x="609600" y="5238750"/>
            <a:ext cx="10858500" cy="795642"/>
          </a:xfrm>
          <a:prstGeom prst="rect">
            <a:avLst/>
          </a:prstGeom>
          <a:noFill/>
          <a:ln>
            <a:noFill/>
          </a:ln>
        </p:spPr>
        <p:txBody>
          <a:bodyPr wrap="square" lIns="0" rIns="0" tIns="0" bIns="0" anchor="t">
            <a:noAutofit/>
          </a:bodyPr>
          <a:lstStyle/>
          <a:p>
            <a:pPr>
              <a:lnSpc>
                <a:spcPct val="130000"/>
              </a:lnSpc>
            </a:pPr>
            <a:r>
              <a:rPr lang="en-US" sz="1800" b="0">
                <a:solidFill>
                  <a:srgbClr val="526875"/>
                </a:solidFill>
                <a:latin typeface="Arial"/>
              </a:rPr>
              <a:t xml:space="preserve">No live 429 or capacity benchmark. Local API calls had no billed fee.</a:t>
            </a:r>
            <a:endParaRPr lang="en-US"/>
          </a:p>
          <a:p>
            <a:pPr>
              <a:lnSpc>
                <a:spcPct val="130000"/>
              </a:lnSpc>
            </a:pPr>
            <a:r>
              <a:rPr lang="en-US" sz="1800" b="0">
                <a:solidFill>
                  <a:srgbClr val="526875"/>
                </a:solidFill>
                <a:latin typeface="Arial"/>
              </a:rPr>
              <a:t xml:space="preserve">Hardware, electricity and future hosting costs are unmeasured.</a:t>
            </a:r>
            <a:endParaRPr lang="en-US"/>
          </a:p>
        </p:txBody>
      </p:sp>
      <p:sp>
        <p:nvSpPr>
          <p:cNvPr id="7" name="Farshore / Phase 2 / 1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hase 2 design and next evaluatio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Phase 2 design and next evaluation</a:t>
            </a:r>
            <a:endParaRPr lang="en-US"/>
          </a:p>
        </p:txBody>
      </p:sp>
      <p:sp>
        <p:nvSpPr>
          <p:cNvPr id="3" name="Implemented behavior and proposed improvements"/>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Implemented behavior and proposed improvements</a:t>
            </a:r>
            <a:endParaRPr lang="en-US"/>
          </a:p>
        </p:txBody>
      </p:sp>
      <p:sp>
        <p:nvSpPr>
          <p:cNvPr id="4" name="Implemented"/>
          <p:cNvSpPr txBox="1"/>
          <p:nvPr/>
        </p:nvSpPr>
        <p:spPr>
          <a:xfrm>
            <a:off x="609600" y="1762125"/>
            <a:ext cx="5000625" cy="547249"/>
          </a:xfrm>
          <a:prstGeom prst="rect">
            <a:avLst/>
          </a:prstGeom>
          <a:noFill/>
          <a:ln>
            <a:noFill/>
          </a:ln>
        </p:spPr>
        <p:txBody>
          <a:bodyPr wrap="square" lIns="0" rIns="0" tIns="0" bIns="0" anchor="t">
            <a:noAutofit/>
          </a:bodyPr>
          <a:lstStyle/>
          <a:p>
            <a:pPr>
              <a:lnSpc>
                <a:spcPct val="130000"/>
              </a:lnSpc>
            </a:pPr>
            <a:r>
              <a:rPr lang="en-US" sz="2325" b="1">
                <a:solidFill>
                  <a:srgbClr val="102E40"/>
                </a:solidFill>
                <a:latin typeface="Arial"/>
              </a:rPr>
              <a:t xml:space="preserve">Implemented</a:t>
            </a:r>
            <a:endParaRPr lang="en-US"/>
          </a:p>
        </p:txBody>
      </p:sp>
      <p:sp>
        <p:nvSpPr>
          <p:cNvPr id="5" name="•"/>
          <p:cNvSpPr txBox="1"/>
          <p:nvPr/>
        </p:nvSpPr>
        <p:spPr>
          <a:xfrm>
            <a:off x="609600" y="2400300"/>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6" name="Five distinct playable trials"/>
          <p:cNvSpPr txBox="1"/>
          <p:nvPr/>
        </p:nvSpPr>
        <p:spPr>
          <a:xfrm>
            <a:off x="838200" y="2400300"/>
            <a:ext cx="4772025" cy="488804"/>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Five distinct playable trials</a:t>
            </a:r>
            <a:endParaRPr lang="en-US"/>
          </a:p>
        </p:txBody>
      </p:sp>
      <p:sp>
        <p:nvSpPr>
          <p:cNvPr id="7" name="•"/>
          <p:cNvSpPr txBox="1"/>
          <p:nvPr/>
        </p:nvSpPr>
        <p:spPr>
          <a:xfrm>
            <a:off x="609600" y="3029902"/>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8" name="Model review, cancellation and regeneration"/>
          <p:cNvSpPr txBox="1"/>
          <p:nvPr/>
        </p:nvSpPr>
        <p:spPr>
          <a:xfrm>
            <a:off x="838200" y="3029902"/>
            <a:ext cx="4772025" cy="883310"/>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Model review, cancellation and regeneration</a:t>
            </a:r>
            <a:endParaRPr lang="en-US"/>
          </a:p>
        </p:txBody>
      </p:sp>
      <p:sp>
        <p:nvSpPr>
          <p:cNvPr id="9" name="•"/>
          <p:cNvSpPr txBox="1"/>
          <p:nvPr/>
        </p:nvSpPr>
        <p:spPr>
          <a:xfrm>
            <a:off x="609600" y="3993832"/>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10" name="Local saves and warning, practice and assistance"/>
          <p:cNvSpPr txBox="1"/>
          <p:nvPr/>
        </p:nvSpPr>
        <p:spPr>
          <a:xfrm>
            <a:off x="838200" y="3993832"/>
            <a:ext cx="4772025" cy="883310"/>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Local saves and warning, practice and assistance</a:t>
            </a:r>
            <a:endParaRPr lang="en-US"/>
          </a:p>
        </p:txBody>
      </p:sp>
      <p:sp>
        <p:nvSpPr>
          <p:cNvPr id="11" name="Proposed or awaiting evidence"/>
          <p:cNvSpPr txBox="1"/>
          <p:nvPr/>
        </p:nvSpPr>
        <p:spPr>
          <a:xfrm>
            <a:off x="6667500" y="1762125"/>
            <a:ext cx="4857750" cy="547249"/>
          </a:xfrm>
          <a:prstGeom prst="rect">
            <a:avLst/>
          </a:prstGeom>
          <a:noFill/>
          <a:ln>
            <a:noFill/>
          </a:ln>
        </p:spPr>
        <p:txBody>
          <a:bodyPr wrap="square" lIns="0" rIns="0" tIns="0" bIns="0" anchor="t">
            <a:noAutofit/>
          </a:bodyPr>
          <a:lstStyle/>
          <a:p>
            <a:pPr>
              <a:lnSpc>
                <a:spcPct val="130000"/>
              </a:lnSpc>
            </a:pPr>
            <a:r>
              <a:rPr lang="en-US" sz="2325" b="1">
                <a:solidFill>
                  <a:srgbClr val="102E40"/>
                </a:solidFill>
                <a:latin typeface="Arial"/>
              </a:rPr>
              <a:t xml:space="preserve">Proposed or awaiting evidence</a:t>
            </a:r>
            <a:endParaRPr lang="en-US"/>
          </a:p>
        </p:txBody>
      </p:sp>
      <p:sp>
        <p:nvSpPr>
          <p:cNvPr id="12" name="•"/>
          <p:cNvSpPr txBox="1"/>
          <p:nvPr/>
        </p:nvSpPr>
        <p:spPr>
          <a:xfrm>
            <a:off x="6667500" y="2400300"/>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13" name="Explicit Discard and provider privacy detail"/>
          <p:cNvSpPr txBox="1"/>
          <p:nvPr/>
        </p:nvSpPr>
        <p:spPr>
          <a:xfrm>
            <a:off x="6896100" y="2400300"/>
            <a:ext cx="4629150" cy="883310"/>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Explicit Discard and provider privacy detail</a:t>
            </a:r>
            <a:endParaRPr lang="en-US"/>
          </a:p>
        </p:txBody>
      </p:sp>
      <p:sp>
        <p:nvSpPr>
          <p:cNvPr id="14" name="•"/>
          <p:cNvSpPr txBox="1"/>
          <p:nvPr/>
        </p:nvSpPr>
        <p:spPr>
          <a:xfrm>
            <a:off x="6667500" y="3364230"/>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15" name="Interview-backed persona validation"/>
          <p:cNvSpPr txBox="1"/>
          <p:nvPr/>
        </p:nvSpPr>
        <p:spPr>
          <a:xfrm>
            <a:off x="6896100" y="3364230"/>
            <a:ext cx="4629150" cy="488804"/>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Interview-backed persona validation</a:t>
            </a:r>
            <a:endParaRPr lang="en-US"/>
          </a:p>
        </p:txBody>
      </p:sp>
      <p:sp>
        <p:nvSpPr>
          <p:cNvPr id="16" name="•"/>
          <p:cNvSpPr txBox="1"/>
          <p:nvPr/>
        </p:nvSpPr>
        <p:spPr>
          <a:xfrm>
            <a:off x="6667500" y="3993832"/>
            <a:ext cx="171450" cy="488804"/>
          </a:xfrm>
          <a:prstGeom prst="rect">
            <a:avLst/>
          </a:prstGeom>
          <a:noFill/>
          <a:ln>
            <a:noFill/>
          </a:ln>
        </p:spPr>
        <p:txBody>
          <a:bodyPr wrap="square" lIns="0" rIns="0" tIns="0" bIns="0" anchor="t">
            <a:noAutofit/>
          </a:bodyPr>
          <a:lstStyle/>
          <a:p>
            <a:pPr>
              <a:lnSpc>
                <a:spcPct val="130000"/>
              </a:lnSpc>
            </a:pPr>
            <a:r>
              <a:rPr lang="en-US" sz="2025" b="0">
                <a:solidFill>
                  <a:srgbClr val="126978"/>
                </a:solidFill>
                <a:latin typeface="Arial"/>
              </a:rPr>
              <a:t xml:space="preserve">•</a:t>
            </a:r>
            <a:endParaRPr lang="en-US"/>
          </a:p>
        </p:txBody>
      </p:sp>
      <p:sp>
        <p:nvSpPr>
          <p:cNvPr id="17" name="Actual peer critique and fairness playtests"/>
          <p:cNvSpPr txBox="1"/>
          <p:nvPr/>
        </p:nvSpPr>
        <p:spPr>
          <a:xfrm>
            <a:off x="6896100" y="3993832"/>
            <a:ext cx="4629150" cy="883310"/>
          </a:xfrm>
          <a:prstGeom prst="rect">
            <a:avLst/>
          </a:prstGeom>
          <a:noFill/>
          <a:ln>
            <a:noFill/>
          </a:ln>
        </p:spPr>
        <p:txBody>
          <a:bodyPr wrap="square" lIns="0" rIns="0" tIns="0" bIns="0" anchor="t">
            <a:noAutofit/>
          </a:bodyPr>
          <a:lstStyle/>
          <a:p>
            <a:pPr>
              <a:lnSpc>
                <a:spcPct val="130000"/>
              </a:lnSpc>
            </a:pPr>
            <a:r>
              <a:rPr lang="en-US" sz="2025" b="0">
                <a:solidFill>
                  <a:srgbClr val="102E40"/>
                </a:solidFill>
                <a:latin typeface="Arial"/>
              </a:rPr>
              <a:t xml:space="preserve">Actual peer critique and fairness playtests</a:t>
            </a:r>
            <a:endParaRPr lang="en-US"/>
          </a:p>
        </p:txBody>
      </p:sp>
      <p:sp>
        <p:nvSpPr>
          <p:cNvPr id="18" name="Review appendix: all 15 screens, 5 flows, 28 wireframes"/>
          <p:cNvSpPr txBox="1"/>
          <p:nvPr/>
        </p:nvSpPr>
        <p:spPr>
          <a:xfrm>
            <a:off x="609600" y="5734050"/>
            <a:ext cx="10858500" cy="444970"/>
          </a:xfrm>
          <a:prstGeom prst="rect">
            <a:avLst/>
          </a:prstGeom>
          <a:noFill/>
          <a:ln>
            <a:noFill/>
          </a:ln>
        </p:spPr>
        <p:txBody>
          <a:bodyPr wrap="square" lIns="0" rIns="0" tIns="0" bIns="0" anchor="t">
            <a:noAutofit/>
          </a:bodyPr>
          <a:lstStyle/>
          <a:p>
            <a:pPr>
              <a:lnSpc>
                <a:spcPct val="130000"/>
              </a:lnSpc>
            </a:pPr>
            <a:r>
              <a:rPr lang="en-US" sz="1800" b="0">
                <a:solidFill>
                  <a:srgbClr val="126978"/>
                </a:solidFill>
                <a:latin typeface="Arial"/>
              </a:rPr>
              <a:t xml:space="preserve">Review appendix: all 15 screens, 5 flows, 28 wireframes and exact failure bodies.</a:t>
            </a:r>
            <a:endParaRPr lang="en-US"/>
          </a:p>
        </p:txBody>
      </p:sp>
      <p:sp>
        <p:nvSpPr>
          <p:cNvPr id="19" name="Farshore / Phase 2 / 1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ntent strateg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Content strategy</a:t>
            </a:r>
            <a:endParaRPr lang="en-US"/>
          </a:p>
        </p:txBody>
      </p:sp>
      <p:sp>
        <p:nvSpPr>
          <p:cNvPr id="3" name="Review appendix / screens S01-S05"/>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screens S01-S05</a:t>
            </a:r>
            <a:endParaRPr lang="en-US"/>
          </a:p>
        </p:txBody>
      </p:sp>
      <p:graphicFrame>
        <p:nvGraphicFramePr>
          <p:cNvPr id="4" name="Editable evidence table"/>
          <p:cNvGraphicFramePr/>
          <p:nvPr/>
        </p:nvGraphicFramePr>
        <p:xfrm>
          <a:off x="609600" y="1571625"/>
          <a:ext cx="10858500" cy="4231958"/>
        </p:xfrm>
        <a:graphic>
          <a:graphicData uri="http://schemas.openxmlformats.org/drawingml/2006/table">
            <a:tbl>
              <a:tblPr firstRow="1" bandRow="0"/>
              <a:tblGrid>
                <a:gridCol w="2524125"/>
                <a:gridCol w="4191000"/>
                <a:gridCol w="4143375"/>
              </a:tblGrid>
              <a:tr h="488632">
                <a:tc>
                  <a:txBody>
                    <a:bodyPr lIns="114300" rIns="114300" tIns="76200" bIns="0"/>
                    <a:lstStyle/>
                    <a:p>
                      <a:pPr>
                        <a:lnSpc>
                          <a:spcPct val="130000"/>
                        </a:lnSpc>
                      </a:pPr>
                      <a:r>
                        <a:rPr lang="en-US" sz="1575" b="1">
                          <a:solidFill>
                            <a:srgbClr val="102E40"/>
                          </a:solidFill>
                          <a:latin typeface="Arial"/>
                        </a:rPr>
                        <a:t xml:space="preserve">Screen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Displayed information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Model and storage</a:t>
                      </a:r>
                      <a:endParaRPr lang="en-US"/>
                    </a:p>
                  </a:txBody>
                  <a:tcPr>
                    <a:solidFill>
                      <a:srgbClr val="DCE8EE"/>
                    </a:solidFill>
                  </a:tcPr>
                </a:tc>
              </a:tr>
              <a:tr h="748665">
                <a:tc>
                  <a:txBody>
                    <a:bodyPr lIns="114300" rIns="114300" tIns="76200" bIns="0"/>
                    <a:lstStyle/>
                    <a:p>
                      <a:pPr>
                        <a:lnSpc>
                          <a:spcPct val="130000"/>
                        </a:lnSpc>
                      </a:pPr>
                      <a:r>
                        <a:rPr lang="en-US" sz="1575" b="0">
                          <a:solidFill>
                            <a:srgbClr val="102E40"/>
                          </a:solidFill>
                          <a:latin typeface="Arial"/>
                        </a:rPr>
                        <a:t xml:space="preserve">S01 Title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Begin/resume, five-trial premise, progress count and Settings.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No model call. Read browser-local save.</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S02 Introduction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Odysseus and the voyage, next/skip.</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Authored story. Skip preserves the new voyage.</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S03 Voyage map</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Five shores, cleared/assisted/pending states, locked stops, continue.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No model call. Every earlier shore must be passed.</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S04 Encounter briefing [A1]</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Rival, myth context, objective, controls, difficulty, mode, practice and preparation.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Only pretrained-model integration point: A1 optional rival planning.</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S05 Cyclops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Grid, sheep, rocks, exits, noise and fixed smash warning, move controls.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Local opponent engine. One evade per warning.</a:t>
                      </a:r>
                      <a:endParaRPr lang="en-US"/>
                    </a:p>
                  </a:txBody>
                  <a:tcPr>
                    <a:solidFill>
                      <a:srgbClr val="FFFFFF"/>
                    </a:solidFill>
                  </a:tcPr>
                </a:tc>
              </a:tr>
            </a:tbl>
          </a:graphicData>
        </a:graphic>
      </p:graphicFrame>
      <p:sp>
        <p:nvSpPr>
          <p:cNvPr id="5" name="Farshore / Phase 2 / 1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ntent strateg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Content strategy</a:t>
            </a:r>
            <a:endParaRPr lang="en-US"/>
          </a:p>
        </p:txBody>
      </p:sp>
      <p:sp>
        <p:nvSpPr>
          <p:cNvPr id="3" name="Review appendix / screens S06-S10"/>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screens S06-S10</a:t>
            </a:r>
            <a:endParaRPr lang="en-US"/>
          </a:p>
        </p:txBody>
      </p:sp>
      <p:graphicFrame>
        <p:nvGraphicFramePr>
          <p:cNvPr id="4" name="Editable evidence table"/>
          <p:cNvGraphicFramePr/>
          <p:nvPr/>
        </p:nvGraphicFramePr>
        <p:xfrm>
          <a:off x="609600" y="1571625"/>
          <a:ext cx="10858500" cy="4231958"/>
        </p:xfrm>
        <a:graphic>
          <a:graphicData uri="http://schemas.openxmlformats.org/drawingml/2006/table">
            <a:tbl>
              <a:tblPr firstRow="1" bandRow="0"/>
              <a:tblGrid>
                <a:gridCol w="2524125"/>
                <a:gridCol w="4191000"/>
                <a:gridCol w="4143375"/>
              </a:tblGrid>
              <a:tr h="488632">
                <a:tc>
                  <a:txBody>
                    <a:bodyPr lIns="114300" rIns="114300" tIns="76200" bIns="0"/>
                    <a:lstStyle/>
                    <a:p>
                      <a:pPr>
                        <a:lnSpc>
                          <a:spcPct val="130000"/>
                        </a:lnSpc>
                      </a:pPr>
                      <a:r>
                        <a:rPr lang="en-US" sz="1575" b="1">
                          <a:solidFill>
                            <a:srgbClr val="102E40"/>
                          </a:solidFill>
                          <a:latin typeface="Arial"/>
                        </a:rPr>
                        <a:t xml:space="preserve">Screen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Displayed information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Model and storage</a:t>
                      </a:r>
                      <a:endParaRPr lang="en-US"/>
                    </a:p>
                  </a:txBody>
                  <a:tcPr>
                    <a:solidFill>
                      <a:srgbClr val="DCE8EE"/>
                    </a:solidFill>
                  </a:tcPr>
                </a:tc>
              </a:tr>
              <a:tr h="748665">
                <a:tc>
                  <a:txBody>
                    <a:bodyPr lIns="114300" rIns="114300" tIns="76200" bIns="0"/>
                    <a:lstStyle/>
                    <a:p>
                      <a:pPr>
                        <a:lnSpc>
                          <a:spcPct val="130000"/>
                        </a:lnSpc>
                      </a:pPr>
                      <a:r>
                        <a:rPr lang="en-US" sz="1575" b="0">
                          <a:solidFill>
                            <a:srgbClr val="102E40"/>
                          </a:solidFill>
                          <a:latin typeface="Arial"/>
                        </a:rPr>
                        <a:t xml:space="preserve">S06 Circe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Two puzzle boards, both next pieces, curses and scores, rotate/drop.</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Circe plays independently. No model request during a round.</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S07 Sirens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Four numbered/color lanes, Listen/Reply, sequence, Temptation.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Local melody logic targets missed lanes. Optional distinct sound.</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S08 Strait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Shield, six heads, warning paths, rowing control, vortex, hull and time.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Local coordinated attacks. Hold/release input is explicit.</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S09 Archery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12 rings, wind, path preview, three controls, turn and both scores.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Player and rival use the same shot physics. Rival turn disables shooting.</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S10 Round result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Clear/loss/practice, score, opponent score where relevant, retry and next.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Completed non-practice rounds update attempts. Failed replays retain past clears.</a:t>
                      </a:r>
                      <a:endParaRPr lang="en-US"/>
                    </a:p>
                  </a:txBody>
                  <a:tcPr>
                    <a:solidFill>
                      <a:srgbClr val="FFFFFF"/>
                    </a:solidFill>
                  </a:tcPr>
                </a:tc>
              </a:tr>
            </a:tbl>
          </a:graphicData>
        </a:graphic>
      </p:graphicFrame>
      <p:sp>
        <p:nvSpPr>
          <p:cNvPr id="5" name="Farshore / Phase 2 / 1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ntent strateg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Content strategy</a:t>
            </a:r>
            <a:endParaRPr lang="en-US"/>
          </a:p>
        </p:txBody>
      </p:sp>
      <p:sp>
        <p:nvSpPr>
          <p:cNvPr id="3" name="Review appendix / screens S11-S15"/>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screens S11-S15</a:t>
            </a:r>
            <a:endParaRPr lang="en-US"/>
          </a:p>
        </p:txBody>
      </p:sp>
      <p:graphicFrame>
        <p:nvGraphicFramePr>
          <p:cNvPr id="4" name="Editable evidence table"/>
          <p:cNvGraphicFramePr/>
          <p:nvPr/>
        </p:nvGraphicFramePr>
        <p:xfrm>
          <a:off x="609600" y="1571625"/>
          <a:ext cx="10858500" cy="4231958"/>
        </p:xfrm>
        <a:graphic>
          <a:graphicData uri="http://schemas.openxmlformats.org/drawingml/2006/table">
            <a:tbl>
              <a:tblPr firstRow="1" bandRow="0"/>
              <a:tblGrid>
                <a:gridCol w="2524125"/>
                <a:gridCol w="4191000"/>
                <a:gridCol w="4143375"/>
              </a:tblGrid>
              <a:tr h="488632">
                <a:tc>
                  <a:txBody>
                    <a:bodyPr lIns="114300" rIns="114300" tIns="76200" bIns="0"/>
                    <a:lstStyle/>
                    <a:p>
                      <a:pPr>
                        <a:lnSpc>
                          <a:spcPct val="130000"/>
                        </a:lnSpc>
                      </a:pPr>
                      <a:r>
                        <a:rPr lang="en-US" sz="1575" b="1">
                          <a:solidFill>
                            <a:srgbClr val="102E40"/>
                          </a:solidFill>
                          <a:latin typeface="Arial"/>
                        </a:rPr>
                        <a:t xml:space="preserve">Screen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Displayed information</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Model and storage</a:t>
                      </a:r>
                      <a:endParaRPr lang="en-US"/>
                    </a:p>
                  </a:txBody>
                  <a:tcPr>
                    <a:solidFill>
                      <a:srgbClr val="DCE8EE"/>
                    </a:solidFill>
                  </a:tcPr>
                </a:tc>
              </a:tr>
              <a:tr h="748665">
                <a:tc>
                  <a:txBody>
                    <a:bodyPr lIns="114300" rIns="114300" tIns="76200" bIns="0"/>
                    <a:lstStyle/>
                    <a:p>
                      <a:pPr>
                        <a:lnSpc>
                          <a:spcPct val="130000"/>
                        </a:lnSpc>
                      </a:pPr>
                      <a:r>
                        <a:rPr lang="en-US" sz="1575" b="0">
                          <a:solidFill>
                            <a:srgbClr val="102E40"/>
                          </a:solidFill>
                          <a:latin typeface="Arial"/>
                        </a:rPr>
                        <a:t xml:space="preserve">S11 Homecoming</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Family, report of each clear or assisted passage, replay and restart.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No generated ending. Honest saved progress report.</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S12 Settings overlay</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Sound, still scenery, model connection check, earlier modes.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GET checks availability, not a generated rival strategy.</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S13 Pause / leave overlay</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Resume, leave warning and return to briefing.</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Pause simulation and release held controls. Abandoned round gives no clear.</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S14 New voyage confirmation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Explain replacement of current progress, keep or restart.</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Replace save only after explicit confirmation.</a:t>
                      </a:r>
                      <a:endParaRPr lang="en-US"/>
                    </a:p>
                  </a:txBody>
                  <a:tcPr>
                    <a:solidFill>
                      <a:srgbClr val="FFFFFF"/>
                    </a:solidFill>
                  </a:tcPr>
                </a:tc>
              </a:tr>
              <a:tr h="748665">
                <a:tc>
                  <a:txBody>
                    <a:bodyPr lIns="114300" rIns="114300" tIns="76200" bIns="0"/>
                    <a:lstStyle/>
                    <a:p>
                      <a:pPr>
                        <a:lnSpc>
                          <a:spcPct val="130000"/>
                        </a:lnSpc>
                      </a:pPr>
                      <a:r>
                        <a:rPr lang="en-US" sz="1575" b="0">
                          <a:solidFill>
                            <a:srgbClr val="102E40"/>
                          </a:solidFill>
                          <a:latin typeface="Arial"/>
                        </a:rPr>
                        <a:t xml:space="preserve">S15 Assisted passage confirmation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Explain Assisted report label, keep trying or continue with help.</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Authored progression choice. Replay can later earn a clear.</a:t>
                      </a:r>
                      <a:endParaRPr lang="en-US"/>
                    </a:p>
                  </a:txBody>
                  <a:tcPr>
                    <a:solidFill>
                      <a:srgbClr val="FFFFFF"/>
                    </a:solidFill>
                  </a:tcPr>
                </a:tc>
              </a:tr>
            </a:tbl>
          </a:graphicData>
        </a:graphic>
      </p:graphicFrame>
      <p:sp>
        <p:nvSpPr>
          <p:cNvPr id="5" name="Farshore / Phase 2 / 1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1 model contract"/>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A1 model contract</a:t>
            </a:r>
            <a:endParaRPr lang="en-US"/>
          </a:p>
        </p:txBody>
      </p:sp>
      <p:sp>
        <p:nvSpPr>
          <p:cNvPr id="3" name="Review appendix / optional planning before a match"/>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optional planning before a match</a:t>
            </a:r>
            <a:endParaRPr lang="en-US"/>
          </a:p>
        </p:txBody>
      </p:sp>
      <p:sp>
        <p:nvSpPr>
          <p:cNvPr id="4" name="Input"/>
          <p:cNvSpPr txBox="1"/>
          <p:nvPr/>
        </p:nvSpPr>
        <p:spPr>
          <a:xfrm>
            <a:off x="609600" y="1619250"/>
            <a:ext cx="2190750" cy="459581"/>
          </a:xfrm>
          <a:prstGeom prst="rect">
            <a:avLst/>
          </a:prstGeom>
          <a:noFill/>
          <a:ln>
            <a:noFill/>
          </a:ln>
        </p:spPr>
        <p:txBody>
          <a:bodyPr wrap="square" lIns="0" rIns="0" tIns="0" bIns="0" anchor="t">
            <a:noAutofit/>
          </a:bodyPr>
          <a:lstStyle/>
          <a:p>
            <a:pPr>
              <a:lnSpc>
                <a:spcPct val="130000"/>
              </a:lnSpc>
            </a:pPr>
            <a:r>
              <a:rPr lang="en-US" sz="1875" b="1">
                <a:solidFill>
                  <a:srgbClr val="102E40"/>
                </a:solidFill>
                <a:latin typeface="Arial"/>
              </a:rPr>
              <a:t xml:space="preserve">Input</a:t>
            </a:r>
            <a:endParaRPr lang="en-US"/>
          </a:p>
        </p:txBody>
      </p:sp>
      <p:sp>
        <p:nvSpPr>
          <p:cNvPr id="5" name="The browser sends a shore, difficulty and up to two num"/>
          <p:cNvSpPr txBox="1"/>
          <p:nvPr/>
        </p:nvSpPr>
        <p:spPr>
          <a:xfrm>
            <a:off x="3143250" y="1681162"/>
            <a:ext cx="8286750"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The browser sends a shore, difficulty and up to two numeric attempts. The server sends derived habits, required focus and win count to Llama.</a:t>
            </a:r>
            <a:endParaRPr lang="en-US"/>
          </a:p>
        </p:txBody>
      </p:sp>
      <p:sp>
        <p:nvSpPr>
          <p:cNvPr id="6" name="Output"/>
          <p:cNvSpPr txBox="1"/>
          <p:nvPr/>
        </p:nvSpPr>
        <p:spPr>
          <a:xfrm>
            <a:off x="609600" y="2532698"/>
            <a:ext cx="2190750" cy="459581"/>
          </a:xfrm>
          <a:prstGeom prst="rect">
            <a:avLst/>
          </a:prstGeom>
          <a:noFill/>
          <a:ln>
            <a:noFill/>
          </a:ln>
        </p:spPr>
        <p:txBody>
          <a:bodyPr wrap="square" lIns="0" rIns="0" tIns="0" bIns="0" anchor="t">
            <a:noAutofit/>
          </a:bodyPr>
          <a:lstStyle/>
          <a:p>
            <a:pPr>
              <a:lnSpc>
                <a:spcPct val="130000"/>
              </a:lnSpc>
            </a:pPr>
            <a:r>
              <a:rPr lang="en-US" sz="1875" b="1">
                <a:solidFill>
                  <a:srgbClr val="102E40"/>
                </a:solidFill>
                <a:latin typeface="Arial"/>
              </a:rPr>
              <a:t xml:space="preserve">Output</a:t>
            </a:r>
            <a:endParaRPr lang="en-US"/>
          </a:p>
        </p:txBody>
      </p:sp>
      <p:sp>
        <p:nvSpPr>
          <p:cNvPr id="7" name="Llama chooses one of two strategy IDs. The game fixes t"/>
          <p:cNvSpPr txBox="1"/>
          <p:nvPr/>
        </p:nvSpPr>
        <p:spPr>
          <a:xfrm>
            <a:off x="3143250" y="2594610"/>
            <a:ext cx="8286750"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Llama chooses one of two strategy IDs. The game fixes the required focus. Strict validation produces an authored description for review.</a:t>
            </a:r>
            <a:endParaRPr lang="en-US"/>
          </a:p>
        </p:txBody>
      </p:sp>
      <p:sp>
        <p:nvSpPr>
          <p:cNvPr id="8" name="Timing and provider"/>
          <p:cNvSpPr txBox="1"/>
          <p:nvPr/>
        </p:nvSpPr>
        <p:spPr>
          <a:xfrm>
            <a:off x="609600" y="3446145"/>
            <a:ext cx="2190750" cy="824865"/>
          </a:xfrm>
          <a:prstGeom prst="rect">
            <a:avLst/>
          </a:prstGeom>
          <a:noFill/>
          <a:ln>
            <a:noFill/>
          </a:ln>
        </p:spPr>
        <p:txBody>
          <a:bodyPr wrap="square" lIns="0" rIns="0" tIns="0" bIns="0" anchor="t">
            <a:noAutofit/>
          </a:bodyPr>
          <a:lstStyle/>
          <a:p>
            <a:pPr>
              <a:lnSpc>
                <a:spcPct val="130000"/>
              </a:lnSpc>
            </a:pPr>
            <a:r>
              <a:rPr lang="en-US" sz="1875" b="1">
                <a:solidFill>
                  <a:srgbClr val="102E40"/>
                </a:solidFill>
                <a:latin typeface="Arial"/>
              </a:rPr>
              <a:t xml:space="preserve">Timing and provider</a:t>
            </a:r>
            <a:endParaRPr lang="en-US"/>
          </a:p>
        </p:txBody>
      </p:sp>
      <p:sp>
        <p:nvSpPr>
          <p:cNvPr id="9" name="Six-call range: 7.317-11.613 s, mean 8.279 s. Local loo"/>
          <p:cNvSpPr txBox="1"/>
          <p:nvPr/>
        </p:nvSpPr>
        <p:spPr>
          <a:xfrm>
            <a:off x="3143250" y="3817620"/>
            <a:ext cx="8286750"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Six-call range: 7.317-11.613 s, mean 8.279 s. Local loopback Ollama. Server timeout 90 s, browser limit 95 s. No gameplay clock runs.</a:t>
            </a:r>
            <a:endParaRPr lang="en-US"/>
          </a:p>
        </p:txBody>
      </p:sp>
      <p:sp>
        <p:nvSpPr>
          <p:cNvPr id="10" name="Current data limit"/>
          <p:cNvSpPr txBox="1"/>
          <p:nvPr/>
        </p:nvSpPr>
        <p:spPr>
          <a:xfrm>
            <a:off x="609600" y="4669155"/>
            <a:ext cx="2190750" cy="459581"/>
          </a:xfrm>
          <a:prstGeom prst="rect">
            <a:avLst/>
          </a:prstGeom>
          <a:noFill/>
          <a:ln>
            <a:noFill/>
          </a:ln>
        </p:spPr>
        <p:txBody>
          <a:bodyPr wrap="square" lIns="0" rIns="0" tIns="0" bIns="0" anchor="t">
            <a:noAutofit/>
          </a:bodyPr>
          <a:lstStyle/>
          <a:p>
            <a:pPr>
              <a:lnSpc>
                <a:spcPct val="130000"/>
              </a:lnSpc>
            </a:pPr>
            <a:r>
              <a:rPr lang="en-US" sz="1875" b="1">
                <a:solidFill>
                  <a:srgbClr val="102E40"/>
                </a:solidFill>
                <a:latin typeface="Arial"/>
              </a:rPr>
              <a:t xml:space="preserve">Current data limit</a:t>
            </a:r>
            <a:endParaRPr lang="en-US"/>
          </a:p>
        </p:txBody>
      </p:sp>
      <p:sp>
        <p:nvSpPr>
          <p:cNvPr id="11" name="New games save zero for legacy early/late and lane dura"/>
          <p:cNvSpPr txBox="1"/>
          <p:nvPr/>
        </p:nvSpPr>
        <p:spPr>
          <a:xfrm>
            <a:off x="3143250" y="4731067"/>
            <a:ext cx="8286750" cy="795642"/>
          </a:xfrm>
          <a:prstGeom prst="rect">
            <a:avLst/>
          </a:prstGeom>
          <a:noFill/>
          <a:ln>
            <a:noFill/>
          </a:ln>
        </p:spPr>
        <p:txBody>
          <a:bodyPr wrap="square" lIns="0" rIns="0" tIns="0" bIns="0" anchor="t">
            <a:noAutofit/>
          </a:bodyPr>
          <a:lstStyle/>
          <a:p>
            <a:pPr>
              <a:lnSpc>
                <a:spcPct val="130000"/>
              </a:lnSpc>
            </a:pPr>
            <a:r>
              <a:rPr lang="en-US" sz="1800" b="0">
                <a:solidFill>
                  <a:srgbClr val="102E40"/>
                </a:solidFill>
                <a:latin typeface="Arial"/>
              </a:rPr>
              <a:t xml:space="preserve">New games save zero for legacy early/late and lane durations. S6 injects left-lane history. Siren targeting uses current-round misses.</a:t>
            </a:r>
            <a:endParaRPr lang="en-US"/>
          </a:p>
        </p:txBody>
      </p:sp>
      <p:sp>
        <p:nvSpPr>
          <p:cNvPr id="12" name="Farshore / Phase 2 / 1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1: Start, resume and practic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F1: Start, resume and practice</a:t>
            </a:r>
            <a:endParaRPr lang="en-US"/>
          </a:p>
        </p:txBody>
      </p:sp>
      <p:sp>
        <p:nvSpPr>
          <p:cNvPr id="3" name="P2 Daniel / review appendix"/>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P2 Daniel / review appendix</a:t>
            </a:r>
            <a:endParaRPr lang="en-US"/>
          </a:p>
        </p:txBody>
      </p:sp>
      <p:sp>
        <p:nvSpPr>
          <p:cNvPr id="4" name="rect"/>
          <p:cNvSpPr txBox="0"/>
          <p:nvPr/>
        </p:nvSpPr>
        <p:spPr>
          <a:xfrm>
            <a:off x="609600" y="1571625"/>
            <a:ext cx="6191250" cy="524828"/>
          </a:xfrm>
          <a:prstGeom prst="rect">
            <a:avLst/>
          </a:prstGeom>
          <a:solidFill>
            <a:srgbClr val="F7FAFB"/>
          </a:solidFill>
          <a:ln w="12700">
            <a:solidFill>
              <a:srgbClr val="79909B"/>
            </a:solidFill>
          </a:ln>
        </p:spPr>
      </p:sp>
      <p:sp>
        <p:nvSpPr>
          <p:cNvPr id="5" name="1. Open title and choose Begin / Continue"/>
          <p:cNvSpPr txBox="1"/>
          <p:nvPr/>
        </p:nvSpPr>
        <p:spPr>
          <a:xfrm>
            <a:off x="762000" y="166687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1. Open title and choose Begin / Continue</a:t>
            </a:r>
            <a:endParaRPr lang="en-US"/>
          </a:p>
        </p:txBody>
      </p:sp>
      <p:cxnSp>
        <p:nvCxnSpPr>
          <p:cNvPr id="6" name="Connector 6"/>
          <p:cNvCxnSpPr/>
          <p:nvPr/>
        </p:nvCxnSpPr>
        <p:spPr>
          <a:xfrm>
            <a:off x="3705225" y="2096452"/>
            <a:ext cx="0" cy="165735"/>
          </a:xfrm>
          <a:prstGeom prst="line">
            <a:avLst/>
          </a:prstGeom>
          <a:ln w="19050">
            <a:solidFill>
              <a:srgbClr val="526875"/>
            </a:solidFill>
            <a:tailEnd type="triangle"/>
          </a:ln>
        </p:spPr>
      </p:cxnSp>
      <p:sp>
        <p:nvSpPr>
          <p:cNvPr id="7" name="rect"/>
          <p:cNvSpPr txBox="0"/>
          <p:nvPr/>
        </p:nvSpPr>
        <p:spPr>
          <a:xfrm>
            <a:off x="609600" y="2262188"/>
            <a:ext cx="6191250" cy="524828"/>
          </a:xfrm>
          <a:prstGeom prst="rect">
            <a:avLst/>
          </a:prstGeom>
          <a:solidFill>
            <a:srgbClr val="F7FAFB"/>
          </a:solidFill>
          <a:ln w="12700">
            <a:solidFill>
              <a:srgbClr val="79909B"/>
            </a:solidFill>
          </a:ln>
        </p:spPr>
      </p:sp>
      <p:sp>
        <p:nvSpPr>
          <p:cNvPr id="8" name="2. New: read introduction or Skip"/>
          <p:cNvSpPr txBox="1"/>
          <p:nvPr/>
        </p:nvSpPr>
        <p:spPr>
          <a:xfrm>
            <a:off x="762000" y="235743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2. New: read introduction or Skip</a:t>
            </a:r>
            <a:endParaRPr lang="en-US"/>
          </a:p>
        </p:txBody>
      </p:sp>
      <p:cxnSp>
        <p:nvCxnSpPr>
          <p:cNvPr id="9" name="Connector 9"/>
          <p:cNvCxnSpPr/>
          <p:nvPr/>
        </p:nvCxnSpPr>
        <p:spPr>
          <a:xfrm>
            <a:off x="3705225" y="2787015"/>
            <a:ext cx="0" cy="165735"/>
          </a:xfrm>
          <a:prstGeom prst="line">
            <a:avLst/>
          </a:prstGeom>
          <a:ln w="19050">
            <a:solidFill>
              <a:srgbClr val="526875"/>
            </a:solidFill>
            <a:tailEnd type="triangle"/>
          </a:ln>
        </p:spPr>
      </p:cxnSp>
      <p:sp>
        <p:nvSpPr>
          <p:cNvPr id="10" name="rect"/>
          <p:cNvSpPr txBox="0"/>
          <p:nvPr/>
        </p:nvSpPr>
        <p:spPr>
          <a:xfrm>
            <a:off x="609600" y="2952750"/>
            <a:ext cx="6191250" cy="524828"/>
          </a:xfrm>
          <a:prstGeom prst="rect">
            <a:avLst/>
          </a:prstGeom>
          <a:solidFill>
            <a:srgbClr val="F7FAFB"/>
          </a:solidFill>
          <a:ln w="12700">
            <a:solidFill>
              <a:srgbClr val="79909B"/>
            </a:solidFill>
          </a:ln>
        </p:spPr>
      </p:sp>
      <p:sp>
        <p:nvSpPr>
          <p:cNvPr id="11" name="3. Choose the first ready shore on the map"/>
          <p:cNvSpPr txBox="1"/>
          <p:nvPr/>
        </p:nvSpPr>
        <p:spPr>
          <a:xfrm>
            <a:off x="762000" y="3048000"/>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3. Choose the first ready shore on the map</a:t>
            </a:r>
            <a:endParaRPr lang="en-US"/>
          </a:p>
        </p:txBody>
      </p:sp>
      <p:cxnSp>
        <p:nvCxnSpPr>
          <p:cNvPr id="12" name="Connector 12"/>
          <p:cNvCxnSpPr/>
          <p:nvPr/>
        </p:nvCxnSpPr>
        <p:spPr>
          <a:xfrm>
            <a:off x="3705225" y="3477578"/>
            <a:ext cx="0" cy="165735"/>
          </a:xfrm>
          <a:prstGeom prst="line">
            <a:avLst/>
          </a:prstGeom>
          <a:ln w="19050">
            <a:solidFill>
              <a:srgbClr val="526875"/>
            </a:solidFill>
            <a:tailEnd type="triangle"/>
          </a:ln>
        </p:spPr>
      </p:cxnSp>
      <p:sp>
        <p:nvSpPr>
          <p:cNvPr id="13" name="rect"/>
          <p:cNvSpPr txBox="0"/>
          <p:nvPr/>
        </p:nvSpPr>
        <p:spPr>
          <a:xfrm>
            <a:off x="609600" y="3643312"/>
            <a:ext cx="6191250" cy="524828"/>
          </a:xfrm>
          <a:prstGeom prst="rect">
            <a:avLst/>
          </a:prstGeom>
          <a:solidFill>
            <a:srgbClr val="F7FAFB"/>
          </a:solidFill>
          <a:ln w="12700">
            <a:solidFill>
              <a:srgbClr val="79909B"/>
            </a:solidFill>
          </a:ln>
        </p:spPr>
      </p:sp>
      <p:sp>
        <p:nvSpPr>
          <p:cNvPr id="14" name="4. Read one objective, controls and story context"/>
          <p:cNvSpPr txBox="1"/>
          <p:nvPr/>
        </p:nvSpPr>
        <p:spPr>
          <a:xfrm>
            <a:off x="762000" y="3738562"/>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4. Read one objective, controls and story context</a:t>
            </a:r>
            <a:endParaRPr lang="en-US"/>
          </a:p>
        </p:txBody>
      </p:sp>
      <p:cxnSp>
        <p:nvCxnSpPr>
          <p:cNvPr id="15" name="Connector 15"/>
          <p:cNvCxnSpPr/>
          <p:nvPr/>
        </p:nvCxnSpPr>
        <p:spPr>
          <a:xfrm>
            <a:off x="3705225" y="4168140"/>
            <a:ext cx="0" cy="165735"/>
          </a:xfrm>
          <a:prstGeom prst="line">
            <a:avLst/>
          </a:prstGeom>
          <a:ln w="19050">
            <a:solidFill>
              <a:srgbClr val="526875"/>
            </a:solidFill>
            <a:tailEnd type="triangle"/>
          </a:ln>
        </p:spPr>
      </p:cxnSp>
      <p:sp>
        <p:nvSpPr>
          <p:cNvPr id="16" name="rect"/>
          <p:cNvSpPr txBox="0"/>
          <p:nvPr/>
        </p:nvSpPr>
        <p:spPr>
          <a:xfrm>
            <a:off x="609600" y="4333875"/>
            <a:ext cx="6191250" cy="524828"/>
          </a:xfrm>
          <a:prstGeom prst="rect">
            <a:avLst/>
          </a:prstGeom>
          <a:solidFill>
            <a:srgbClr val="F7FAFB"/>
          </a:solidFill>
          <a:ln w="12700">
            <a:solidFill>
              <a:srgbClr val="79909B"/>
            </a:solidFill>
          </a:ln>
        </p:spPr>
      </p:sp>
      <p:sp>
        <p:nvSpPr>
          <p:cNvPr id="17" name="5. Choose short practice or a full round"/>
          <p:cNvSpPr txBox="1"/>
          <p:nvPr/>
        </p:nvSpPr>
        <p:spPr>
          <a:xfrm>
            <a:off x="762000" y="442912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5. Choose short practice or a full round</a:t>
            </a:r>
            <a:endParaRPr lang="en-US"/>
          </a:p>
        </p:txBody>
      </p:sp>
      <p:cxnSp>
        <p:nvCxnSpPr>
          <p:cNvPr id="18" name="Connector 18"/>
          <p:cNvCxnSpPr/>
          <p:nvPr/>
        </p:nvCxnSpPr>
        <p:spPr>
          <a:xfrm>
            <a:off x="3705225" y="4858702"/>
            <a:ext cx="0" cy="165735"/>
          </a:xfrm>
          <a:prstGeom prst="line">
            <a:avLst/>
          </a:prstGeom>
          <a:ln w="19050">
            <a:solidFill>
              <a:srgbClr val="526875"/>
            </a:solidFill>
            <a:tailEnd type="triangle"/>
          </a:ln>
        </p:spPr>
      </p:cxnSp>
      <p:sp>
        <p:nvSpPr>
          <p:cNvPr id="19" name="rect"/>
          <p:cNvSpPr txBox="0"/>
          <p:nvPr/>
        </p:nvSpPr>
        <p:spPr>
          <a:xfrm>
            <a:off x="609600" y="5024438"/>
            <a:ext cx="6191250" cy="524828"/>
          </a:xfrm>
          <a:prstGeom prst="rect">
            <a:avLst/>
          </a:prstGeom>
          <a:solidFill>
            <a:srgbClr val="F7FAFB"/>
          </a:solidFill>
          <a:ln w="12700">
            <a:solidFill>
              <a:srgbClr val="79909B"/>
            </a:solidFill>
          </a:ln>
        </p:spPr>
      </p:sp>
      <p:sp>
        <p:nvSpPr>
          <p:cNvPr id="20" name="6. See practice result or scored result"/>
          <p:cNvSpPr txBox="1"/>
          <p:nvPr/>
        </p:nvSpPr>
        <p:spPr>
          <a:xfrm>
            <a:off x="762000" y="511968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6. See practice result or scored result</a:t>
            </a:r>
            <a:endParaRPr lang="en-US"/>
          </a:p>
        </p:txBody>
      </p:sp>
      <p:sp>
        <p:nvSpPr>
          <p:cNvPr id="21" name="Existing progress"/>
          <p:cNvSpPr txBox="1"/>
          <p:nvPr/>
        </p:nvSpPr>
        <p:spPr>
          <a:xfrm>
            <a:off x="7572375" y="1685925"/>
            <a:ext cx="3857625" cy="459581"/>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Existing progress</a:t>
            </a:r>
            <a:endParaRPr lang="en-US"/>
          </a:p>
        </p:txBody>
      </p:sp>
      <p:sp>
        <p:nvSpPr>
          <p:cNvPr id="22" name="Continue retains clears and preferences. Restart requir"/>
          <p:cNvSpPr txBox="1"/>
          <p:nvPr/>
        </p:nvSpPr>
        <p:spPr>
          <a:xfrm>
            <a:off x="7572375" y="2109788"/>
            <a:ext cx="3857625" cy="73719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Continue retains clears and preferences. Restart requires S14 confirmation.</a:t>
            </a:r>
            <a:endParaRPr lang="en-US"/>
          </a:p>
        </p:txBody>
      </p:sp>
      <p:sp>
        <p:nvSpPr>
          <p:cNvPr id="23" name="Controls are unfamiliar"/>
          <p:cNvSpPr txBox="1"/>
          <p:nvPr/>
        </p:nvSpPr>
        <p:spPr>
          <a:xfrm>
            <a:off x="7572375" y="2968942"/>
            <a:ext cx="3857625" cy="459581"/>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Controls are unfamiliar</a:t>
            </a:r>
            <a:endParaRPr lang="en-US"/>
          </a:p>
        </p:txBody>
      </p:sp>
      <p:sp>
        <p:nvSpPr>
          <p:cNvPr id="24" name="Practice leaves campaign progress unchanged. Return to "/>
          <p:cNvSpPr txBox="1"/>
          <p:nvPr/>
        </p:nvSpPr>
        <p:spPr>
          <a:xfrm>
            <a:off x="7572375" y="3392805"/>
            <a:ext cx="3857625" cy="73719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Practice leaves campaign progress unchanged. Return to the same briefing.</a:t>
            </a:r>
            <a:endParaRPr lang="en-US"/>
          </a:p>
        </p:txBody>
      </p:sp>
      <p:sp>
        <p:nvSpPr>
          <p:cNvPr id="25" name="Screens: S01, S02, S03, S04, S05-S09, S10"/>
          <p:cNvSpPr txBox="1"/>
          <p:nvPr/>
        </p:nvSpPr>
        <p:spPr>
          <a:xfrm>
            <a:off x="609600" y="587692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Screens: S01, S02, S03, S04, S05-S09, S10</a:t>
            </a:r>
            <a:endParaRPr lang="en-US"/>
          </a:p>
        </p:txBody>
      </p:sp>
      <p:sp>
        <p:nvSpPr>
          <p:cNvPr id="26" name="Farshore / Phase 2 / 1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4: Failed-plan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F4: Failed-plan recovery</a:t>
            </a:r>
            <a:endParaRPr lang="en-US"/>
          </a:p>
        </p:txBody>
      </p:sp>
      <p:sp>
        <p:nvSpPr>
          <p:cNvPr id="3" name="P3 Rosa and P1 Maya / review appendix"/>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P3 Rosa and P1 Maya / review appendix</a:t>
            </a:r>
            <a:endParaRPr lang="en-US"/>
          </a:p>
        </p:txBody>
      </p:sp>
      <p:sp>
        <p:nvSpPr>
          <p:cNvPr id="4" name="rect"/>
          <p:cNvSpPr txBox="0"/>
          <p:nvPr/>
        </p:nvSpPr>
        <p:spPr>
          <a:xfrm>
            <a:off x="609600" y="1571625"/>
            <a:ext cx="6191250" cy="524828"/>
          </a:xfrm>
          <a:prstGeom prst="rect">
            <a:avLst/>
          </a:prstGeom>
          <a:solidFill>
            <a:srgbClr val="F7FAFB"/>
          </a:solidFill>
          <a:ln w="12700">
            <a:solidFill>
              <a:srgbClr val="79909B"/>
            </a:solidFill>
          </a:ln>
        </p:spPr>
      </p:sp>
      <p:sp>
        <p:nvSpPr>
          <p:cNvPr id="5" name="1. Observe service error or rejected strategy"/>
          <p:cNvSpPr txBox="1"/>
          <p:nvPr/>
        </p:nvSpPr>
        <p:spPr>
          <a:xfrm>
            <a:off x="762000" y="166687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1. Observe service error or rejected strategy</a:t>
            </a:r>
            <a:endParaRPr lang="en-US"/>
          </a:p>
        </p:txBody>
      </p:sp>
      <p:cxnSp>
        <p:nvCxnSpPr>
          <p:cNvPr id="6" name="Connector 6"/>
          <p:cNvCxnSpPr/>
          <p:nvPr/>
        </p:nvCxnSpPr>
        <p:spPr>
          <a:xfrm>
            <a:off x="3705225" y="2096452"/>
            <a:ext cx="0" cy="165735"/>
          </a:xfrm>
          <a:prstGeom prst="line">
            <a:avLst/>
          </a:prstGeom>
          <a:ln w="19050">
            <a:solidFill>
              <a:srgbClr val="526875"/>
            </a:solidFill>
            <a:tailEnd type="triangle"/>
          </a:ln>
        </p:spPr>
      </p:cxnSp>
      <p:sp>
        <p:nvSpPr>
          <p:cNvPr id="7" name="rect"/>
          <p:cNvSpPr txBox="0"/>
          <p:nvPr/>
        </p:nvSpPr>
        <p:spPr>
          <a:xfrm>
            <a:off x="609600" y="2262188"/>
            <a:ext cx="6191250" cy="524828"/>
          </a:xfrm>
          <a:prstGeom prst="rect">
            <a:avLst/>
          </a:prstGeom>
          <a:solidFill>
            <a:srgbClr val="F7FAFB"/>
          </a:solidFill>
          <a:ln w="12700">
            <a:solidFill>
              <a:srgbClr val="79909B"/>
            </a:solidFill>
          </a:ln>
        </p:spPr>
      </p:sp>
      <p:sp>
        <p:nvSpPr>
          <p:cNvPr id="8" name="2. Read a specific explanation with progress kept"/>
          <p:cNvSpPr txBox="1"/>
          <p:nvPr/>
        </p:nvSpPr>
        <p:spPr>
          <a:xfrm>
            <a:off x="762000" y="235743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2. Read a specific explanation with progress kept</a:t>
            </a:r>
            <a:endParaRPr lang="en-US"/>
          </a:p>
        </p:txBody>
      </p:sp>
      <p:cxnSp>
        <p:nvCxnSpPr>
          <p:cNvPr id="9" name="Connector 9"/>
          <p:cNvCxnSpPr/>
          <p:nvPr/>
        </p:nvCxnSpPr>
        <p:spPr>
          <a:xfrm>
            <a:off x="3705225" y="2787015"/>
            <a:ext cx="0" cy="165735"/>
          </a:xfrm>
          <a:prstGeom prst="line">
            <a:avLst/>
          </a:prstGeom>
          <a:ln w="19050">
            <a:solidFill>
              <a:srgbClr val="526875"/>
            </a:solidFill>
            <a:tailEnd type="triangle"/>
          </a:ln>
        </p:spPr>
      </p:cxnSp>
      <p:sp>
        <p:nvSpPr>
          <p:cNvPr id="10" name="rect"/>
          <p:cNvSpPr txBox="0"/>
          <p:nvPr/>
        </p:nvSpPr>
        <p:spPr>
          <a:xfrm>
            <a:off x="609600" y="2952750"/>
            <a:ext cx="6191250" cy="524828"/>
          </a:xfrm>
          <a:prstGeom prst="rect">
            <a:avLst/>
          </a:prstGeom>
          <a:solidFill>
            <a:srgbClr val="F7FAFB"/>
          </a:solidFill>
          <a:ln w="12700">
            <a:solidFill>
              <a:srgbClr val="79909B"/>
            </a:solidFill>
          </a:ln>
        </p:spPr>
      </p:sp>
      <p:sp>
        <p:nvSpPr>
          <p:cNvPr id="11" name="3. Review selected shore, difficulty and connection"/>
          <p:cNvSpPr txBox="1"/>
          <p:nvPr/>
        </p:nvSpPr>
        <p:spPr>
          <a:xfrm>
            <a:off x="762000" y="3048000"/>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3. Review selected shore, difficulty and connection</a:t>
            </a:r>
            <a:endParaRPr lang="en-US"/>
          </a:p>
        </p:txBody>
      </p:sp>
      <p:cxnSp>
        <p:nvCxnSpPr>
          <p:cNvPr id="12" name="Connector 12"/>
          <p:cNvCxnSpPr/>
          <p:nvPr/>
        </p:nvCxnSpPr>
        <p:spPr>
          <a:xfrm>
            <a:off x="3705225" y="3477578"/>
            <a:ext cx="0" cy="165735"/>
          </a:xfrm>
          <a:prstGeom prst="line">
            <a:avLst/>
          </a:prstGeom>
          <a:ln w="19050">
            <a:solidFill>
              <a:srgbClr val="526875"/>
            </a:solidFill>
            <a:tailEnd type="triangle"/>
          </a:ln>
        </p:spPr>
      </p:cxnSp>
      <p:sp>
        <p:nvSpPr>
          <p:cNvPr id="13" name="rect"/>
          <p:cNvSpPr txBox="0"/>
          <p:nvPr/>
        </p:nvSpPr>
        <p:spPr>
          <a:xfrm>
            <a:off x="609600" y="3643312"/>
            <a:ext cx="6191250" cy="524828"/>
          </a:xfrm>
          <a:prstGeom prst="rect">
            <a:avLst/>
          </a:prstGeom>
          <a:solidFill>
            <a:srgbClr val="F7FAFB"/>
          </a:solidFill>
          <a:ln w="12700">
            <a:solidFill>
              <a:srgbClr val="79909B"/>
            </a:solidFill>
          </a:ln>
        </p:spPr>
      </p:sp>
      <p:sp>
        <p:nvSpPr>
          <p:cNvPr id="14" name="4. Choose retry, changed input, Solo or local AI"/>
          <p:cNvSpPr txBox="1"/>
          <p:nvPr/>
        </p:nvSpPr>
        <p:spPr>
          <a:xfrm>
            <a:off x="762000" y="3738562"/>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4. Choose retry, changed input, Solo or local AI</a:t>
            </a:r>
            <a:endParaRPr lang="en-US"/>
          </a:p>
        </p:txBody>
      </p:sp>
      <p:cxnSp>
        <p:nvCxnSpPr>
          <p:cNvPr id="15" name="Connector 15"/>
          <p:cNvCxnSpPr/>
          <p:nvPr/>
        </p:nvCxnSpPr>
        <p:spPr>
          <a:xfrm>
            <a:off x="3705225" y="4168140"/>
            <a:ext cx="0" cy="165735"/>
          </a:xfrm>
          <a:prstGeom prst="line">
            <a:avLst/>
          </a:prstGeom>
          <a:ln w="19050">
            <a:solidFill>
              <a:srgbClr val="526875"/>
            </a:solidFill>
            <a:tailEnd type="triangle"/>
          </a:ln>
        </p:spPr>
      </p:cxnSp>
      <p:sp>
        <p:nvSpPr>
          <p:cNvPr id="16" name="rect"/>
          <p:cNvSpPr txBox="0"/>
          <p:nvPr/>
        </p:nvSpPr>
        <p:spPr>
          <a:xfrm>
            <a:off x="609600" y="4333875"/>
            <a:ext cx="6191250" cy="524828"/>
          </a:xfrm>
          <a:prstGeom prst="rect">
            <a:avLst/>
          </a:prstGeom>
          <a:solidFill>
            <a:srgbClr val="F7FAFB"/>
          </a:solidFill>
          <a:ln w="12700">
            <a:solidFill>
              <a:srgbClr val="79909B"/>
            </a:solidFill>
          </a:ln>
        </p:spPr>
      </p:sp>
      <p:sp>
        <p:nvSpPr>
          <p:cNvPr id="17" name="5. Review a fresh valid plan or local label"/>
          <p:cNvSpPr txBox="1"/>
          <p:nvPr/>
        </p:nvSpPr>
        <p:spPr>
          <a:xfrm>
            <a:off x="762000" y="442912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5. Review a fresh valid plan or local label</a:t>
            </a:r>
            <a:endParaRPr lang="en-US"/>
          </a:p>
        </p:txBody>
      </p:sp>
      <p:cxnSp>
        <p:nvCxnSpPr>
          <p:cNvPr id="18" name="Connector 18"/>
          <p:cNvCxnSpPr/>
          <p:nvPr/>
        </p:nvCxnSpPr>
        <p:spPr>
          <a:xfrm>
            <a:off x="3705225" y="4858702"/>
            <a:ext cx="0" cy="165735"/>
          </a:xfrm>
          <a:prstGeom prst="line">
            <a:avLst/>
          </a:prstGeom>
          <a:ln w="19050">
            <a:solidFill>
              <a:srgbClr val="526875"/>
            </a:solidFill>
            <a:tailEnd type="triangle"/>
          </a:ln>
        </p:spPr>
      </p:cxnSp>
      <p:sp>
        <p:nvSpPr>
          <p:cNvPr id="19" name="rect"/>
          <p:cNvSpPr txBox="0"/>
          <p:nvPr/>
        </p:nvSpPr>
        <p:spPr>
          <a:xfrm>
            <a:off x="609600" y="5024438"/>
            <a:ext cx="6191250" cy="524828"/>
          </a:xfrm>
          <a:prstGeom prst="rect">
            <a:avLst/>
          </a:prstGeom>
          <a:solidFill>
            <a:srgbClr val="F7FAFB"/>
          </a:solidFill>
          <a:ln w="12700">
            <a:solidFill>
              <a:srgbClr val="79909B"/>
            </a:solidFill>
          </a:ln>
        </p:spPr>
      </p:sp>
      <p:sp>
        <p:nvSpPr>
          <p:cNvPr id="20" name="6. Start only after an explicit user choice"/>
          <p:cNvSpPr txBox="1"/>
          <p:nvPr/>
        </p:nvSpPr>
        <p:spPr>
          <a:xfrm>
            <a:off x="762000" y="511968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6. Start only after an explicit user choice</a:t>
            </a:r>
            <a:endParaRPr lang="en-US"/>
          </a:p>
        </p:txBody>
      </p:sp>
      <p:sp>
        <p:nvSpPr>
          <p:cNvPr id="21" name="Poor / empty / unsupported output"/>
          <p:cNvSpPr txBox="1"/>
          <p:nvPr/>
        </p:nvSpPr>
        <p:spPr>
          <a:xfrm>
            <a:off x="7572375" y="1685925"/>
            <a:ext cx="3857625" cy="824865"/>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Poor / empty / unsupported output</a:t>
            </a:r>
            <a:endParaRPr lang="en-US"/>
          </a:p>
        </p:txBody>
      </p:sp>
      <p:sp>
        <p:nvSpPr>
          <p:cNvPr id="22" name="Invalid JSON, extra fields, illegal plan or wrong focus"/>
          <p:cNvSpPr txBox="1"/>
          <p:nvPr/>
        </p:nvSpPr>
        <p:spPr>
          <a:xfrm>
            <a:off x="7572375" y="2419350"/>
            <a:ext cx="3857625" cy="1380096"/>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Invalid JSON, extra fields, illegal plan or wrong focus is rejected. No match starts. For a legal but unwanted tactic, regenerate or reject.</a:t>
            </a:r>
            <a:endParaRPr lang="en-US"/>
          </a:p>
        </p:txBody>
      </p:sp>
      <p:sp>
        <p:nvSpPr>
          <p:cNvPr id="23" name="Offline / timeout / rate limit"/>
          <p:cNvSpPr txBox="1"/>
          <p:nvPr/>
        </p:nvSpPr>
        <p:spPr>
          <a:xfrm>
            <a:off x="7572375" y="3823335"/>
            <a:ext cx="3857625" cy="459581"/>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Offline / timeout / rate limit</a:t>
            </a:r>
            <a:endParaRPr lang="en-US"/>
          </a:p>
        </p:txBody>
      </p:sp>
      <p:sp>
        <p:nvSpPr>
          <p:cNvPr id="24" name="Retry when ready, cancel a long wait, or choose Solo/lo"/>
          <p:cNvSpPr txBox="1"/>
          <p:nvPr/>
        </p:nvSpPr>
        <p:spPr>
          <a:xfrm>
            <a:off x="7572375" y="4247198"/>
            <a:ext cx="3857625" cy="10586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Retry when ready, cancel a long wait, or choose Solo/local AI. Provider 429 maps to a busy-service message.</a:t>
            </a:r>
            <a:endParaRPr lang="en-US"/>
          </a:p>
        </p:txBody>
      </p:sp>
      <p:sp>
        <p:nvSpPr>
          <p:cNvPr id="25" name="Screens: S04 / A1 uncertain, error, invalid input; S12"/>
          <p:cNvSpPr txBox="1"/>
          <p:nvPr/>
        </p:nvSpPr>
        <p:spPr>
          <a:xfrm>
            <a:off x="609600" y="587692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Screens: S04 / A1 uncertain, error, invalid input; S12</a:t>
            </a:r>
            <a:endParaRPr lang="en-US"/>
          </a:p>
        </p:txBody>
      </p:sp>
      <p:sp>
        <p:nvSpPr>
          <p:cNvPr id="26" name="Farshore / Phase 2 / 1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5: Progress and homecoming"/>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F5: Progress and homecoming</a:t>
            </a:r>
            <a:endParaRPr lang="en-US"/>
          </a:p>
        </p:txBody>
      </p:sp>
      <p:sp>
        <p:nvSpPr>
          <p:cNvPr id="3" name="P2 Daniel, P1 Maya and P3 Rosa / review appendix"/>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P2 Daniel, P1 Maya and P3 Rosa / review appendix</a:t>
            </a:r>
            <a:endParaRPr lang="en-US"/>
          </a:p>
        </p:txBody>
      </p:sp>
      <p:sp>
        <p:nvSpPr>
          <p:cNvPr id="4" name="rect"/>
          <p:cNvSpPr txBox="0"/>
          <p:nvPr/>
        </p:nvSpPr>
        <p:spPr>
          <a:xfrm>
            <a:off x="609600" y="1571625"/>
            <a:ext cx="6191250" cy="524828"/>
          </a:xfrm>
          <a:prstGeom prst="rect">
            <a:avLst/>
          </a:prstGeom>
          <a:solidFill>
            <a:srgbClr val="F7FAFB"/>
          </a:solidFill>
          <a:ln w="12700">
            <a:solidFill>
              <a:srgbClr val="79909B"/>
            </a:solidFill>
          </a:ln>
        </p:spPr>
      </p:sp>
      <p:sp>
        <p:nvSpPr>
          <p:cNvPr id="5" name="1. Read round result and visible score"/>
          <p:cNvSpPr txBox="1"/>
          <p:nvPr/>
        </p:nvSpPr>
        <p:spPr>
          <a:xfrm>
            <a:off x="762000" y="166687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1. Read round result and visible score</a:t>
            </a:r>
            <a:endParaRPr lang="en-US"/>
          </a:p>
        </p:txBody>
      </p:sp>
      <p:cxnSp>
        <p:nvCxnSpPr>
          <p:cNvPr id="6" name="Connector 6"/>
          <p:cNvCxnSpPr/>
          <p:nvPr/>
        </p:nvCxnSpPr>
        <p:spPr>
          <a:xfrm>
            <a:off x="3705225" y="2096452"/>
            <a:ext cx="0" cy="165735"/>
          </a:xfrm>
          <a:prstGeom prst="line">
            <a:avLst/>
          </a:prstGeom>
          <a:ln w="19050">
            <a:solidFill>
              <a:srgbClr val="526875"/>
            </a:solidFill>
            <a:tailEnd type="triangle"/>
          </a:ln>
        </p:spPr>
      </p:cxnSp>
      <p:sp>
        <p:nvSpPr>
          <p:cNvPr id="7" name="rect"/>
          <p:cNvSpPr txBox="0"/>
          <p:nvPr/>
        </p:nvSpPr>
        <p:spPr>
          <a:xfrm>
            <a:off x="609600" y="2262188"/>
            <a:ext cx="6191250" cy="524828"/>
          </a:xfrm>
          <a:prstGeom prst="rect">
            <a:avLst/>
          </a:prstGeom>
          <a:solidFill>
            <a:srgbClr val="F7FAFB"/>
          </a:solidFill>
          <a:ln w="12700">
            <a:solidFill>
              <a:srgbClr val="79909B"/>
            </a:solidFill>
          </a:ln>
        </p:spPr>
      </p:sp>
      <p:sp>
        <p:nvSpPr>
          <p:cNvPr id="8" name="2. Choose next shore after a clear or retry a loss"/>
          <p:cNvSpPr txBox="1"/>
          <p:nvPr/>
        </p:nvSpPr>
        <p:spPr>
          <a:xfrm>
            <a:off x="762000" y="235743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2. Choose next shore after a clear or retry a loss</a:t>
            </a:r>
            <a:endParaRPr lang="en-US"/>
          </a:p>
        </p:txBody>
      </p:sp>
      <p:cxnSp>
        <p:nvCxnSpPr>
          <p:cNvPr id="9" name="Connector 9"/>
          <p:cNvCxnSpPr/>
          <p:nvPr/>
        </p:nvCxnSpPr>
        <p:spPr>
          <a:xfrm>
            <a:off x="3705225" y="2787015"/>
            <a:ext cx="0" cy="165735"/>
          </a:xfrm>
          <a:prstGeom prst="line">
            <a:avLst/>
          </a:prstGeom>
          <a:ln w="19050">
            <a:solidFill>
              <a:srgbClr val="526875"/>
            </a:solidFill>
            <a:tailEnd type="triangle"/>
          </a:ln>
        </p:spPr>
      </p:cxnSp>
      <p:sp>
        <p:nvSpPr>
          <p:cNvPr id="10" name="rect"/>
          <p:cNvSpPr txBox="0"/>
          <p:nvPr/>
        </p:nvSpPr>
        <p:spPr>
          <a:xfrm>
            <a:off x="609600" y="2952750"/>
            <a:ext cx="6191250" cy="524828"/>
          </a:xfrm>
          <a:prstGeom prst="rect">
            <a:avLst/>
          </a:prstGeom>
          <a:solidFill>
            <a:srgbClr val="F7FAFB"/>
          </a:solidFill>
          <a:ln w="12700">
            <a:solidFill>
              <a:srgbClr val="79909B"/>
            </a:solidFill>
          </a:ln>
        </p:spPr>
      </p:sp>
      <p:sp>
        <p:nvSpPr>
          <p:cNvPr id="11" name="3. Optional: confirm an assisted passage"/>
          <p:cNvSpPr txBox="1"/>
          <p:nvPr/>
        </p:nvSpPr>
        <p:spPr>
          <a:xfrm>
            <a:off x="762000" y="3048000"/>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3. Optional: confirm an assisted passage</a:t>
            </a:r>
            <a:endParaRPr lang="en-US"/>
          </a:p>
        </p:txBody>
      </p:sp>
      <p:cxnSp>
        <p:nvCxnSpPr>
          <p:cNvPr id="12" name="Connector 12"/>
          <p:cNvCxnSpPr/>
          <p:nvPr/>
        </p:nvCxnSpPr>
        <p:spPr>
          <a:xfrm>
            <a:off x="3705225" y="3477578"/>
            <a:ext cx="0" cy="165735"/>
          </a:xfrm>
          <a:prstGeom prst="line">
            <a:avLst/>
          </a:prstGeom>
          <a:ln w="19050">
            <a:solidFill>
              <a:srgbClr val="526875"/>
            </a:solidFill>
            <a:tailEnd type="triangle"/>
          </a:ln>
        </p:spPr>
      </p:cxnSp>
      <p:sp>
        <p:nvSpPr>
          <p:cNvPr id="13" name="rect"/>
          <p:cNvSpPr txBox="0"/>
          <p:nvPr/>
        </p:nvSpPr>
        <p:spPr>
          <a:xfrm>
            <a:off x="609600" y="3643312"/>
            <a:ext cx="6191250" cy="524828"/>
          </a:xfrm>
          <a:prstGeom prst="rect">
            <a:avLst/>
          </a:prstGeom>
          <a:solidFill>
            <a:srgbClr val="F7FAFB"/>
          </a:solidFill>
          <a:ln w="12700">
            <a:solidFill>
              <a:srgbClr val="79909B"/>
            </a:solidFill>
          </a:ln>
        </p:spPr>
      </p:sp>
      <p:sp>
        <p:nvSpPr>
          <p:cNvPr id="14" name="4. Map records Cleared or Assisted honestly"/>
          <p:cNvSpPr txBox="1"/>
          <p:nvPr/>
        </p:nvSpPr>
        <p:spPr>
          <a:xfrm>
            <a:off x="762000" y="3738562"/>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4. Map records Cleared or Assisted honestly</a:t>
            </a:r>
            <a:endParaRPr lang="en-US"/>
          </a:p>
        </p:txBody>
      </p:sp>
      <p:cxnSp>
        <p:nvCxnSpPr>
          <p:cNvPr id="15" name="Connector 15"/>
          <p:cNvCxnSpPr/>
          <p:nvPr/>
        </p:nvCxnSpPr>
        <p:spPr>
          <a:xfrm>
            <a:off x="3705225" y="4168140"/>
            <a:ext cx="0" cy="165735"/>
          </a:xfrm>
          <a:prstGeom prst="line">
            <a:avLst/>
          </a:prstGeom>
          <a:ln w="19050">
            <a:solidFill>
              <a:srgbClr val="526875"/>
            </a:solidFill>
            <a:tailEnd type="triangle"/>
          </a:ln>
        </p:spPr>
      </p:cxnSp>
      <p:sp>
        <p:nvSpPr>
          <p:cNvPr id="16" name="rect"/>
          <p:cNvSpPr txBox="0"/>
          <p:nvPr/>
        </p:nvSpPr>
        <p:spPr>
          <a:xfrm>
            <a:off x="609600" y="4333875"/>
            <a:ext cx="6191250" cy="524828"/>
          </a:xfrm>
          <a:prstGeom prst="rect">
            <a:avLst/>
          </a:prstGeom>
          <a:solidFill>
            <a:srgbClr val="F7FAFB"/>
          </a:solidFill>
          <a:ln w="12700">
            <a:solidFill>
              <a:srgbClr val="79909B"/>
            </a:solidFill>
          </a:ln>
        </p:spPr>
      </p:sp>
      <p:sp>
        <p:nvSpPr>
          <p:cNvPr id="17" name="5. Pass all five shores and reach Homecoming"/>
          <p:cNvSpPr txBox="1"/>
          <p:nvPr/>
        </p:nvSpPr>
        <p:spPr>
          <a:xfrm>
            <a:off x="762000" y="4429125"/>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5. Pass all five shores and reach Homecoming</a:t>
            </a:r>
            <a:endParaRPr lang="en-US"/>
          </a:p>
        </p:txBody>
      </p:sp>
      <p:cxnSp>
        <p:nvCxnSpPr>
          <p:cNvPr id="18" name="Connector 18"/>
          <p:cNvCxnSpPr/>
          <p:nvPr/>
        </p:nvCxnSpPr>
        <p:spPr>
          <a:xfrm>
            <a:off x="3705225" y="4858702"/>
            <a:ext cx="0" cy="165735"/>
          </a:xfrm>
          <a:prstGeom prst="line">
            <a:avLst/>
          </a:prstGeom>
          <a:ln w="19050">
            <a:solidFill>
              <a:srgbClr val="526875"/>
            </a:solidFill>
            <a:tailEnd type="triangle"/>
          </a:ln>
        </p:spPr>
      </p:cxnSp>
      <p:sp>
        <p:nvSpPr>
          <p:cNvPr id="19" name="rect"/>
          <p:cNvSpPr txBox="0"/>
          <p:nvPr/>
        </p:nvSpPr>
        <p:spPr>
          <a:xfrm>
            <a:off x="609600" y="5024438"/>
            <a:ext cx="6191250" cy="524828"/>
          </a:xfrm>
          <a:prstGeom prst="rect">
            <a:avLst/>
          </a:prstGeom>
          <a:solidFill>
            <a:srgbClr val="F7FAFB"/>
          </a:solidFill>
          <a:ln w="12700">
            <a:solidFill>
              <a:srgbClr val="79909B"/>
            </a:solidFill>
          </a:ln>
        </p:spPr>
      </p:sp>
      <p:sp>
        <p:nvSpPr>
          <p:cNvPr id="20" name="6. Replay a trial or confirm a new voyage"/>
          <p:cNvSpPr txBox="1"/>
          <p:nvPr/>
        </p:nvSpPr>
        <p:spPr>
          <a:xfrm>
            <a:off x="762000" y="5119688"/>
            <a:ext cx="5886450" cy="4157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6. Replay a trial or confirm a new voyage</a:t>
            </a:r>
            <a:endParaRPr lang="en-US"/>
          </a:p>
        </p:txBody>
      </p:sp>
      <p:sp>
        <p:nvSpPr>
          <p:cNvPr id="21" name="Reconsider help"/>
          <p:cNvSpPr txBox="1"/>
          <p:nvPr/>
        </p:nvSpPr>
        <p:spPr>
          <a:xfrm>
            <a:off x="7572375" y="1685925"/>
            <a:ext cx="3857625" cy="459581"/>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Reconsider help</a:t>
            </a:r>
            <a:endParaRPr lang="en-US"/>
          </a:p>
        </p:txBody>
      </p:sp>
      <p:sp>
        <p:nvSpPr>
          <p:cNvPr id="22" name="Keep trying closes S15 without changing progress. A lat"/>
          <p:cNvSpPr txBox="1"/>
          <p:nvPr/>
        </p:nvSpPr>
        <p:spPr>
          <a:xfrm>
            <a:off x="7572375" y="2109788"/>
            <a:ext cx="3857625" cy="10586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Keep trying closes S15 without changing progress. A later successful replay upgrades Assisted to Cleared.</a:t>
            </a:r>
            <a:endParaRPr lang="en-US"/>
          </a:p>
        </p:txBody>
      </p:sp>
      <p:sp>
        <p:nvSpPr>
          <p:cNvPr id="23" name="New voyage"/>
          <p:cNvSpPr txBox="1"/>
          <p:nvPr/>
        </p:nvSpPr>
        <p:spPr>
          <a:xfrm>
            <a:off x="7572375" y="3241358"/>
            <a:ext cx="3857625" cy="459581"/>
          </a:xfrm>
          <a:prstGeom prst="rect">
            <a:avLst/>
          </a:prstGeom>
          <a:noFill/>
          <a:ln>
            <a:noFill/>
          </a:ln>
        </p:spPr>
        <p:txBody>
          <a:bodyPr wrap="square" lIns="0" rIns="0" tIns="0" bIns="0" anchor="t">
            <a:noAutofit/>
          </a:bodyPr>
          <a:lstStyle/>
          <a:p>
            <a:pPr>
              <a:lnSpc>
                <a:spcPct val="130000"/>
              </a:lnSpc>
            </a:pPr>
            <a:r>
              <a:rPr lang="en-US" sz="1875" b="1">
                <a:solidFill>
                  <a:srgbClr val="126978"/>
                </a:solidFill>
                <a:latin typeface="Arial"/>
              </a:rPr>
              <a:t xml:space="preserve">New voyage</a:t>
            </a:r>
            <a:endParaRPr lang="en-US"/>
          </a:p>
        </p:txBody>
      </p:sp>
      <p:sp>
        <p:nvSpPr>
          <p:cNvPr id="24" name="S14 explains that restarting replaces progress. Keep vo"/>
          <p:cNvSpPr txBox="1"/>
          <p:nvPr/>
        </p:nvSpPr>
        <p:spPr>
          <a:xfrm>
            <a:off x="7572375" y="3665220"/>
            <a:ext cx="3857625" cy="1058647"/>
          </a:xfrm>
          <a:prstGeom prst="rect">
            <a:avLst/>
          </a:prstGeom>
          <a:noFill/>
          <a:ln>
            <a:noFill/>
          </a:ln>
        </p:spPr>
        <p:txBody>
          <a:bodyPr wrap="square" lIns="0" rIns="0" tIns="0" bIns="0" anchor="t">
            <a:noAutofit/>
          </a:bodyPr>
          <a:lstStyle/>
          <a:p>
            <a:pPr>
              <a:lnSpc>
                <a:spcPct val="130000"/>
              </a:lnSpc>
            </a:pPr>
            <a:r>
              <a:rPr lang="en-US" sz="1650" b="0">
                <a:solidFill>
                  <a:srgbClr val="102E40"/>
                </a:solidFill>
                <a:latin typeface="Arial"/>
              </a:rPr>
              <a:t xml:space="preserve">S14 explains that restarting replaces progress. Keep voyage returns unchanged.</a:t>
            </a:r>
            <a:endParaRPr lang="en-US"/>
          </a:p>
        </p:txBody>
      </p:sp>
      <p:sp>
        <p:nvSpPr>
          <p:cNvPr id="25" name="Screens: S10, S15, S03, S11, S14"/>
          <p:cNvSpPr txBox="1"/>
          <p:nvPr/>
        </p:nvSpPr>
        <p:spPr>
          <a:xfrm>
            <a:off x="609600" y="587692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Screens: S10, S15, S03, S11, S14</a:t>
            </a:r>
            <a:endParaRPr lang="en-US"/>
          </a:p>
        </p:txBody>
      </p:sp>
      <p:sp>
        <p:nvSpPr>
          <p:cNvPr id="26" name="Farshore / Phase 2 / 19"/>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dge cases and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Edge cases and recovery</a:t>
            </a:r>
            <a:endParaRPr lang="en-US"/>
          </a:p>
        </p:txBody>
      </p:sp>
      <p:sp>
        <p:nvSpPr>
          <p:cNvPr id="3" name="Review appendix / EC1-EC3"/>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EC1-EC3</a:t>
            </a:r>
            <a:endParaRPr lang="en-US"/>
          </a:p>
        </p:txBody>
      </p:sp>
      <p:graphicFrame>
        <p:nvGraphicFramePr>
          <p:cNvPr id="4" name="Editable evidence table"/>
          <p:cNvGraphicFramePr/>
          <p:nvPr/>
        </p:nvGraphicFramePr>
        <p:xfrm>
          <a:off x="609600" y="1571625"/>
          <a:ext cx="10858500" cy="3774757"/>
        </p:xfrm>
        <a:graphic>
          <a:graphicData uri="http://schemas.openxmlformats.org/drawingml/2006/table">
            <a:tbl>
              <a:tblPr firstRow="1" bandRow="0"/>
              <a:tblGrid>
                <a:gridCol w="2857500"/>
                <a:gridCol w="4000500"/>
                <a:gridCol w="4000500"/>
              </a:tblGrid>
              <a:tr h="488632">
                <a:tc>
                  <a:txBody>
                    <a:bodyPr lIns="114300" rIns="114300" tIns="76200" bIns="0"/>
                    <a:lstStyle/>
                    <a:p>
                      <a:pPr>
                        <a:lnSpc>
                          <a:spcPct val="130000"/>
                        </a:lnSpc>
                      </a:pPr>
                      <a:r>
                        <a:rPr lang="en-US" sz="1575" b="1">
                          <a:solidFill>
                            <a:srgbClr val="102E40"/>
                          </a:solidFill>
                          <a:latin typeface="Arial"/>
                        </a:rPr>
                        <a:t xml:space="preserve">Scenario and states</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Recovery</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Evidence or design status</a:t>
                      </a:r>
                      <a:endParaRPr lang="en-US"/>
                    </a:p>
                  </a:txBody>
                  <a:tcPr>
                    <a:solidFill>
                      <a:srgbClr val="DCE8EE"/>
                    </a:solidFill>
                  </a:tcPr>
                </a:tc>
              </a:tr>
              <a:tr h="1008698">
                <a:tc>
                  <a:txBody>
                    <a:bodyPr lIns="114300" rIns="114300" tIns="76200" bIns="0"/>
                    <a:lstStyle/>
                    <a:p>
                      <a:pPr>
                        <a:lnSpc>
                          <a:spcPct val="130000"/>
                        </a:lnSpc>
                      </a:pPr>
                      <a:r>
                        <a:rPr lang="en-US" sz="1575" b="0">
                          <a:solidFill>
                            <a:srgbClr val="102E40"/>
                          </a:solidFill>
                          <a:latin typeface="Arial"/>
                        </a:rPr>
                        <a:t xml:space="preserve">EC1 Unavailable / timeout / 429</a:t>
                      </a:r>
                      <a:endParaRPr lang="en-US"/>
                    </a:p>
                    <a:p>
                      <a:pPr>
                        <a:lnSpc>
                          <a:spcPct val="130000"/>
                        </a:lnSpc>
                      </a:pPr>
                      <a:r>
                        <a:rPr lang="en-US" sz="1575" b="0">
                          <a:solidFill>
                            <a:srgbClr val="102E40"/>
                          </a:solidFill>
                          <a:latin typeface="Arial"/>
                        </a:rPr>
                        <a:t xml:space="preserve">F4, A1 error</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Keep progress. Retry, Cancel, Solo or a labeled local AI duel. Preparation never consumes game time.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E1 observes real provider 404. 90s timeout and 429 mapping exist; those cases were not induced live.</a:t>
                      </a:r>
                      <a:endParaRPr lang="en-US"/>
                    </a:p>
                  </a:txBody>
                  <a:tcPr>
                    <a:solidFill>
                      <a:srgbClr val="FFFFFF"/>
                    </a:solidFill>
                  </a:tcPr>
                </a:tc>
              </a:tr>
              <a:tr h="1268730">
                <a:tc>
                  <a:txBody>
                    <a:bodyPr lIns="114300" rIns="114300" tIns="76200" bIns="0"/>
                    <a:lstStyle/>
                    <a:p>
                      <a:pPr>
                        <a:lnSpc>
                          <a:spcPct val="130000"/>
                        </a:lnSpc>
                      </a:pPr>
                      <a:r>
                        <a:rPr lang="en-US" sz="1575" b="0">
                          <a:solidFill>
                            <a:srgbClr val="102E40"/>
                          </a:solidFill>
                          <a:latin typeface="Arial"/>
                        </a:rPr>
                        <a:t xml:space="preserve">EC2 Poor, wrong or empty output</a:t>
                      </a:r>
                      <a:endParaRPr lang="en-US"/>
                    </a:p>
                    <a:p>
                      <a:pPr>
                        <a:lnSpc>
                          <a:spcPct val="130000"/>
                        </a:lnSpc>
                      </a:pPr>
                      <a:r>
                        <a:rPr lang="en-US" sz="1575" b="0">
                          <a:solidFill>
                            <a:srgbClr val="102E40"/>
                          </a:solidFill>
                          <a:latin typeface="Arial"/>
                        </a:rPr>
                        <a:t xml:space="preserve">F2/F4, A1 uncertain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Reject invalid JSON or unsupported plan/focus. Regenerate or change inputs. Legal but unwanted tactics remain rejectable.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Strict schema and server validation; fresh spike measures legal outputs, not tactical enjoyment.</a:t>
                      </a:r>
                      <a:endParaRPr lang="en-US"/>
                    </a:p>
                  </a:txBody>
                  <a:tcPr>
                    <a:solidFill>
                      <a:srgbClr val="FFFFFF"/>
                    </a:solidFill>
                  </a:tcPr>
                </a:tc>
              </a:tr>
              <a:tr h="1008698">
                <a:tc>
                  <a:txBody>
                    <a:bodyPr lIns="114300" rIns="114300" tIns="76200" bIns="0"/>
                    <a:lstStyle/>
                    <a:p>
                      <a:pPr>
                        <a:lnSpc>
                          <a:spcPct val="130000"/>
                        </a:lnSpc>
                      </a:pPr>
                      <a:r>
                        <a:rPr lang="en-US" sz="1575" b="0">
                          <a:solidFill>
                            <a:srgbClr val="102E40"/>
                          </a:solidFill>
                          <a:latin typeface="Arial"/>
                        </a:rPr>
                        <a:t xml:space="preserve">EC3 Invalid / unsupported input</a:t>
                      </a:r>
                      <a:endParaRPr lang="en-US"/>
                    </a:p>
                    <a:p>
                      <a:pPr>
                        <a:lnSpc>
                          <a:spcPct val="130000"/>
                        </a:lnSpc>
                      </a:pPr>
                      <a:r>
                        <a:rPr lang="en-US" sz="1575" b="0">
                          <a:solidFill>
                            <a:srgbClr val="102E40"/>
                          </a:solidFill>
                          <a:latin typeface="Arial"/>
                        </a:rPr>
                        <a:t xml:space="preserve">F4, S04 validation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Explain supported choices and keep valid settings. Reject invalid input before model contact. Inline field guidance is proposed.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E3 records actual application 400 for impossible difficulty.</a:t>
                      </a:r>
                      <a:endParaRPr lang="en-US"/>
                    </a:p>
                  </a:txBody>
                  <a:tcPr>
                    <a:solidFill>
                      <a:srgbClr val="FFFFFF"/>
                    </a:solidFill>
                  </a:tcPr>
                </a:tc>
              </a:tr>
            </a:tbl>
          </a:graphicData>
        </a:graphic>
      </p:graphicFrame>
      <p:sp>
        <p:nvSpPr>
          <p:cNvPr id="5" name="Farshore / Phase 2 / 20"/>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dge cases and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Edge cases and recovery</a:t>
            </a:r>
            <a:endParaRPr lang="en-US"/>
          </a:p>
        </p:txBody>
      </p:sp>
      <p:sp>
        <p:nvSpPr>
          <p:cNvPr id="3" name="Review appendix / EC4-EC6"/>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EC4-EC6</a:t>
            </a:r>
            <a:endParaRPr lang="en-US"/>
          </a:p>
        </p:txBody>
      </p:sp>
      <p:graphicFrame>
        <p:nvGraphicFramePr>
          <p:cNvPr id="4" name="Editable evidence table"/>
          <p:cNvGraphicFramePr/>
          <p:nvPr/>
        </p:nvGraphicFramePr>
        <p:xfrm>
          <a:off x="609600" y="1571625"/>
          <a:ext cx="10858500" cy="3514725"/>
        </p:xfrm>
        <a:graphic>
          <a:graphicData uri="http://schemas.openxmlformats.org/drawingml/2006/table">
            <a:tbl>
              <a:tblPr firstRow="1" bandRow="0"/>
              <a:tblGrid>
                <a:gridCol w="2857500"/>
                <a:gridCol w="4000500"/>
                <a:gridCol w="4000500"/>
              </a:tblGrid>
              <a:tr h="488632">
                <a:tc>
                  <a:txBody>
                    <a:bodyPr lIns="114300" rIns="114300" tIns="76200" bIns="0"/>
                    <a:lstStyle/>
                    <a:p>
                      <a:pPr>
                        <a:lnSpc>
                          <a:spcPct val="130000"/>
                        </a:lnSpc>
                      </a:pPr>
                      <a:r>
                        <a:rPr lang="en-US" sz="1575" b="1">
                          <a:solidFill>
                            <a:srgbClr val="102E40"/>
                          </a:solidFill>
                          <a:latin typeface="Arial"/>
                        </a:rPr>
                        <a:t xml:space="preserve">Scenario and states</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Recovery</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Evidence or design status</a:t>
                      </a:r>
                      <a:endParaRPr lang="en-US"/>
                    </a:p>
                  </a:txBody>
                  <a:tcPr>
                    <a:solidFill>
                      <a:srgbClr val="DCE8EE"/>
                    </a:solidFill>
                  </a:tcPr>
                </a:tc>
              </a:tr>
              <a:tr h="1008698">
                <a:tc>
                  <a:txBody>
                    <a:bodyPr lIns="114300" rIns="114300" tIns="76200" bIns="0"/>
                    <a:lstStyle/>
                    <a:p>
                      <a:pPr>
                        <a:lnSpc>
                          <a:spcPct val="130000"/>
                        </a:lnSpc>
                      </a:pPr>
                      <a:r>
                        <a:rPr lang="en-US" sz="1575" b="0">
                          <a:solidFill>
                            <a:srgbClr val="102E40"/>
                          </a:solidFill>
                          <a:latin typeface="Arial"/>
                        </a:rPr>
                        <a:t xml:space="preserve">EC4 Cancel or late reply</a:t>
                      </a:r>
                      <a:endParaRPr lang="en-US"/>
                    </a:p>
                    <a:p>
                      <a:pPr>
                        <a:lnSpc>
                          <a:spcPct val="130000"/>
                        </a:lnSpc>
                      </a:pPr>
                      <a:r>
                        <a:rPr lang="en-US" sz="1575" b="0">
                          <a:solidFill>
                            <a:srgbClr val="102E40"/>
                          </a:solidFill>
                          <a:latin typeface="Arial"/>
                        </a:rPr>
                        <a:t xml:space="preserve">F2, A1 loading</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Abort and increase request generation ID. Ignore old replies after cancel, input edit, navigation or regeneration.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Implemented request token and AbortController. No clear or score can arrive from a model reply.</a:t>
                      </a:r>
                      <a:endParaRPr lang="en-US"/>
                    </a:p>
                  </a:txBody>
                  <a:tcPr>
                    <a:solidFill>
                      <a:srgbClr val="FFFFFF"/>
                    </a:solidFill>
                  </a:tcPr>
                </a:tc>
              </a:tr>
              <a:tr h="1008698">
                <a:tc>
                  <a:txBody>
                    <a:bodyPr lIns="114300" rIns="114300" tIns="76200" bIns="0"/>
                    <a:lstStyle/>
                    <a:p>
                      <a:pPr>
                        <a:lnSpc>
                          <a:spcPct val="130000"/>
                        </a:lnSpc>
                      </a:pPr>
                      <a:r>
                        <a:rPr lang="en-US" sz="1575" b="0">
                          <a:solidFill>
                            <a:srgbClr val="102E40"/>
                          </a:solidFill>
                          <a:latin typeface="Arial"/>
                        </a:rPr>
                        <a:t xml:space="preserve">EC5 Inappropriate / biased output</a:t>
                      </a:r>
                      <a:endParaRPr lang="en-US"/>
                    </a:p>
                    <a:p>
                      <a:pPr>
                        <a:lnSpc>
                          <a:spcPct val="130000"/>
                        </a:lnSpc>
                      </a:pPr>
                      <a:r>
                        <a:rPr lang="en-US" sz="1575" b="0">
                          <a:solidFill>
                            <a:srgbClr val="102E40"/>
                          </a:solidFill>
                          <a:latin typeface="Arial"/>
                        </a:rPr>
                        <a:t xml:space="preserve">F2/F4, A1 uncertain</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Allow permitted strategy IDs. Show authored descriptions. Reject generated prose and all extra fields.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This limits the output surface; fair tactical behavior still needs player evaluation.</a:t>
                      </a:r>
                      <a:endParaRPr lang="en-US"/>
                    </a:p>
                  </a:txBody>
                  <a:tcPr>
                    <a:solidFill>
                      <a:srgbClr val="FFFFFF"/>
                    </a:solidFill>
                  </a:tcPr>
                </a:tc>
              </a:tr>
              <a:tr h="1008698">
                <a:tc>
                  <a:txBody>
                    <a:bodyPr lIns="114300" rIns="114300" tIns="76200" bIns="0"/>
                    <a:lstStyle/>
                    <a:p>
                      <a:pPr>
                        <a:lnSpc>
                          <a:spcPct val="130000"/>
                        </a:lnSpc>
                      </a:pPr>
                      <a:r>
                        <a:rPr lang="en-US" sz="1575" b="0">
                          <a:solidFill>
                            <a:srgbClr val="102E40"/>
                          </a:solidFill>
                          <a:latin typeface="Arial"/>
                        </a:rPr>
                        <a:t xml:space="preserve">EC6 Hidden tab / lost held input</a:t>
                      </a:r>
                      <a:endParaRPr lang="en-US"/>
                    </a:p>
                    <a:p>
                      <a:pPr>
                        <a:lnSpc>
                          <a:spcPct val="130000"/>
                        </a:lnSpc>
                      </a:pPr>
                      <a:r>
                        <a:rPr lang="en-US" sz="1575" b="0">
                          <a:solidFill>
                            <a:srgbClr val="102E40"/>
                          </a:solidFill>
                          <a:latin typeface="Arial"/>
                        </a:rPr>
                        <a:t xml:space="preserve">F3, S13 pause</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Pause simulation and release rowing/paddle controls. Resume explicitly. Explain that reload restarts the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Implemented focus/visibility handling. Completed progress stays local.</a:t>
                      </a:r>
                      <a:endParaRPr lang="en-US"/>
                    </a:p>
                  </a:txBody>
                  <a:tcPr>
                    <a:solidFill>
                      <a:srgbClr val="FFFFFF"/>
                    </a:solidFill>
                  </a:tcPr>
                </a:tc>
              </a:tr>
            </a:tbl>
          </a:graphicData>
        </a:graphic>
      </p:graphicFrame>
      <p:sp>
        <p:nvSpPr>
          <p:cNvPr id="5" name="Farshore / Phase 2 / 2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dge cases and recover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Edge cases and recovery</a:t>
            </a:r>
            <a:endParaRPr lang="en-US"/>
          </a:p>
        </p:txBody>
      </p:sp>
      <p:sp>
        <p:nvSpPr>
          <p:cNvPr id="3" name="Review appendix / EC7-EC8"/>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EC7-EC8</a:t>
            </a:r>
            <a:endParaRPr lang="en-US"/>
          </a:p>
        </p:txBody>
      </p:sp>
      <p:graphicFrame>
        <p:nvGraphicFramePr>
          <p:cNvPr id="4" name="Editable evidence table"/>
          <p:cNvGraphicFramePr/>
          <p:nvPr/>
        </p:nvGraphicFramePr>
        <p:xfrm>
          <a:off x="609600" y="1571625"/>
          <a:ext cx="10858500" cy="2766060"/>
        </p:xfrm>
        <a:graphic>
          <a:graphicData uri="http://schemas.openxmlformats.org/drawingml/2006/table">
            <a:tbl>
              <a:tblPr firstRow="1" bandRow="0"/>
              <a:tblGrid>
                <a:gridCol w="2857500"/>
                <a:gridCol w="4000500"/>
                <a:gridCol w="4000500"/>
              </a:tblGrid>
              <a:tr h="488632">
                <a:tc>
                  <a:txBody>
                    <a:bodyPr lIns="114300" rIns="114300" tIns="76200" bIns="0"/>
                    <a:lstStyle/>
                    <a:p>
                      <a:pPr>
                        <a:lnSpc>
                          <a:spcPct val="130000"/>
                        </a:lnSpc>
                      </a:pPr>
                      <a:r>
                        <a:rPr lang="en-US" sz="1575" b="1">
                          <a:solidFill>
                            <a:srgbClr val="102E40"/>
                          </a:solidFill>
                          <a:latin typeface="Arial"/>
                        </a:rPr>
                        <a:t xml:space="preserve">Scenario and states</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Recovery</a:t>
                      </a:r>
                      <a:endParaRPr lang="en-US"/>
                    </a:p>
                  </a:txBody>
                  <a:tcPr>
                    <a:solidFill>
                      <a:srgbClr val="DCE8EE"/>
                    </a:solidFill>
                  </a:tcPr>
                </a:tc>
                <a:tc>
                  <a:txBody>
                    <a:bodyPr lIns="114300" rIns="114300" tIns="76200" bIns="0"/>
                    <a:lstStyle/>
                    <a:p>
                      <a:pPr>
                        <a:lnSpc>
                          <a:spcPct val="130000"/>
                        </a:lnSpc>
                      </a:pPr>
                      <a:r>
                        <a:rPr lang="en-US" sz="1575" b="1">
                          <a:solidFill>
                            <a:srgbClr val="102E40"/>
                          </a:solidFill>
                          <a:latin typeface="Arial"/>
                        </a:rPr>
                        <a:t xml:space="preserve">Evidence or design status</a:t>
                      </a:r>
                      <a:endParaRPr lang="en-US"/>
                    </a:p>
                  </a:txBody>
                  <a:tcPr>
                    <a:solidFill>
                      <a:srgbClr val="DCE8EE"/>
                    </a:solidFill>
                  </a:tcPr>
                </a:tc>
              </a:tr>
              <a:tr h="1008698">
                <a:tc>
                  <a:txBody>
                    <a:bodyPr lIns="114300" rIns="114300" tIns="76200" bIns="0"/>
                    <a:lstStyle/>
                    <a:p>
                      <a:pPr>
                        <a:lnSpc>
                          <a:spcPct val="130000"/>
                        </a:lnSpc>
                      </a:pPr>
                      <a:r>
                        <a:rPr lang="en-US" sz="1575" b="0">
                          <a:solidFill>
                            <a:srgbClr val="102E40"/>
                          </a:solidFill>
                          <a:latin typeface="Arial"/>
                        </a:rPr>
                        <a:t xml:space="preserve">EC7 Local storage unavailable</a:t>
                      </a:r>
                      <a:endParaRPr lang="en-US"/>
                    </a:p>
                    <a:p>
                      <a:pPr>
                        <a:lnSpc>
                          <a:spcPct val="130000"/>
                        </a:lnSpc>
                      </a:pPr>
                      <a:r>
                        <a:rPr lang="en-US" sz="1575" b="0">
                          <a:solidFill>
                            <a:srgbClr val="102E40"/>
                          </a:solidFill>
                          <a:latin typeface="Arial"/>
                        </a:rPr>
                        <a:t xml:space="preserve">F1/F5, S01/S03</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Show the implemented persistent saving warning. Keep the in-memory voyage and explain that reload may lose progress.</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Storage exceptions trigger a persistent status notice. This behavior is implemented.</a:t>
                      </a:r>
                      <a:endParaRPr lang="en-US"/>
                    </a:p>
                  </a:txBody>
                  <a:tcPr>
                    <a:solidFill>
                      <a:srgbClr val="FFFFFF"/>
                    </a:solidFill>
                  </a:tcPr>
                </a:tc>
              </a:tr>
              <a:tr h="1268730">
                <a:tc>
                  <a:txBody>
                    <a:bodyPr lIns="114300" rIns="114300" tIns="76200" bIns="0"/>
                    <a:lstStyle/>
                    <a:p>
                      <a:pPr>
                        <a:lnSpc>
                          <a:spcPct val="130000"/>
                        </a:lnSpc>
                      </a:pPr>
                      <a:r>
                        <a:rPr lang="en-US" sz="1575" b="0">
                          <a:solidFill>
                            <a:srgbClr val="102E40"/>
                          </a:solidFill>
                          <a:latin typeface="Arial"/>
                        </a:rPr>
                        <a:t xml:space="preserve">EC8 Migrated old save / abandoned round</a:t>
                      </a:r>
                      <a:endParaRPr lang="en-US"/>
                    </a:p>
                    <a:p>
                      <a:pPr>
                        <a:lnSpc>
                          <a:spcPct val="130000"/>
                        </a:lnSpc>
                      </a:pPr>
                      <a:r>
                        <a:rPr lang="en-US" sz="1575" b="0">
                          <a:solidFill>
                            <a:srgbClr val="102E40"/>
                          </a:solidFill>
                          <a:latin typeface="Arial"/>
                        </a:rPr>
                        <a:t xml:space="preserve">F1/F5, S03/S10</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Retain old clears, insert Circe/strait pending. Clear earlier shores before replaying later ones. No clear for an unfinished round.</a:t>
                      </a:r>
                      <a:endParaRPr lang="en-US"/>
                    </a:p>
                  </a:txBody>
                  <a:tcPr>
                    <a:solidFill>
                      <a:srgbClr val="FFFFFF"/>
                    </a:solidFill>
                  </a:tcPr>
                </a:tc>
                <a:tc>
                  <a:txBody>
                    <a:bodyPr lIns="114300" rIns="114300" tIns="76200" bIns="0"/>
                    <a:lstStyle/>
                    <a:p>
                      <a:pPr>
                        <a:lnSpc>
                          <a:spcPct val="130000"/>
                        </a:lnSpc>
                      </a:pPr>
                      <a:r>
                        <a:rPr lang="en-US" sz="1575" b="0">
                          <a:solidFill>
                            <a:srgbClr val="102E40"/>
                          </a:solidFill>
                          <a:latin typeface="Arial"/>
                        </a:rPr>
                        <a:t xml:space="preserve">Save schema 2 migration. Assisted and practice labels remain explicit.</a:t>
                      </a:r>
                      <a:endParaRPr lang="en-US"/>
                    </a:p>
                  </a:txBody>
                  <a:tcPr>
                    <a:solidFill>
                      <a:srgbClr val="FFFFFF"/>
                    </a:solidFill>
                  </a:tcPr>
                </a:tc>
              </a:tr>
            </a:tbl>
          </a:graphicData>
        </a:graphic>
      </p:graphicFrame>
      <p:sp>
        <p:nvSpPr>
          <p:cNvPr id="5" name="Farshore / Phase 2 / 2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1: Title - new player"/>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W01: Title - new player</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1  Title - new player"/>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W01  Title - new player</a:t>
            </a:r>
            <a:endParaRPr lang="en-US"/>
          </a:p>
        </p:txBody>
      </p:sp>
      <p:sp>
        <p:nvSpPr>
          <p:cNvPr id="6" name="S01 / empty / F1"/>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S01 / empty / F1</a:t>
            </a:r>
            <a:endParaRPr lang="en-US"/>
          </a:p>
        </p:txBody>
      </p:sp>
      <p:sp>
        <p:nvSpPr>
          <p:cNvPr id="7" name="rect"/>
          <p:cNvSpPr txBox="0"/>
          <p:nvPr/>
        </p:nvSpPr>
        <p:spPr>
          <a:xfrm>
            <a:off x="762000" y="2284095"/>
            <a:ext cx="5505450" cy="495300"/>
          </a:xfrm>
          <a:prstGeom prst="rect">
            <a:avLst/>
          </a:prstGeom>
          <a:solidFill>
            <a:srgbClr val="EEEEEE"/>
          </a:solidFill>
          <a:ln w="12700">
            <a:solidFill>
              <a:srgbClr val="AAAAAA"/>
            </a:solidFill>
          </a:ln>
        </p:spPr>
      </p:sp>
      <p:sp>
        <p:nvSpPr>
          <p:cNvPr id="8" name="Voyage artwork placeholder"/>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Voyage artwork placeholder</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Farshore / The Odyssey: Arcade Trial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Farshore / The Odyssey: Arcade Trials</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Five distinct trials. Keyboard or touch."/>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Five distinct trials. Keyboard or touch.</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Begin voyage / Settings"/>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Begin voyage / Settings</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A single primary action starts the game without AI setu"/>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 single primary action starts the game</a:t>
            </a:r>
            <a:endParaRPr lang="en-US"/>
          </a:p>
          <a:p>
            <a:pPr>
              <a:lnSpc>
                <a:spcPct val="130000"/>
              </a:lnSpc>
            </a:pPr>
            <a:r>
              <a:rPr lang="en-US" sz="1950" b="0">
                <a:solidFill>
                  <a:srgbClr val="102E40"/>
                </a:solidFill>
                <a:latin typeface="Arial"/>
              </a:rPr>
              <a:t xml:space="preserve">without AI setup.</a:t>
            </a:r>
            <a:endParaRPr lang="en-US"/>
          </a:p>
        </p:txBody>
      </p:sp>
      <p:sp>
        <p:nvSpPr>
          <p:cNvPr id="17" name="Screen S01 Flow F1 State empt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S01</a:t>
            </a:r>
            <a:endParaRPr lang="en-US"/>
          </a:p>
          <a:p>
            <a:pPr>
              <a:lnSpc>
                <a:spcPct val="130000"/>
              </a:lnSpc>
            </a:pPr>
            <a:r>
              <a:rPr lang="en-US" sz="1725" b="0">
                <a:solidFill>
                  <a:srgbClr val="526875"/>
                </a:solidFill>
                <a:latin typeface="Arial"/>
              </a:rPr>
              <a:t xml:space="preserve">Flow F1</a:t>
            </a:r>
            <a:endParaRPr lang="en-US"/>
          </a:p>
          <a:p>
            <a:pPr>
              <a:lnSpc>
                <a:spcPct val="130000"/>
              </a:lnSpc>
            </a:pPr>
            <a:r>
              <a:rPr lang="en-US" sz="1725" b="0">
                <a:solidFill>
                  <a:srgbClr val="526875"/>
                </a:solidFill>
                <a:latin typeface="Arial"/>
              </a:rPr>
              <a:t xml:space="preserve">State empty</a:t>
            </a:r>
            <a:endParaRPr lang="en-US"/>
          </a:p>
        </p:txBody>
      </p:sp>
      <p:sp>
        <p:nvSpPr>
          <p:cNvPr id="18" name="Farshore / Phase 2 / 2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2: Title - returning player"/>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W02: Title - returning player</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2  Title - returning player"/>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W02  Title - returning player</a:t>
            </a:r>
            <a:endParaRPr lang="en-US"/>
          </a:p>
        </p:txBody>
      </p:sp>
      <p:sp>
        <p:nvSpPr>
          <p:cNvPr id="6" name="S01 / saved progress / F1/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S01 / saved progress / F1/F5</a:t>
            </a:r>
            <a:endParaRPr lang="en-US"/>
          </a:p>
        </p:txBody>
      </p:sp>
      <p:sp>
        <p:nvSpPr>
          <p:cNvPr id="7" name="rect"/>
          <p:cNvSpPr txBox="0"/>
          <p:nvPr/>
        </p:nvSpPr>
        <p:spPr>
          <a:xfrm>
            <a:off x="762000" y="2284095"/>
            <a:ext cx="5505450" cy="495300"/>
          </a:xfrm>
          <a:prstGeom prst="rect">
            <a:avLst/>
          </a:prstGeom>
          <a:solidFill>
            <a:srgbClr val="EEEEEE"/>
          </a:solidFill>
          <a:ln w="12700">
            <a:solidFill>
              <a:srgbClr val="AAAAAA"/>
            </a:solidFill>
          </a:ln>
        </p:spPr>
      </p:sp>
      <p:sp>
        <p:nvSpPr>
          <p:cNvPr id="8" name="Voyage artwork placeholder"/>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Voyage artwork placeholder</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Continue voyage / 2 of 5 cleare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Continue voyage / 2 of 5 cleared</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Continue voyage"/>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Continue voyage</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New voyage / Settings"/>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New voyage / Settings</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Continue reads browser-local progress. New voyage opens"/>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Continue reads browser-local progress.</a:t>
            </a:r>
            <a:endParaRPr lang="en-US"/>
          </a:p>
          <a:p>
            <a:pPr>
              <a:lnSpc>
                <a:spcPct val="130000"/>
              </a:lnSpc>
            </a:pPr>
            <a:r>
              <a:rPr lang="en-US" sz="1950" b="0">
                <a:solidFill>
                  <a:srgbClr val="102E40"/>
                </a:solidFill>
                <a:latin typeface="Arial"/>
              </a:rPr>
              <a:t xml:space="preserve">New voyage opens S14.</a:t>
            </a:r>
            <a:endParaRPr lang="en-US"/>
          </a:p>
        </p:txBody>
      </p:sp>
      <p:sp>
        <p:nvSpPr>
          <p:cNvPr id="17" name="Screen S01 Flow F1/F5 State saved progress"/>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S01</a:t>
            </a:r>
            <a:endParaRPr lang="en-US"/>
          </a:p>
          <a:p>
            <a:pPr>
              <a:lnSpc>
                <a:spcPct val="130000"/>
              </a:lnSpc>
            </a:pPr>
            <a:r>
              <a:rPr lang="en-US" sz="1725" b="0">
                <a:solidFill>
                  <a:srgbClr val="526875"/>
                </a:solidFill>
                <a:latin typeface="Arial"/>
              </a:rPr>
              <a:t xml:space="preserve">Flow F1/F5</a:t>
            </a:r>
            <a:endParaRPr lang="en-US"/>
          </a:p>
          <a:p>
            <a:pPr>
              <a:lnSpc>
                <a:spcPct val="130000"/>
              </a:lnSpc>
            </a:pPr>
            <a:r>
              <a:rPr lang="en-US" sz="1725" b="0">
                <a:solidFill>
                  <a:srgbClr val="526875"/>
                </a:solidFill>
                <a:latin typeface="Arial"/>
              </a:rPr>
              <a:t xml:space="preserve">State saved progress</a:t>
            </a:r>
            <a:endParaRPr lang="en-US"/>
          </a:p>
        </p:txBody>
      </p:sp>
      <p:sp>
        <p:nvSpPr>
          <p:cNvPr id="18" name="Farshore / Phase 2 / 2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3: Introductio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W03: Introduction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3  Introductio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W03  Introduction</a:t>
            </a:r>
            <a:endParaRPr lang="en-US"/>
          </a:p>
        </p:txBody>
      </p:sp>
      <p:sp>
        <p:nvSpPr>
          <p:cNvPr id="6" name="S02 / story / F1"/>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S02 / story / F1</a:t>
            </a:r>
            <a:endParaRPr lang="en-US"/>
          </a:p>
        </p:txBody>
      </p:sp>
      <p:sp>
        <p:nvSpPr>
          <p:cNvPr id="7" name="rect"/>
          <p:cNvSpPr txBox="0"/>
          <p:nvPr/>
        </p:nvSpPr>
        <p:spPr>
          <a:xfrm>
            <a:off x="762000" y="2284095"/>
            <a:ext cx="5505450" cy="495300"/>
          </a:xfrm>
          <a:prstGeom prst="rect">
            <a:avLst/>
          </a:prstGeom>
          <a:solidFill>
            <a:srgbClr val="EEEEEE"/>
          </a:solidFill>
          <a:ln w="12700">
            <a:solidFill>
              <a:srgbClr val="AAAAAA"/>
            </a:solidFill>
          </a:ln>
        </p:spPr>
      </p:sp>
      <p:sp>
        <p:nvSpPr>
          <p:cNvPr id="8" name="Odysseus portrait placeholder"/>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Odysseus portrait placeholder</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Short authored Odyssey context"/>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Short authored Odyssey context</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Introduction progress"/>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Introduction progress</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Next / Skip"/>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Next / Skip</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Skip moves to the map. This story text is authored, wit"/>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Skip moves to the map. This story text is</a:t>
            </a:r>
            <a:endParaRPr lang="en-US"/>
          </a:p>
          <a:p>
            <a:pPr>
              <a:lnSpc>
                <a:spcPct val="130000"/>
              </a:lnSpc>
            </a:pPr>
            <a:r>
              <a:rPr lang="en-US" sz="1950" b="0">
                <a:solidFill>
                  <a:srgbClr val="102E40"/>
                </a:solidFill>
                <a:latin typeface="Arial"/>
              </a:rPr>
              <a:t xml:space="preserve">authored, with no generation.</a:t>
            </a:r>
            <a:endParaRPr lang="en-US"/>
          </a:p>
        </p:txBody>
      </p:sp>
      <p:sp>
        <p:nvSpPr>
          <p:cNvPr id="17" name="Screen S02 Flow F1 State stor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S02</a:t>
            </a:r>
            <a:endParaRPr lang="en-US"/>
          </a:p>
          <a:p>
            <a:pPr>
              <a:lnSpc>
                <a:spcPct val="130000"/>
              </a:lnSpc>
            </a:pPr>
            <a:r>
              <a:rPr lang="en-US" sz="1725" b="0">
                <a:solidFill>
                  <a:srgbClr val="526875"/>
                </a:solidFill>
                <a:latin typeface="Arial"/>
              </a:rPr>
              <a:t xml:space="preserve">Flow F1</a:t>
            </a:r>
            <a:endParaRPr lang="en-US"/>
          </a:p>
          <a:p>
            <a:pPr>
              <a:lnSpc>
                <a:spcPct val="130000"/>
              </a:lnSpc>
            </a:pPr>
            <a:r>
              <a:rPr lang="en-US" sz="1725" b="0">
                <a:solidFill>
                  <a:srgbClr val="526875"/>
                </a:solidFill>
                <a:latin typeface="Arial"/>
              </a:rPr>
              <a:t xml:space="preserve">State story</a:t>
            </a:r>
            <a:endParaRPr lang="en-US"/>
          </a:p>
        </p:txBody>
      </p:sp>
      <p:sp>
        <p:nvSpPr>
          <p:cNvPr id="18" name="Farshore / Phase 2 / 2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4: Five-stop voyage map"/>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W04: Five-stop voyage map</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4  Five-stop voyage map"/>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W04  Five-stop voyage map</a:t>
            </a:r>
            <a:endParaRPr lang="en-US"/>
          </a:p>
        </p:txBody>
      </p:sp>
      <p:sp>
        <p:nvSpPr>
          <p:cNvPr id="6" name="S03 / progress / F1/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S03 / progress / F1/F5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Your way home / 2 of 5 passed"/>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way home / 2 of 5 passed</a:t>
            </a:r>
            <a:endParaRPr lang="en-US"/>
          </a:p>
        </p:txBody>
      </p:sp>
      <p:sp>
        <p:nvSpPr>
          <p:cNvPr id="9" name="rect"/>
          <p:cNvSpPr txBox="0"/>
          <p:nvPr/>
        </p:nvSpPr>
        <p:spPr>
          <a:xfrm>
            <a:off x="762000" y="2855595"/>
            <a:ext cx="5505450" cy="495300"/>
          </a:xfrm>
          <a:prstGeom prst="rect">
            <a:avLst/>
          </a:prstGeom>
          <a:solidFill>
            <a:srgbClr val="EEEEEE"/>
          </a:solidFill>
          <a:ln w="12700">
            <a:solidFill>
              <a:srgbClr val="AAAAAA"/>
            </a:solidFill>
          </a:ln>
        </p:spPr>
      </p:sp>
      <p:sp>
        <p:nvSpPr>
          <p:cNvPr id="10" name="1 Cyclops, 2 Circe, 3 Sirens, 4 Strait, 5 Bow"/>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1 Cyclops, 2 Circe, 3 Sirens, 4 Strait, 5 Bow</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Each stop: Cleared / Assisted / Ready / Locke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Each stop: Cleared / Assisted / Ready / Locked</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Continue voyage / choose an unlocked stop"/>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Continue voyage / choose an unlocked stop</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Locked later trials explain the preceding requirement. "/>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Locked later trials explain the preceding</a:t>
            </a:r>
            <a:endParaRPr lang="en-US"/>
          </a:p>
          <a:p>
            <a:pPr>
              <a:lnSpc>
                <a:spcPct val="130000"/>
              </a:lnSpc>
            </a:pPr>
            <a:r>
              <a:rPr lang="en-US" sz="1950" b="0">
                <a:solidFill>
                  <a:srgbClr val="102E40"/>
                </a:solidFill>
                <a:latin typeface="Arial"/>
              </a:rPr>
              <a:t xml:space="preserve">requirement. Migration adds two new</a:t>
            </a:r>
            <a:endParaRPr lang="en-US"/>
          </a:p>
          <a:p>
            <a:pPr>
              <a:lnSpc>
                <a:spcPct val="130000"/>
              </a:lnSpc>
            </a:pPr>
            <a:r>
              <a:rPr lang="en-US" sz="1950" b="0">
                <a:solidFill>
                  <a:srgbClr val="102E40"/>
                </a:solidFill>
                <a:latin typeface="Arial"/>
              </a:rPr>
              <a:t xml:space="preserve">pending shores.</a:t>
            </a:r>
            <a:endParaRPr lang="en-US"/>
          </a:p>
        </p:txBody>
      </p:sp>
      <p:sp>
        <p:nvSpPr>
          <p:cNvPr id="17" name="Screen S03 Flow F1/F5 State progress"/>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S03</a:t>
            </a:r>
            <a:endParaRPr lang="en-US"/>
          </a:p>
          <a:p>
            <a:pPr>
              <a:lnSpc>
                <a:spcPct val="130000"/>
              </a:lnSpc>
            </a:pPr>
            <a:r>
              <a:rPr lang="en-US" sz="1725" b="0">
                <a:solidFill>
                  <a:srgbClr val="526875"/>
                </a:solidFill>
                <a:latin typeface="Arial"/>
              </a:rPr>
              <a:t xml:space="preserve">Flow F1/F5</a:t>
            </a:r>
            <a:endParaRPr lang="en-US"/>
          </a:p>
          <a:p>
            <a:pPr>
              <a:lnSpc>
                <a:spcPct val="130000"/>
              </a:lnSpc>
            </a:pPr>
            <a:r>
              <a:rPr lang="en-US" sz="1725" b="0">
                <a:solidFill>
                  <a:srgbClr val="526875"/>
                </a:solidFill>
                <a:latin typeface="Arial"/>
              </a:rPr>
              <a:t xml:space="preserve">State progress</a:t>
            </a:r>
            <a:endParaRPr lang="en-US"/>
          </a:p>
        </p:txBody>
      </p:sp>
      <p:sp>
        <p:nvSpPr>
          <p:cNvPr id="18" name="Farshore / Phase 2 / 2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5: Model planning - initial"/>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W05: Model planning - initial</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5  Model planning - initial"/>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W05  Model planning - initial</a:t>
            </a:r>
            <a:endParaRPr lang="en-US"/>
          </a:p>
        </p:txBody>
      </p:sp>
      <p:sp>
        <p:nvSpPr>
          <p:cNvPr id="6" name="S04 / A1 initial / F2"/>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initial / F2</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Rival, objective, controls, myth context"/>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Rival, objective, controls, myth context</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Difficulty: Easy / Normal / Har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Difficulty: Easy / Normal / Hard</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Arcade Solo / AI Rival Battle"/>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Arcade Solo / AI Rival Battle</a:t>
            </a:r>
            <a:endParaRPr lang="en-US"/>
          </a:p>
        </p:txBody>
      </p:sp>
      <p:sp>
        <p:nvSpPr>
          <p:cNvPr id="13" name="rect"/>
          <p:cNvSpPr txBox="0"/>
          <p:nvPr/>
        </p:nvSpPr>
        <p:spPr>
          <a:xfrm>
            <a:off x="762000" y="3998595"/>
            <a:ext cx="5505450" cy="495300"/>
          </a:xfrm>
          <a:prstGeom prst="rect">
            <a:avLst/>
          </a:prstGeom>
          <a:solidFill>
            <a:srgbClr val="FAFAFA"/>
          </a:solidFill>
          <a:ln w="12700">
            <a:solidFill>
              <a:srgbClr val="AAAAAA"/>
            </a:solidFill>
          </a:ln>
        </p:spPr>
      </p:sp>
      <p:sp>
        <p:nvSpPr>
          <p:cNvPr id="14" name="Local adaptive AI is ready now"/>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Local adaptive AI is ready now</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Prepare with connected model"/>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Prepare with connected model</a:t>
            </a:r>
            <a:endParaRPr lang="en-US"/>
          </a:p>
        </p:txBody>
      </p:sp>
      <p:sp>
        <p:nvSpPr>
          <p:cNvPr id="17" name="rect"/>
          <p:cNvSpPr txBox="0"/>
          <p:nvPr/>
        </p:nvSpPr>
        <p:spPr>
          <a:xfrm>
            <a:off x="762000" y="5141595"/>
            <a:ext cx="5505450" cy="495300"/>
          </a:xfrm>
          <a:prstGeom prst="rect">
            <a:avLst/>
          </a:prstGeom>
          <a:solidFill>
            <a:srgbClr val="EEEEEE"/>
          </a:solidFill>
          <a:ln w="12700">
            <a:solidFill>
              <a:srgbClr val="AAAAAA"/>
            </a:solidFill>
          </a:ln>
        </p:spPr>
      </p:sp>
      <p:sp>
        <p:nvSpPr>
          <p:cNvPr id="18" name="Start local AI duel / Practice"/>
          <p:cNvSpPr txBox="1"/>
          <p:nvPr/>
        </p:nvSpPr>
        <p:spPr>
          <a:xfrm>
            <a:off x="876300" y="5236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local AI duel / Practice</a:t>
            </a:r>
            <a:endParaRPr lang="en-US"/>
          </a:p>
        </p:txBody>
      </p:sp>
      <p:sp>
        <p:nvSpPr>
          <p:cNvPr id="19" name="Implemented; privacy detail Proposed"/>
          <p:cNvSpPr txBox="1"/>
          <p:nvPr/>
        </p:nvSpPr>
        <p:spPr>
          <a:xfrm>
            <a:off x="6953250" y="1638300"/>
            <a:ext cx="4810125" cy="883310"/>
          </a:xfrm>
          <a:prstGeom prst="rect">
            <a:avLst/>
          </a:prstGeom>
          <a:noFill/>
          <a:ln>
            <a:noFill/>
          </a:ln>
        </p:spPr>
        <p:txBody>
          <a:bodyPr wrap="square" lIns="0" rIns="0" tIns="0" bIns="0" anchor="t">
            <a:noAutofit/>
          </a:bodyPr>
          <a:lstStyle/>
          <a:p>
            <a:pPr>
              <a:lnSpc>
                <a:spcPct val="130000"/>
              </a:lnSpc>
            </a:pPr>
            <a:r>
              <a:rPr lang="en-US" sz="2025" b="1">
                <a:solidFill>
                  <a:srgbClr val="A9884B"/>
                </a:solidFill>
                <a:latin typeface="Arial"/>
              </a:rPr>
              <a:t xml:space="preserve">Implemented; privacy detail</a:t>
            </a:r>
            <a:endParaRPr lang="en-US"/>
          </a:p>
          <a:p>
            <a:pPr>
              <a:lnSpc>
                <a:spcPct val="130000"/>
              </a:lnSpc>
            </a:pPr>
            <a:r>
              <a:rPr lang="en-US" sz="2025" b="1">
                <a:solidFill>
                  <a:srgbClr val="A9884B"/>
                </a:solidFill>
                <a:latin typeface="Arial"/>
              </a:rPr>
              <a:t xml:space="preserve">Proposed</a:t>
            </a:r>
            <a:endParaRPr lang="en-US"/>
          </a:p>
        </p:txBody>
      </p:sp>
      <p:sp>
        <p:nvSpPr>
          <p:cNvPr id="20" name="A1 begins only on Prepare. Numeric attempt summaries pr"/>
          <p:cNvSpPr txBox="1"/>
          <p:nvPr/>
        </p:nvSpPr>
        <p:spPr>
          <a:xfrm>
            <a:off x="6953250" y="2667000"/>
            <a:ext cx="4810125" cy="161387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A1 begins only on Prepare. Numeric</a:t>
            </a:r>
            <a:endParaRPr lang="en-US"/>
          </a:p>
          <a:p>
            <a:pPr>
              <a:lnSpc>
                <a:spcPct val="130000"/>
              </a:lnSpc>
            </a:pPr>
            <a:r>
              <a:rPr lang="en-US" sz="1950" b="0">
                <a:solidFill>
                  <a:srgbClr val="102E40"/>
                </a:solidFill>
                <a:latin typeface="Arial"/>
              </a:rPr>
              <a:t xml:space="preserve">attempt summaries provide context.</a:t>
            </a:r>
            <a:endParaRPr lang="en-US"/>
          </a:p>
          <a:p>
            <a:pPr>
              <a:lnSpc>
                <a:spcPct val="130000"/>
              </a:lnSpc>
            </a:pPr>
            <a:r>
              <a:rPr lang="en-US" sz="1950" b="0">
                <a:solidFill>
                  <a:srgbClr val="102E40"/>
                </a:solidFill>
                <a:latin typeface="Arial"/>
              </a:rPr>
              <a:t xml:space="preserve">Proposed detail: visible</a:t>
            </a:r>
            <a:endParaRPr lang="en-US"/>
          </a:p>
          <a:p>
            <a:pPr>
              <a:lnSpc>
                <a:spcPct val="130000"/>
              </a:lnSpc>
            </a:pPr>
            <a:r>
              <a:rPr lang="en-US" sz="1950" b="0">
                <a:solidFill>
                  <a:srgbClr val="102E40"/>
                </a:solidFill>
                <a:latin typeface="Arial"/>
              </a:rPr>
              <a:t xml:space="preserve">loopback-provider disclosure.</a:t>
            </a:r>
            <a:endParaRPr lang="en-US"/>
          </a:p>
        </p:txBody>
      </p:sp>
      <p:sp>
        <p:nvSpPr>
          <p:cNvPr id="21" name="Screen S04 Flow F2 State A1 initial"/>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F2</a:t>
            </a:r>
            <a:endParaRPr lang="en-US"/>
          </a:p>
          <a:p>
            <a:pPr>
              <a:lnSpc>
                <a:spcPct val="130000"/>
              </a:lnSpc>
            </a:pPr>
            <a:r>
              <a:rPr lang="en-US" sz="1725" b="0">
                <a:solidFill>
                  <a:srgbClr val="526875"/>
                </a:solidFill>
                <a:latin typeface="Arial"/>
              </a:rPr>
              <a:t xml:space="preserve">State A1 initial</a:t>
            </a:r>
            <a:endParaRPr lang="en-US"/>
          </a:p>
        </p:txBody>
      </p:sp>
      <p:sp>
        <p:nvSpPr>
          <p:cNvPr id="22" name="Farshore / Phase 2 / 2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6: Model planning - loading"/>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W06: Model planning - loading</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6  Model planning - loading"/>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W06  Model planning - loading</a:t>
            </a:r>
            <a:endParaRPr lang="en-US"/>
          </a:p>
        </p:txBody>
      </p:sp>
      <p:sp>
        <p:nvSpPr>
          <p:cNvPr id="6" name="S04 / A1 loading / F2/F4"/>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loading / F2/F4</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Preparing Circe's strategy..."/>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Preparing Circe's strategy...</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12 seconds elapsed. No round clock is running."/>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12 seconds elapsed. No round clock is running.</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Input settings remain selecte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Input settings remain selected</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Cancel preparation"/>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Cancel preparation</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Practice (cancels preparation before play)"/>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Practice (cancels preparation before play)</a:t>
            </a:r>
            <a:endParaRPr lang="en-US"/>
          </a:p>
        </p:txBody>
      </p:sp>
      <p:sp>
        <p:nvSpPr>
          <p:cNvPr id="17"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8" name="Clear feedback appears immediately. Cancel ignores stal"/>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Clear feedback appears immediately.</a:t>
            </a:r>
            <a:endParaRPr lang="en-US"/>
          </a:p>
          <a:p>
            <a:pPr>
              <a:lnSpc>
                <a:spcPct val="130000"/>
              </a:lnSpc>
            </a:pPr>
            <a:r>
              <a:rPr lang="en-US" sz="1950" b="0">
                <a:solidFill>
                  <a:srgbClr val="102E40"/>
                </a:solidFill>
                <a:latin typeface="Arial"/>
              </a:rPr>
              <a:t xml:space="preserve">Cancel ignores stale replies. Start is</a:t>
            </a:r>
            <a:endParaRPr lang="en-US"/>
          </a:p>
          <a:p>
            <a:pPr>
              <a:lnSpc>
                <a:spcPct val="130000"/>
              </a:lnSpc>
            </a:pPr>
            <a:r>
              <a:rPr lang="en-US" sz="1950" b="0">
                <a:solidFill>
                  <a:srgbClr val="102E40"/>
                </a:solidFill>
                <a:latin typeface="Arial"/>
              </a:rPr>
              <a:t xml:space="preserve">disabled while loading.</a:t>
            </a:r>
            <a:endParaRPr lang="en-US"/>
          </a:p>
        </p:txBody>
      </p:sp>
      <p:sp>
        <p:nvSpPr>
          <p:cNvPr id="19" name="Screen S04 Flow F2/F4 State A1 loading"/>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F2/F4</a:t>
            </a:r>
            <a:endParaRPr lang="en-US"/>
          </a:p>
          <a:p>
            <a:pPr>
              <a:lnSpc>
                <a:spcPct val="130000"/>
              </a:lnSpc>
            </a:pPr>
            <a:r>
              <a:rPr lang="en-US" sz="1725" b="0">
                <a:solidFill>
                  <a:srgbClr val="526875"/>
                </a:solidFill>
                <a:latin typeface="Arial"/>
              </a:rPr>
              <a:t xml:space="preserve">State A1 loading</a:t>
            </a:r>
            <a:endParaRPr lang="en-US"/>
          </a:p>
        </p:txBody>
      </p:sp>
      <p:sp>
        <p:nvSpPr>
          <p:cNvPr id="20" name="Farshore / Phase 2 / 2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7: Model planning - read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W07: Model planning - ready</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7  Model planning - ready"/>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W07  Model planning - ready</a:t>
            </a:r>
            <a:endParaRPr lang="en-US"/>
          </a:p>
        </p:txBody>
      </p:sp>
      <p:sp>
        <p:nvSpPr>
          <p:cNvPr id="6" name="S04 / A1 success / F2"/>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success / F2</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Model strategy ready: Chain Alchemist"/>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Model strategy ready: Chain Alchemist</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Circe previews a piece to build chain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Circe previews a piece to build chains.</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Normal rules stay fixed. Rival acts locally."/>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Normal rules stay fixed. Rival acts locally.</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Start model-planned duel"/>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model-planned duel</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Prepare another / edit difficulty / Solo"/>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Prepare another / edit difficulty / Solo</a:t>
            </a:r>
            <a:endParaRPr lang="en-US"/>
          </a:p>
        </p:txBody>
      </p:sp>
      <p:sp>
        <p:nvSpPr>
          <p:cNvPr id="17"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8" name="Review precedes play. Changing mode or difficulty disca"/>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Review precedes play. Changing mode</a:t>
            </a:r>
            <a:endParaRPr lang="en-US"/>
          </a:p>
          <a:p>
            <a:pPr>
              <a:lnSpc>
                <a:spcPct val="130000"/>
              </a:lnSpc>
            </a:pPr>
            <a:r>
              <a:rPr lang="en-US" sz="1950" b="0">
                <a:solidFill>
                  <a:srgbClr val="102E40"/>
                </a:solidFill>
                <a:latin typeface="Arial"/>
              </a:rPr>
              <a:t xml:space="preserve">or difficulty discards the ready plan. No</a:t>
            </a:r>
            <a:endParaRPr lang="en-US"/>
          </a:p>
          <a:p>
            <a:pPr>
              <a:lnSpc>
                <a:spcPct val="130000"/>
              </a:lnSpc>
            </a:pPr>
            <a:r>
              <a:rPr lang="en-US" sz="1950" b="0">
                <a:solidFill>
                  <a:srgbClr val="102E40"/>
                </a:solidFill>
                <a:latin typeface="Arial"/>
              </a:rPr>
              <a:t xml:space="preserve">scoring changes during preparation.</a:t>
            </a:r>
            <a:endParaRPr lang="en-US"/>
          </a:p>
        </p:txBody>
      </p:sp>
      <p:sp>
        <p:nvSpPr>
          <p:cNvPr id="19" name="Screen S04 Flow F2 State A1 success"/>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F2</a:t>
            </a:r>
            <a:endParaRPr lang="en-US"/>
          </a:p>
          <a:p>
            <a:pPr>
              <a:lnSpc>
                <a:spcPct val="130000"/>
              </a:lnSpc>
            </a:pPr>
            <a:r>
              <a:rPr lang="en-US" sz="1725" b="0">
                <a:solidFill>
                  <a:srgbClr val="526875"/>
                </a:solidFill>
                <a:latin typeface="Arial"/>
              </a:rPr>
              <a:t xml:space="preserve">State A1 success</a:t>
            </a:r>
            <a:endParaRPr lang="en-US"/>
          </a:p>
        </p:txBody>
      </p:sp>
      <p:sp>
        <p:nvSpPr>
          <p:cNvPr id="20" name="Farshore / Phase 2 / 29"/>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8: Model planning - unsupported"/>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W08: Model planning - unsupported</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8  Model planning - unsupported"/>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W08  Model planning - unsupported</a:t>
            </a:r>
            <a:endParaRPr lang="en-US"/>
          </a:p>
        </p:txBody>
      </p:sp>
      <p:sp>
        <p:nvSpPr>
          <p:cNvPr id="6" name="S04 / A1 uncertain / F2/F4"/>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uncertain / F2/F4</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The model returned an unsupported strategy."/>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The model returned an unsupported strategy.</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Nothing changed. No game has starte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Nothing changed. No game has started.</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No confidence percentage"/>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No confidence percentage</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Retry model preparation"/>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Retry model preparation</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Start local AI duel / Solo / Practice"/>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local AI duel / Solo / Practice</a:t>
            </a:r>
            <a:endParaRPr lang="en-US"/>
          </a:p>
        </p:txBody>
      </p:sp>
      <p:sp>
        <p:nvSpPr>
          <p:cNvPr id="17"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8" name="Invalid or extra fields cannot become a rival plan. Unc"/>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Invalid or extra fields cannot become a</a:t>
            </a:r>
            <a:endParaRPr lang="en-US"/>
          </a:p>
          <a:p>
            <a:pPr>
              <a:lnSpc>
                <a:spcPct val="130000"/>
              </a:lnSpc>
            </a:pPr>
            <a:r>
              <a:rPr lang="en-US" sz="1950" b="0">
                <a:solidFill>
                  <a:srgbClr val="102E40"/>
                </a:solidFill>
                <a:latin typeface="Arial"/>
              </a:rPr>
              <a:t xml:space="preserve">rival plan. Uncertain describes suitability,</a:t>
            </a:r>
            <a:endParaRPr lang="en-US"/>
          </a:p>
          <a:p>
            <a:pPr>
              <a:lnSpc>
                <a:spcPct val="130000"/>
              </a:lnSpc>
            </a:pPr>
            <a:r>
              <a:rPr lang="en-US" sz="1950" b="0">
                <a:solidFill>
                  <a:srgbClr val="102E40"/>
                </a:solidFill>
                <a:latin typeface="Arial"/>
              </a:rPr>
              <a:t xml:space="preserve">not a measured probability.</a:t>
            </a:r>
            <a:endParaRPr lang="en-US"/>
          </a:p>
        </p:txBody>
      </p:sp>
      <p:sp>
        <p:nvSpPr>
          <p:cNvPr id="19" name="Screen S04 Flow F2/F4 State A1 uncertain"/>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F2/F4</a:t>
            </a:r>
            <a:endParaRPr lang="en-US"/>
          </a:p>
          <a:p>
            <a:pPr>
              <a:lnSpc>
                <a:spcPct val="130000"/>
              </a:lnSpc>
            </a:pPr>
            <a:r>
              <a:rPr lang="en-US" sz="1725" b="0">
                <a:solidFill>
                  <a:srgbClr val="526875"/>
                </a:solidFill>
                <a:latin typeface="Arial"/>
              </a:rPr>
              <a:t xml:space="preserve">State A1 uncertain</a:t>
            </a:r>
            <a:endParaRPr lang="en-US"/>
          </a:p>
        </p:txBody>
      </p:sp>
      <p:sp>
        <p:nvSpPr>
          <p:cNvPr id="20" name="Farshore / Phase 2 / 30"/>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09: Model planning - service failur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W09: Model planning - service failure</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09  Model planning - service failure"/>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W09  Model planning - service failure</a:t>
            </a:r>
            <a:endParaRPr lang="en-US"/>
          </a:p>
        </p:txBody>
      </p:sp>
      <p:sp>
        <p:nvSpPr>
          <p:cNvPr id="6" name="S04 / A1 error / F4"/>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error / F4</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The model is unreachable or took too long."/>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The model is unreachable or took too long.</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Your voyage is kept."/>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voyage is kept.</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Retry model preparation / check Settings"/>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Retry model preparation / check Settings</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Start local AI duel / switch to Solo"/>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local AI duel / switch to Solo</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Practice / return to map"/>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Practice / return to map</a:t>
            </a:r>
            <a:endParaRPr lang="en-US"/>
          </a:p>
        </p:txBody>
      </p:sp>
      <p:sp>
        <p:nvSpPr>
          <p:cNvPr id="17"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8" name="A failed request never silently becomes model-planned p"/>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 failed request never silently becomes</a:t>
            </a:r>
            <a:endParaRPr lang="en-US"/>
          </a:p>
          <a:p>
            <a:pPr>
              <a:lnSpc>
                <a:spcPct val="130000"/>
              </a:lnSpc>
            </a:pPr>
            <a:r>
              <a:rPr lang="en-US" sz="1950" b="0">
                <a:solidFill>
                  <a:srgbClr val="102E40"/>
                </a:solidFill>
                <a:latin typeface="Arial"/>
              </a:rPr>
              <a:t xml:space="preserve">model-planned play. Every fallback has</a:t>
            </a:r>
            <a:endParaRPr lang="en-US"/>
          </a:p>
          <a:p>
            <a:pPr>
              <a:lnSpc>
                <a:spcPct val="130000"/>
              </a:lnSpc>
            </a:pPr>
            <a:r>
              <a:rPr lang="en-US" sz="1950" b="0">
                <a:solidFill>
                  <a:srgbClr val="102E40"/>
                </a:solidFill>
                <a:latin typeface="Arial"/>
              </a:rPr>
              <a:t xml:space="preserve">its own label.</a:t>
            </a:r>
            <a:endParaRPr lang="en-US"/>
          </a:p>
        </p:txBody>
      </p:sp>
      <p:sp>
        <p:nvSpPr>
          <p:cNvPr id="19" name="Screen S04 Flow F4 State A1 error"/>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F4</a:t>
            </a:r>
            <a:endParaRPr lang="en-US"/>
          </a:p>
          <a:p>
            <a:pPr>
              <a:lnSpc>
                <a:spcPct val="130000"/>
              </a:lnSpc>
            </a:pPr>
            <a:r>
              <a:rPr lang="en-US" sz="1725" b="0">
                <a:solidFill>
                  <a:srgbClr val="526875"/>
                </a:solidFill>
                <a:latin typeface="Arial"/>
              </a:rPr>
              <a:t xml:space="preserve">State A1 error</a:t>
            </a:r>
            <a:endParaRPr lang="en-US"/>
          </a:p>
        </p:txBody>
      </p:sp>
      <p:sp>
        <p:nvSpPr>
          <p:cNvPr id="20" name="Farshore / Phase 2 / 3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0: Unsupported input"/>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W10: Unsupported input</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0  Unsupported input"/>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W10  Unsupported input</a:t>
            </a:r>
            <a:endParaRPr lang="en-US"/>
          </a:p>
        </p:txBody>
      </p:sp>
      <p:sp>
        <p:nvSpPr>
          <p:cNvPr id="6" name="S04 / validation error / F4"/>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validation error / F4</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Choose a supported encounter and difficulty."/>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Choose a supported encounter and difficulty.</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Restore a supported choice: Easy / Normal / Har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Restore a supported choice: Easy / Normal / Hard</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At most two numeric summaries are accepte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At most two numeric summaries are accepted.</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Try again / return to map"/>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Try again / return to map</a:t>
            </a:r>
            <a:endParaRPr lang="en-US"/>
          </a:p>
        </p:txBody>
      </p:sp>
      <p:sp>
        <p:nvSpPr>
          <p:cNvPr id="15" name="Server validation implemented; inline state Proposed"/>
          <p:cNvSpPr txBox="1"/>
          <p:nvPr/>
        </p:nvSpPr>
        <p:spPr>
          <a:xfrm>
            <a:off x="6953250" y="1638300"/>
            <a:ext cx="4810125" cy="883310"/>
          </a:xfrm>
          <a:prstGeom prst="rect">
            <a:avLst/>
          </a:prstGeom>
          <a:noFill/>
          <a:ln>
            <a:noFill/>
          </a:ln>
        </p:spPr>
        <p:txBody>
          <a:bodyPr wrap="square" lIns="0" rIns="0" tIns="0" bIns="0" anchor="t">
            <a:noAutofit/>
          </a:bodyPr>
          <a:lstStyle/>
          <a:p>
            <a:pPr>
              <a:lnSpc>
                <a:spcPct val="130000"/>
              </a:lnSpc>
            </a:pPr>
            <a:r>
              <a:rPr lang="en-US" sz="2025" b="1">
                <a:solidFill>
                  <a:srgbClr val="A9884B"/>
                </a:solidFill>
                <a:latin typeface="Arial"/>
              </a:rPr>
              <a:t xml:space="preserve">Server validation implemented;</a:t>
            </a:r>
            <a:endParaRPr lang="en-US"/>
          </a:p>
          <a:p>
            <a:pPr>
              <a:lnSpc>
                <a:spcPct val="130000"/>
              </a:lnSpc>
            </a:pPr>
            <a:r>
              <a:rPr lang="en-US" sz="2025" b="1">
                <a:solidFill>
                  <a:srgbClr val="A9884B"/>
                </a:solidFill>
                <a:latin typeface="Arial"/>
              </a:rPr>
              <a:t xml:space="preserve">inline state Proposed</a:t>
            </a:r>
            <a:endParaRPr lang="en-US"/>
          </a:p>
        </p:txBody>
      </p:sp>
      <p:sp>
        <p:nvSpPr>
          <p:cNvPr id="16" name="The visible selectors constrain ordinary input. The ser"/>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The visible selectors constrain ordinary</a:t>
            </a:r>
            <a:endParaRPr lang="en-US"/>
          </a:p>
          <a:p>
            <a:pPr>
              <a:lnSpc>
                <a:spcPct val="130000"/>
              </a:lnSpc>
            </a:pPr>
            <a:r>
              <a:rPr lang="en-US" sz="1950" b="0">
                <a:solidFill>
                  <a:srgbClr val="102E40"/>
                </a:solidFill>
                <a:latin typeface="Arial"/>
              </a:rPr>
              <a:t xml:space="preserve">input. The server rejects malformed or</a:t>
            </a:r>
            <a:endParaRPr lang="en-US"/>
          </a:p>
          <a:p>
            <a:pPr>
              <a:lnSpc>
                <a:spcPct val="130000"/>
              </a:lnSpc>
            </a:pPr>
            <a:r>
              <a:rPr lang="en-US" sz="1950" b="0">
                <a:solidFill>
                  <a:srgbClr val="102E40"/>
                </a:solidFill>
                <a:latin typeface="Arial"/>
              </a:rPr>
              <a:t xml:space="preserve">tampered requests before inference.</a:t>
            </a:r>
            <a:endParaRPr lang="en-US"/>
          </a:p>
        </p:txBody>
      </p:sp>
      <p:sp>
        <p:nvSpPr>
          <p:cNvPr id="17" name="Screen S04 Flow F4 State validation error"/>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F4</a:t>
            </a:r>
            <a:endParaRPr lang="en-US"/>
          </a:p>
          <a:p>
            <a:pPr>
              <a:lnSpc>
                <a:spcPct val="130000"/>
              </a:lnSpc>
            </a:pPr>
            <a:r>
              <a:rPr lang="en-US" sz="1725" b="0">
                <a:solidFill>
                  <a:srgbClr val="526875"/>
                </a:solidFill>
                <a:latin typeface="Arial"/>
              </a:rPr>
              <a:t xml:space="preserve">State validation error</a:t>
            </a:r>
            <a:endParaRPr lang="en-US"/>
          </a:p>
        </p:txBody>
      </p:sp>
      <p:sp>
        <p:nvSpPr>
          <p:cNvPr id="18" name="Farshore / Phase 2 / 3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1: Polyphemus grid"/>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W11: Polyphemus grid</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1  Polyphemus grid"/>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W11  Polyphemus grid</a:t>
            </a:r>
            <a:endParaRPr lang="en-US"/>
          </a:p>
        </p:txBody>
      </p:sp>
      <p:sp>
        <p:nvSpPr>
          <p:cNvPr id="6" name="S05 / player / smash warning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S05 / player / smash warning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Grid stealth / turn / hits / current rival mod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Grid stealth / turn / hits / current rival mode</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rect"/>
          <p:cNvSpPr txBox="0"/>
          <p:nvPr/>
        </p:nvSpPr>
        <p:spPr>
          <a:xfrm>
            <a:off x="857250" y="2931795"/>
            <a:ext cx="147638" cy="147638"/>
          </a:xfrm>
          <a:prstGeom prst="rect">
            <a:avLst/>
          </a:prstGeom>
          <a:solidFill>
            <a:srgbClr val="FFFFFF"/>
          </a:solidFill>
          <a:ln w="12700">
            <a:solidFill>
              <a:srgbClr val="999999"/>
            </a:solidFill>
          </a:ln>
        </p:spPr>
      </p:sp>
      <p:sp>
        <p:nvSpPr>
          <p:cNvPr id="11" name="rect"/>
          <p:cNvSpPr txBox="0"/>
          <p:nvPr/>
        </p:nvSpPr>
        <p:spPr>
          <a:xfrm>
            <a:off x="1004888" y="2931795"/>
            <a:ext cx="147638" cy="147638"/>
          </a:xfrm>
          <a:prstGeom prst="rect">
            <a:avLst/>
          </a:prstGeom>
          <a:solidFill>
            <a:srgbClr val="FFFFFF"/>
          </a:solidFill>
          <a:ln w="12700">
            <a:solidFill>
              <a:srgbClr val="999999"/>
            </a:solidFill>
          </a:ln>
        </p:spPr>
      </p:sp>
      <p:sp>
        <p:nvSpPr>
          <p:cNvPr id="12" name="rect"/>
          <p:cNvSpPr txBox="0"/>
          <p:nvPr/>
        </p:nvSpPr>
        <p:spPr>
          <a:xfrm>
            <a:off x="1152525" y="2931795"/>
            <a:ext cx="147638" cy="147638"/>
          </a:xfrm>
          <a:prstGeom prst="rect">
            <a:avLst/>
          </a:prstGeom>
          <a:solidFill>
            <a:srgbClr val="FFFFFF"/>
          </a:solidFill>
          <a:ln w="12700">
            <a:solidFill>
              <a:srgbClr val="999999"/>
            </a:solidFill>
          </a:ln>
        </p:spPr>
      </p:sp>
      <p:sp>
        <p:nvSpPr>
          <p:cNvPr id="13" name="rect"/>
          <p:cNvSpPr txBox="0"/>
          <p:nvPr/>
        </p:nvSpPr>
        <p:spPr>
          <a:xfrm>
            <a:off x="1300162" y="2931795"/>
            <a:ext cx="147638" cy="147638"/>
          </a:xfrm>
          <a:prstGeom prst="rect">
            <a:avLst/>
          </a:prstGeom>
          <a:solidFill>
            <a:srgbClr val="FFFFFF"/>
          </a:solidFill>
          <a:ln w="12700">
            <a:solidFill>
              <a:srgbClr val="999999"/>
            </a:solidFill>
          </a:ln>
        </p:spPr>
      </p:sp>
      <p:sp>
        <p:nvSpPr>
          <p:cNvPr id="14" name="rect"/>
          <p:cNvSpPr txBox="0"/>
          <p:nvPr/>
        </p:nvSpPr>
        <p:spPr>
          <a:xfrm>
            <a:off x="1447800" y="2931795"/>
            <a:ext cx="147638" cy="147638"/>
          </a:xfrm>
          <a:prstGeom prst="rect">
            <a:avLst/>
          </a:prstGeom>
          <a:solidFill>
            <a:srgbClr val="FFFFFF"/>
          </a:solidFill>
          <a:ln w="12700">
            <a:solidFill>
              <a:srgbClr val="999999"/>
            </a:solidFill>
          </a:ln>
        </p:spPr>
      </p:sp>
      <p:sp>
        <p:nvSpPr>
          <p:cNvPr id="15" name="S"/>
          <p:cNvSpPr txBox="1"/>
          <p:nvPr/>
        </p:nvSpPr>
        <p:spPr>
          <a:xfrm>
            <a:off x="1476375" y="2941320"/>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S</a:t>
            </a:r>
            <a:endParaRPr lang="en-US"/>
          </a:p>
        </p:txBody>
      </p:sp>
      <p:sp>
        <p:nvSpPr>
          <p:cNvPr id="16" name="rect"/>
          <p:cNvSpPr txBox="0"/>
          <p:nvPr/>
        </p:nvSpPr>
        <p:spPr>
          <a:xfrm>
            <a:off x="1595438" y="2931795"/>
            <a:ext cx="147638" cy="147638"/>
          </a:xfrm>
          <a:prstGeom prst="rect">
            <a:avLst/>
          </a:prstGeom>
          <a:solidFill>
            <a:srgbClr val="FFFFFF"/>
          </a:solidFill>
          <a:ln w="12700">
            <a:solidFill>
              <a:srgbClr val="999999"/>
            </a:solidFill>
          </a:ln>
        </p:spPr>
      </p:sp>
      <p:sp>
        <p:nvSpPr>
          <p:cNvPr id="17" name="rect"/>
          <p:cNvSpPr txBox="0"/>
          <p:nvPr/>
        </p:nvSpPr>
        <p:spPr>
          <a:xfrm>
            <a:off x="1743075" y="2931795"/>
            <a:ext cx="147638" cy="147638"/>
          </a:xfrm>
          <a:prstGeom prst="rect">
            <a:avLst/>
          </a:prstGeom>
          <a:solidFill>
            <a:srgbClr val="FFFFFF"/>
          </a:solidFill>
          <a:ln w="12700">
            <a:solidFill>
              <a:srgbClr val="999999"/>
            </a:solidFill>
          </a:ln>
        </p:spPr>
      </p:sp>
      <p:sp>
        <p:nvSpPr>
          <p:cNvPr id="18" name="rect"/>
          <p:cNvSpPr txBox="0"/>
          <p:nvPr/>
        </p:nvSpPr>
        <p:spPr>
          <a:xfrm>
            <a:off x="1890712" y="2931795"/>
            <a:ext cx="147638" cy="147638"/>
          </a:xfrm>
          <a:prstGeom prst="rect">
            <a:avLst/>
          </a:prstGeom>
          <a:solidFill>
            <a:srgbClr val="FFFFFF"/>
          </a:solidFill>
          <a:ln w="12700">
            <a:solidFill>
              <a:srgbClr val="999999"/>
            </a:solidFill>
          </a:ln>
        </p:spPr>
      </p:sp>
      <p:sp>
        <p:nvSpPr>
          <p:cNvPr id="19" name="E"/>
          <p:cNvSpPr txBox="1"/>
          <p:nvPr/>
        </p:nvSpPr>
        <p:spPr>
          <a:xfrm>
            <a:off x="1919288" y="2941320"/>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E</a:t>
            </a:r>
            <a:endParaRPr lang="en-US"/>
          </a:p>
        </p:txBody>
      </p:sp>
      <p:sp>
        <p:nvSpPr>
          <p:cNvPr id="20" name="rect"/>
          <p:cNvSpPr txBox="0"/>
          <p:nvPr/>
        </p:nvSpPr>
        <p:spPr>
          <a:xfrm>
            <a:off x="857250" y="3079432"/>
            <a:ext cx="147638" cy="147638"/>
          </a:xfrm>
          <a:prstGeom prst="rect">
            <a:avLst/>
          </a:prstGeom>
          <a:solidFill>
            <a:srgbClr val="FFFFFF"/>
          </a:solidFill>
          <a:ln w="12700">
            <a:solidFill>
              <a:srgbClr val="999999"/>
            </a:solidFill>
          </a:ln>
        </p:spPr>
      </p:sp>
      <p:sp>
        <p:nvSpPr>
          <p:cNvPr id="21" name="rect"/>
          <p:cNvSpPr txBox="0"/>
          <p:nvPr/>
        </p:nvSpPr>
        <p:spPr>
          <a:xfrm>
            <a:off x="1004888" y="3079432"/>
            <a:ext cx="147638" cy="147638"/>
          </a:xfrm>
          <a:prstGeom prst="rect">
            <a:avLst/>
          </a:prstGeom>
          <a:solidFill>
            <a:srgbClr val="FFFFFF"/>
          </a:solidFill>
          <a:ln w="12700">
            <a:solidFill>
              <a:srgbClr val="999999"/>
            </a:solidFill>
          </a:ln>
        </p:spPr>
      </p:sp>
      <p:sp>
        <p:nvSpPr>
          <p:cNvPr id="22" name="rect"/>
          <p:cNvSpPr txBox="0"/>
          <p:nvPr/>
        </p:nvSpPr>
        <p:spPr>
          <a:xfrm>
            <a:off x="1152525" y="3079432"/>
            <a:ext cx="147638" cy="147638"/>
          </a:xfrm>
          <a:prstGeom prst="rect">
            <a:avLst/>
          </a:prstGeom>
          <a:solidFill>
            <a:srgbClr val="FFFFFF"/>
          </a:solidFill>
          <a:ln w="12700">
            <a:solidFill>
              <a:srgbClr val="999999"/>
            </a:solidFill>
          </a:ln>
        </p:spPr>
      </p:sp>
      <p:sp>
        <p:nvSpPr>
          <p:cNvPr id="23" name="rect"/>
          <p:cNvSpPr txBox="0"/>
          <p:nvPr/>
        </p:nvSpPr>
        <p:spPr>
          <a:xfrm>
            <a:off x="1300162" y="3079432"/>
            <a:ext cx="147638" cy="147638"/>
          </a:xfrm>
          <a:prstGeom prst="rect">
            <a:avLst/>
          </a:prstGeom>
          <a:solidFill>
            <a:srgbClr val="FFFFFF"/>
          </a:solidFill>
          <a:ln w="12700">
            <a:solidFill>
              <a:srgbClr val="999999"/>
            </a:solidFill>
          </a:ln>
        </p:spPr>
      </p:sp>
      <p:sp>
        <p:nvSpPr>
          <p:cNvPr id="24" name="rect"/>
          <p:cNvSpPr txBox="0"/>
          <p:nvPr/>
        </p:nvSpPr>
        <p:spPr>
          <a:xfrm>
            <a:off x="1447800" y="3079432"/>
            <a:ext cx="147638" cy="147638"/>
          </a:xfrm>
          <a:prstGeom prst="rect">
            <a:avLst/>
          </a:prstGeom>
          <a:solidFill>
            <a:srgbClr val="FFFFFF"/>
          </a:solidFill>
          <a:ln w="12700">
            <a:solidFill>
              <a:srgbClr val="999999"/>
            </a:solidFill>
          </a:ln>
        </p:spPr>
      </p:sp>
      <p:sp>
        <p:nvSpPr>
          <p:cNvPr id="25" name="rect"/>
          <p:cNvSpPr txBox="0"/>
          <p:nvPr/>
        </p:nvSpPr>
        <p:spPr>
          <a:xfrm>
            <a:off x="1595438" y="3079432"/>
            <a:ext cx="147638" cy="147638"/>
          </a:xfrm>
          <a:prstGeom prst="rect">
            <a:avLst/>
          </a:prstGeom>
          <a:solidFill>
            <a:srgbClr val="FFFFFF"/>
          </a:solidFill>
          <a:ln w="12700">
            <a:solidFill>
              <a:srgbClr val="999999"/>
            </a:solidFill>
          </a:ln>
        </p:spPr>
      </p:sp>
      <p:sp>
        <p:nvSpPr>
          <p:cNvPr id="26" name="R"/>
          <p:cNvSpPr txBox="1"/>
          <p:nvPr/>
        </p:nvSpPr>
        <p:spPr>
          <a:xfrm>
            <a:off x="1624012" y="3088958"/>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27" name="rect"/>
          <p:cNvSpPr txBox="0"/>
          <p:nvPr/>
        </p:nvSpPr>
        <p:spPr>
          <a:xfrm>
            <a:off x="1743075" y="3079432"/>
            <a:ext cx="147638" cy="147638"/>
          </a:xfrm>
          <a:prstGeom prst="rect">
            <a:avLst/>
          </a:prstGeom>
          <a:solidFill>
            <a:srgbClr val="FFFFFF"/>
          </a:solidFill>
          <a:ln w="12700">
            <a:solidFill>
              <a:srgbClr val="999999"/>
            </a:solidFill>
          </a:ln>
        </p:spPr>
      </p:sp>
      <p:sp>
        <p:nvSpPr>
          <p:cNvPr id="28" name="rect"/>
          <p:cNvSpPr txBox="0"/>
          <p:nvPr/>
        </p:nvSpPr>
        <p:spPr>
          <a:xfrm>
            <a:off x="1890712" y="3079432"/>
            <a:ext cx="147638" cy="147638"/>
          </a:xfrm>
          <a:prstGeom prst="rect">
            <a:avLst/>
          </a:prstGeom>
          <a:solidFill>
            <a:srgbClr val="FFFFFF"/>
          </a:solidFill>
          <a:ln w="12700">
            <a:solidFill>
              <a:srgbClr val="999999"/>
            </a:solidFill>
          </a:ln>
        </p:spPr>
      </p:sp>
      <p:sp>
        <p:nvSpPr>
          <p:cNvPr id="29" name="rect"/>
          <p:cNvSpPr txBox="0"/>
          <p:nvPr/>
        </p:nvSpPr>
        <p:spPr>
          <a:xfrm>
            <a:off x="857250" y="3227070"/>
            <a:ext cx="147638" cy="147638"/>
          </a:xfrm>
          <a:prstGeom prst="rect">
            <a:avLst/>
          </a:prstGeom>
          <a:solidFill>
            <a:srgbClr val="FFFFFF"/>
          </a:solidFill>
          <a:ln w="12700">
            <a:solidFill>
              <a:srgbClr val="999999"/>
            </a:solidFill>
          </a:ln>
        </p:spPr>
      </p:sp>
      <p:sp>
        <p:nvSpPr>
          <p:cNvPr id="30" name="rect"/>
          <p:cNvSpPr txBox="0"/>
          <p:nvPr/>
        </p:nvSpPr>
        <p:spPr>
          <a:xfrm>
            <a:off x="1004888" y="3227070"/>
            <a:ext cx="147638" cy="147638"/>
          </a:xfrm>
          <a:prstGeom prst="rect">
            <a:avLst/>
          </a:prstGeom>
          <a:solidFill>
            <a:srgbClr val="FFFFFF"/>
          </a:solidFill>
          <a:ln w="12700">
            <a:solidFill>
              <a:srgbClr val="999999"/>
            </a:solidFill>
          </a:ln>
        </p:spPr>
      </p:sp>
      <p:sp>
        <p:nvSpPr>
          <p:cNvPr id="31" name="R"/>
          <p:cNvSpPr txBox="1"/>
          <p:nvPr/>
        </p:nvSpPr>
        <p:spPr>
          <a:xfrm>
            <a:off x="1033462" y="3236595"/>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32" name="rect"/>
          <p:cNvSpPr txBox="0"/>
          <p:nvPr/>
        </p:nvSpPr>
        <p:spPr>
          <a:xfrm>
            <a:off x="1152525" y="3227070"/>
            <a:ext cx="147638" cy="147638"/>
          </a:xfrm>
          <a:prstGeom prst="rect">
            <a:avLst/>
          </a:prstGeom>
          <a:solidFill>
            <a:srgbClr val="FFFFFF"/>
          </a:solidFill>
          <a:ln w="12700">
            <a:solidFill>
              <a:srgbClr val="999999"/>
            </a:solidFill>
          </a:ln>
        </p:spPr>
      </p:sp>
      <p:sp>
        <p:nvSpPr>
          <p:cNvPr id="33" name="rect"/>
          <p:cNvSpPr txBox="0"/>
          <p:nvPr/>
        </p:nvSpPr>
        <p:spPr>
          <a:xfrm>
            <a:off x="1300162" y="3227070"/>
            <a:ext cx="147638" cy="147638"/>
          </a:xfrm>
          <a:prstGeom prst="rect">
            <a:avLst/>
          </a:prstGeom>
          <a:solidFill>
            <a:srgbClr val="FFFFFF"/>
          </a:solidFill>
          <a:ln w="12700">
            <a:solidFill>
              <a:srgbClr val="999999"/>
            </a:solidFill>
          </a:ln>
        </p:spPr>
      </p:sp>
      <p:sp>
        <p:nvSpPr>
          <p:cNvPr id="34" name="rect"/>
          <p:cNvSpPr txBox="0"/>
          <p:nvPr/>
        </p:nvSpPr>
        <p:spPr>
          <a:xfrm>
            <a:off x="1447800" y="3227070"/>
            <a:ext cx="147638" cy="147638"/>
          </a:xfrm>
          <a:prstGeom prst="rect">
            <a:avLst/>
          </a:prstGeom>
          <a:solidFill>
            <a:srgbClr val="FFFFFF"/>
          </a:solidFill>
          <a:ln w="12700">
            <a:solidFill>
              <a:srgbClr val="999999"/>
            </a:solidFill>
          </a:ln>
        </p:spPr>
      </p:sp>
      <p:sp>
        <p:nvSpPr>
          <p:cNvPr id="35" name="rect"/>
          <p:cNvSpPr txBox="0"/>
          <p:nvPr/>
        </p:nvSpPr>
        <p:spPr>
          <a:xfrm>
            <a:off x="1595438" y="3227070"/>
            <a:ext cx="147638" cy="147638"/>
          </a:xfrm>
          <a:prstGeom prst="rect">
            <a:avLst/>
          </a:prstGeom>
          <a:solidFill>
            <a:srgbClr val="FFFFFF"/>
          </a:solidFill>
          <a:ln w="12700">
            <a:solidFill>
              <a:srgbClr val="999999"/>
            </a:solidFill>
          </a:ln>
        </p:spPr>
      </p:sp>
      <p:sp>
        <p:nvSpPr>
          <p:cNvPr id="36" name="rect"/>
          <p:cNvSpPr txBox="0"/>
          <p:nvPr/>
        </p:nvSpPr>
        <p:spPr>
          <a:xfrm>
            <a:off x="1743075" y="3227070"/>
            <a:ext cx="147638" cy="147638"/>
          </a:xfrm>
          <a:prstGeom prst="rect">
            <a:avLst/>
          </a:prstGeom>
          <a:solidFill>
            <a:srgbClr val="FFFFFF"/>
          </a:solidFill>
          <a:ln w="12700">
            <a:solidFill>
              <a:srgbClr val="999999"/>
            </a:solidFill>
          </a:ln>
        </p:spPr>
      </p:sp>
      <p:sp>
        <p:nvSpPr>
          <p:cNvPr id="37" name="rect"/>
          <p:cNvSpPr txBox="0"/>
          <p:nvPr/>
        </p:nvSpPr>
        <p:spPr>
          <a:xfrm>
            <a:off x="1890712" y="3227070"/>
            <a:ext cx="147638" cy="147638"/>
          </a:xfrm>
          <a:prstGeom prst="rect">
            <a:avLst/>
          </a:prstGeom>
          <a:solidFill>
            <a:srgbClr val="FFFFFF"/>
          </a:solidFill>
          <a:ln w="12700">
            <a:solidFill>
              <a:srgbClr val="999999"/>
            </a:solidFill>
          </a:ln>
        </p:spPr>
      </p:sp>
      <p:sp>
        <p:nvSpPr>
          <p:cNvPr id="38" name="rect"/>
          <p:cNvSpPr txBox="0"/>
          <p:nvPr/>
        </p:nvSpPr>
        <p:spPr>
          <a:xfrm>
            <a:off x="857250" y="3374708"/>
            <a:ext cx="147638" cy="147638"/>
          </a:xfrm>
          <a:prstGeom prst="rect">
            <a:avLst/>
          </a:prstGeom>
          <a:solidFill>
            <a:srgbClr val="FFFFFF"/>
          </a:solidFill>
          <a:ln w="12700">
            <a:solidFill>
              <a:srgbClr val="999999"/>
            </a:solidFill>
          </a:ln>
        </p:spPr>
      </p:sp>
      <p:sp>
        <p:nvSpPr>
          <p:cNvPr id="39" name="rect"/>
          <p:cNvSpPr txBox="0"/>
          <p:nvPr/>
        </p:nvSpPr>
        <p:spPr>
          <a:xfrm>
            <a:off x="1004888" y="3374708"/>
            <a:ext cx="147638" cy="147638"/>
          </a:xfrm>
          <a:prstGeom prst="rect">
            <a:avLst/>
          </a:prstGeom>
          <a:solidFill>
            <a:srgbClr val="FFFFFF"/>
          </a:solidFill>
          <a:ln w="12700">
            <a:solidFill>
              <a:srgbClr val="999999"/>
            </a:solidFill>
          </a:ln>
        </p:spPr>
      </p:sp>
      <p:sp>
        <p:nvSpPr>
          <p:cNvPr id="40" name="rect"/>
          <p:cNvSpPr txBox="0"/>
          <p:nvPr/>
        </p:nvSpPr>
        <p:spPr>
          <a:xfrm>
            <a:off x="1152525" y="3374708"/>
            <a:ext cx="147638" cy="147638"/>
          </a:xfrm>
          <a:prstGeom prst="rect">
            <a:avLst/>
          </a:prstGeom>
          <a:solidFill>
            <a:srgbClr val="BBBBBB"/>
          </a:solidFill>
          <a:ln w="12700">
            <a:solidFill>
              <a:srgbClr val="999999"/>
            </a:solidFill>
          </a:ln>
        </p:spPr>
      </p:sp>
      <p:sp>
        <p:nvSpPr>
          <p:cNvPr id="41" name="rect"/>
          <p:cNvSpPr txBox="0"/>
          <p:nvPr/>
        </p:nvSpPr>
        <p:spPr>
          <a:xfrm>
            <a:off x="1300162" y="3374708"/>
            <a:ext cx="147638" cy="147638"/>
          </a:xfrm>
          <a:prstGeom prst="rect">
            <a:avLst/>
          </a:prstGeom>
          <a:solidFill>
            <a:srgbClr val="BBBBBB"/>
          </a:solidFill>
          <a:ln w="12700">
            <a:solidFill>
              <a:srgbClr val="999999"/>
            </a:solidFill>
          </a:ln>
        </p:spPr>
      </p:sp>
      <p:sp>
        <p:nvSpPr>
          <p:cNvPr id="42" name="rect"/>
          <p:cNvSpPr txBox="0"/>
          <p:nvPr/>
        </p:nvSpPr>
        <p:spPr>
          <a:xfrm>
            <a:off x="1447800" y="3374708"/>
            <a:ext cx="147638" cy="147638"/>
          </a:xfrm>
          <a:prstGeom prst="rect">
            <a:avLst/>
          </a:prstGeom>
          <a:solidFill>
            <a:srgbClr val="FFFFFF"/>
          </a:solidFill>
          <a:ln w="12700">
            <a:solidFill>
              <a:srgbClr val="999999"/>
            </a:solidFill>
          </a:ln>
        </p:spPr>
      </p:sp>
      <p:sp>
        <p:nvSpPr>
          <p:cNvPr id="43" name="R"/>
          <p:cNvSpPr txBox="1"/>
          <p:nvPr/>
        </p:nvSpPr>
        <p:spPr>
          <a:xfrm>
            <a:off x="1476375" y="338423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44" name="rect"/>
          <p:cNvSpPr txBox="0"/>
          <p:nvPr/>
        </p:nvSpPr>
        <p:spPr>
          <a:xfrm>
            <a:off x="1595438" y="3374708"/>
            <a:ext cx="147638" cy="147638"/>
          </a:xfrm>
          <a:prstGeom prst="rect">
            <a:avLst/>
          </a:prstGeom>
          <a:solidFill>
            <a:srgbClr val="FFFFFF"/>
          </a:solidFill>
          <a:ln w="12700">
            <a:solidFill>
              <a:srgbClr val="999999"/>
            </a:solidFill>
          </a:ln>
        </p:spPr>
      </p:sp>
      <p:sp>
        <p:nvSpPr>
          <p:cNvPr id="45" name="S"/>
          <p:cNvSpPr txBox="1"/>
          <p:nvPr/>
        </p:nvSpPr>
        <p:spPr>
          <a:xfrm>
            <a:off x="1624012" y="338423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S</a:t>
            </a:r>
            <a:endParaRPr lang="en-US"/>
          </a:p>
        </p:txBody>
      </p:sp>
      <p:sp>
        <p:nvSpPr>
          <p:cNvPr id="46" name="rect"/>
          <p:cNvSpPr txBox="0"/>
          <p:nvPr/>
        </p:nvSpPr>
        <p:spPr>
          <a:xfrm>
            <a:off x="1743075" y="3374708"/>
            <a:ext cx="147638" cy="147638"/>
          </a:xfrm>
          <a:prstGeom prst="rect">
            <a:avLst/>
          </a:prstGeom>
          <a:solidFill>
            <a:srgbClr val="FFFFFF"/>
          </a:solidFill>
          <a:ln w="12700">
            <a:solidFill>
              <a:srgbClr val="999999"/>
            </a:solidFill>
          </a:ln>
        </p:spPr>
      </p:sp>
      <p:sp>
        <p:nvSpPr>
          <p:cNvPr id="47" name="rect"/>
          <p:cNvSpPr txBox="0"/>
          <p:nvPr/>
        </p:nvSpPr>
        <p:spPr>
          <a:xfrm>
            <a:off x="1890712" y="3374708"/>
            <a:ext cx="147638" cy="147638"/>
          </a:xfrm>
          <a:prstGeom prst="rect">
            <a:avLst/>
          </a:prstGeom>
          <a:solidFill>
            <a:srgbClr val="FFFFFF"/>
          </a:solidFill>
          <a:ln w="12700">
            <a:solidFill>
              <a:srgbClr val="999999"/>
            </a:solidFill>
          </a:ln>
        </p:spPr>
      </p:sp>
      <p:sp>
        <p:nvSpPr>
          <p:cNvPr id="48" name="rect"/>
          <p:cNvSpPr txBox="0"/>
          <p:nvPr/>
        </p:nvSpPr>
        <p:spPr>
          <a:xfrm>
            <a:off x="857250" y="3522345"/>
            <a:ext cx="147638" cy="147638"/>
          </a:xfrm>
          <a:prstGeom prst="rect">
            <a:avLst/>
          </a:prstGeom>
          <a:solidFill>
            <a:srgbClr val="FFFFFF"/>
          </a:solidFill>
          <a:ln w="12700">
            <a:solidFill>
              <a:srgbClr val="999999"/>
            </a:solidFill>
          </a:ln>
        </p:spPr>
      </p:sp>
      <p:sp>
        <p:nvSpPr>
          <p:cNvPr id="49" name="rect"/>
          <p:cNvSpPr txBox="0"/>
          <p:nvPr/>
        </p:nvSpPr>
        <p:spPr>
          <a:xfrm>
            <a:off x="1004888" y="3522345"/>
            <a:ext cx="147638" cy="147638"/>
          </a:xfrm>
          <a:prstGeom prst="rect">
            <a:avLst/>
          </a:prstGeom>
          <a:solidFill>
            <a:srgbClr val="FFFFFF"/>
          </a:solidFill>
          <a:ln w="12700">
            <a:solidFill>
              <a:srgbClr val="999999"/>
            </a:solidFill>
          </a:ln>
        </p:spPr>
      </p:sp>
      <p:sp>
        <p:nvSpPr>
          <p:cNvPr id="50" name="rect"/>
          <p:cNvSpPr txBox="0"/>
          <p:nvPr/>
        </p:nvSpPr>
        <p:spPr>
          <a:xfrm>
            <a:off x="1152525" y="3522345"/>
            <a:ext cx="147638" cy="147638"/>
          </a:xfrm>
          <a:prstGeom prst="rect">
            <a:avLst/>
          </a:prstGeom>
          <a:solidFill>
            <a:srgbClr val="BBBBBB"/>
          </a:solidFill>
          <a:ln w="12700">
            <a:solidFill>
              <a:srgbClr val="999999"/>
            </a:solidFill>
          </a:ln>
        </p:spPr>
      </p:sp>
      <p:sp>
        <p:nvSpPr>
          <p:cNvPr id="51" name="rect"/>
          <p:cNvSpPr txBox="0"/>
          <p:nvPr/>
        </p:nvSpPr>
        <p:spPr>
          <a:xfrm>
            <a:off x="1300162" y="3522345"/>
            <a:ext cx="147638" cy="147638"/>
          </a:xfrm>
          <a:prstGeom prst="rect">
            <a:avLst/>
          </a:prstGeom>
          <a:solidFill>
            <a:srgbClr val="BBBBBB"/>
          </a:solidFill>
          <a:ln w="12700">
            <a:solidFill>
              <a:srgbClr val="999999"/>
            </a:solidFill>
          </a:ln>
        </p:spPr>
      </p:sp>
      <p:sp>
        <p:nvSpPr>
          <p:cNvPr id="52" name="rect"/>
          <p:cNvSpPr txBox="0"/>
          <p:nvPr/>
        </p:nvSpPr>
        <p:spPr>
          <a:xfrm>
            <a:off x="1447800" y="3522345"/>
            <a:ext cx="147638" cy="147638"/>
          </a:xfrm>
          <a:prstGeom prst="rect">
            <a:avLst/>
          </a:prstGeom>
          <a:solidFill>
            <a:srgbClr val="FFFFFF"/>
          </a:solidFill>
          <a:ln w="12700">
            <a:solidFill>
              <a:srgbClr val="999999"/>
            </a:solidFill>
          </a:ln>
        </p:spPr>
      </p:sp>
      <p:sp>
        <p:nvSpPr>
          <p:cNvPr id="53" name="R"/>
          <p:cNvSpPr txBox="1"/>
          <p:nvPr/>
        </p:nvSpPr>
        <p:spPr>
          <a:xfrm>
            <a:off x="1476375" y="3531870"/>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54" name="rect"/>
          <p:cNvSpPr txBox="0"/>
          <p:nvPr/>
        </p:nvSpPr>
        <p:spPr>
          <a:xfrm>
            <a:off x="1595438" y="3522345"/>
            <a:ext cx="147638" cy="147638"/>
          </a:xfrm>
          <a:prstGeom prst="rect">
            <a:avLst/>
          </a:prstGeom>
          <a:solidFill>
            <a:srgbClr val="FFFFFF"/>
          </a:solidFill>
          <a:ln w="12700">
            <a:solidFill>
              <a:srgbClr val="999999"/>
            </a:solidFill>
          </a:ln>
        </p:spPr>
      </p:sp>
      <p:sp>
        <p:nvSpPr>
          <p:cNvPr id="55" name="rect"/>
          <p:cNvSpPr txBox="0"/>
          <p:nvPr/>
        </p:nvSpPr>
        <p:spPr>
          <a:xfrm>
            <a:off x="1743075" y="3522345"/>
            <a:ext cx="147638" cy="147638"/>
          </a:xfrm>
          <a:prstGeom prst="rect">
            <a:avLst/>
          </a:prstGeom>
          <a:solidFill>
            <a:srgbClr val="FFFFFF"/>
          </a:solidFill>
          <a:ln w="12700">
            <a:solidFill>
              <a:srgbClr val="999999"/>
            </a:solidFill>
          </a:ln>
        </p:spPr>
      </p:sp>
      <p:sp>
        <p:nvSpPr>
          <p:cNvPr id="56" name="rect"/>
          <p:cNvSpPr txBox="0"/>
          <p:nvPr/>
        </p:nvSpPr>
        <p:spPr>
          <a:xfrm>
            <a:off x="1890712" y="3522345"/>
            <a:ext cx="147638" cy="147638"/>
          </a:xfrm>
          <a:prstGeom prst="rect">
            <a:avLst/>
          </a:prstGeom>
          <a:solidFill>
            <a:srgbClr val="FFFFFF"/>
          </a:solidFill>
          <a:ln w="12700">
            <a:solidFill>
              <a:srgbClr val="999999"/>
            </a:solidFill>
          </a:ln>
        </p:spPr>
      </p:sp>
      <p:sp>
        <p:nvSpPr>
          <p:cNvPr id="57" name="rect"/>
          <p:cNvSpPr txBox="0"/>
          <p:nvPr/>
        </p:nvSpPr>
        <p:spPr>
          <a:xfrm>
            <a:off x="857250" y="3669982"/>
            <a:ext cx="147638" cy="147638"/>
          </a:xfrm>
          <a:prstGeom prst="rect">
            <a:avLst/>
          </a:prstGeom>
          <a:solidFill>
            <a:srgbClr val="FFFFFF"/>
          </a:solidFill>
          <a:ln w="12700">
            <a:solidFill>
              <a:srgbClr val="999999"/>
            </a:solidFill>
          </a:ln>
        </p:spPr>
      </p:sp>
      <p:sp>
        <p:nvSpPr>
          <p:cNvPr id="58" name="rect"/>
          <p:cNvSpPr txBox="0"/>
          <p:nvPr/>
        </p:nvSpPr>
        <p:spPr>
          <a:xfrm>
            <a:off x="1004888" y="3669982"/>
            <a:ext cx="147638" cy="147638"/>
          </a:xfrm>
          <a:prstGeom prst="rect">
            <a:avLst/>
          </a:prstGeom>
          <a:solidFill>
            <a:srgbClr val="FFFFFF"/>
          </a:solidFill>
          <a:ln w="12700">
            <a:solidFill>
              <a:srgbClr val="999999"/>
            </a:solidFill>
          </a:ln>
        </p:spPr>
      </p:sp>
      <p:sp>
        <p:nvSpPr>
          <p:cNvPr id="59" name="rect"/>
          <p:cNvSpPr txBox="0"/>
          <p:nvPr/>
        </p:nvSpPr>
        <p:spPr>
          <a:xfrm>
            <a:off x="1152525" y="3669982"/>
            <a:ext cx="147638" cy="147638"/>
          </a:xfrm>
          <a:prstGeom prst="rect">
            <a:avLst/>
          </a:prstGeom>
          <a:solidFill>
            <a:srgbClr val="FFFFFF"/>
          </a:solidFill>
          <a:ln w="12700">
            <a:solidFill>
              <a:srgbClr val="999999"/>
            </a:solidFill>
          </a:ln>
        </p:spPr>
      </p:sp>
      <p:sp>
        <p:nvSpPr>
          <p:cNvPr id="60" name="R"/>
          <p:cNvSpPr txBox="1"/>
          <p:nvPr/>
        </p:nvSpPr>
        <p:spPr>
          <a:xfrm>
            <a:off x="1181100" y="3679508"/>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61" name="rect"/>
          <p:cNvSpPr txBox="0"/>
          <p:nvPr/>
        </p:nvSpPr>
        <p:spPr>
          <a:xfrm>
            <a:off x="1300162" y="3669982"/>
            <a:ext cx="147638" cy="147638"/>
          </a:xfrm>
          <a:prstGeom prst="rect">
            <a:avLst/>
          </a:prstGeom>
          <a:solidFill>
            <a:srgbClr val="FFFFFF"/>
          </a:solidFill>
          <a:ln w="12700">
            <a:solidFill>
              <a:srgbClr val="999999"/>
            </a:solidFill>
          </a:ln>
        </p:spPr>
      </p:sp>
      <p:sp>
        <p:nvSpPr>
          <p:cNvPr id="62" name="S"/>
          <p:cNvSpPr txBox="1"/>
          <p:nvPr/>
        </p:nvSpPr>
        <p:spPr>
          <a:xfrm>
            <a:off x="1328738" y="3679508"/>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S</a:t>
            </a:r>
            <a:endParaRPr lang="en-US"/>
          </a:p>
        </p:txBody>
      </p:sp>
      <p:sp>
        <p:nvSpPr>
          <p:cNvPr id="63" name="rect"/>
          <p:cNvSpPr txBox="0"/>
          <p:nvPr/>
        </p:nvSpPr>
        <p:spPr>
          <a:xfrm>
            <a:off x="1447800" y="3669982"/>
            <a:ext cx="147638" cy="147638"/>
          </a:xfrm>
          <a:prstGeom prst="rect">
            <a:avLst/>
          </a:prstGeom>
          <a:solidFill>
            <a:srgbClr val="FFFFFF"/>
          </a:solidFill>
          <a:ln w="12700">
            <a:solidFill>
              <a:srgbClr val="999999"/>
            </a:solidFill>
          </a:ln>
        </p:spPr>
      </p:sp>
      <p:sp>
        <p:nvSpPr>
          <p:cNvPr id="64" name="rect"/>
          <p:cNvSpPr txBox="0"/>
          <p:nvPr/>
        </p:nvSpPr>
        <p:spPr>
          <a:xfrm>
            <a:off x="1595438" y="3669982"/>
            <a:ext cx="147638" cy="147638"/>
          </a:xfrm>
          <a:prstGeom prst="rect">
            <a:avLst/>
          </a:prstGeom>
          <a:solidFill>
            <a:srgbClr val="FFFFFF"/>
          </a:solidFill>
          <a:ln w="12700">
            <a:solidFill>
              <a:srgbClr val="999999"/>
            </a:solidFill>
          </a:ln>
        </p:spPr>
      </p:sp>
      <p:sp>
        <p:nvSpPr>
          <p:cNvPr id="65" name="rect"/>
          <p:cNvSpPr txBox="0"/>
          <p:nvPr/>
        </p:nvSpPr>
        <p:spPr>
          <a:xfrm>
            <a:off x="1743075" y="3669982"/>
            <a:ext cx="147638" cy="147638"/>
          </a:xfrm>
          <a:prstGeom prst="rect">
            <a:avLst/>
          </a:prstGeom>
          <a:solidFill>
            <a:srgbClr val="FFFFFF"/>
          </a:solidFill>
          <a:ln w="12700">
            <a:solidFill>
              <a:srgbClr val="999999"/>
            </a:solidFill>
          </a:ln>
        </p:spPr>
      </p:sp>
      <p:sp>
        <p:nvSpPr>
          <p:cNvPr id="66" name="rect"/>
          <p:cNvSpPr txBox="0"/>
          <p:nvPr/>
        </p:nvSpPr>
        <p:spPr>
          <a:xfrm>
            <a:off x="1890712" y="3669982"/>
            <a:ext cx="147638" cy="147638"/>
          </a:xfrm>
          <a:prstGeom prst="rect">
            <a:avLst/>
          </a:prstGeom>
          <a:solidFill>
            <a:srgbClr val="FFFFFF"/>
          </a:solidFill>
          <a:ln w="12700">
            <a:solidFill>
              <a:srgbClr val="999999"/>
            </a:solidFill>
          </a:ln>
        </p:spPr>
      </p:sp>
      <p:sp>
        <p:nvSpPr>
          <p:cNvPr id="67" name="rect"/>
          <p:cNvSpPr txBox="0"/>
          <p:nvPr/>
        </p:nvSpPr>
        <p:spPr>
          <a:xfrm>
            <a:off x="857250" y="3817620"/>
            <a:ext cx="147638" cy="147638"/>
          </a:xfrm>
          <a:prstGeom prst="rect">
            <a:avLst/>
          </a:prstGeom>
          <a:solidFill>
            <a:srgbClr val="FFFFFF"/>
          </a:solidFill>
          <a:ln w="12700">
            <a:solidFill>
              <a:srgbClr val="999999"/>
            </a:solidFill>
          </a:ln>
        </p:spPr>
      </p:sp>
      <p:sp>
        <p:nvSpPr>
          <p:cNvPr id="68" name="rect"/>
          <p:cNvSpPr txBox="0"/>
          <p:nvPr/>
        </p:nvSpPr>
        <p:spPr>
          <a:xfrm>
            <a:off x="1004888" y="3817620"/>
            <a:ext cx="147638" cy="147638"/>
          </a:xfrm>
          <a:prstGeom prst="rect">
            <a:avLst/>
          </a:prstGeom>
          <a:solidFill>
            <a:srgbClr val="FFFFFF"/>
          </a:solidFill>
          <a:ln w="12700">
            <a:solidFill>
              <a:srgbClr val="999999"/>
            </a:solidFill>
          </a:ln>
        </p:spPr>
      </p:sp>
      <p:sp>
        <p:nvSpPr>
          <p:cNvPr id="69" name="rect"/>
          <p:cNvSpPr txBox="0"/>
          <p:nvPr/>
        </p:nvSpPr>
        <p:spPr>
          <a:xfrm>
            <a:off x="1152525" y="3817620"/>
            <a:ext cx="147638" cy="147638"/>
          </a:xfrm>
          <a:prstGeom prst="rect">
            <a:avLst/>
          </a:prstGeom>
          <a:solidFill>
            <a:srgbClr val="FFFFFF"/>
          </a:solidFill>
          <a:ln w="12700">
            <a:solidFill>
              <a:srgbClr val="999999"/>
            </a:solidFill>
          </a:ln>
        </p:spPr>
      </p:sp>
      <p:sp>
        <p:nvSpPr>
          <p:cNvPr id="70" name="R"/>
          <p:cNvSpPr txBox="1"/>
          <p:nvPr/>
        </p:nvSpPr>
        <p:spPr>
          <a:xfrm>
            <a:off x="1181100" y="3827145"/>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R</a:t>
            </a:r>
            <a:endParaRPr lang="en-US"/>
          </a:p>
        </p:txBody>
      </p:sp>
      <p:sp>
        <p:nvSpPr>
          <p:cNvPr id="71" name="rect"/>
          <p:cNvSpPr txBox="0"/>
          <p:nvPr/>
        </p:nvSpPr>
        <p:spPr>
          <a:xfrm>
            <a:off x="1300162" y="3817620"/>
            <a:ext cx="147638" cy="147638"/>
          </a:xfrm>
          <a:prstGeom prst="rect">
            <a:avLst/>
          </a:prstGeom>
          <a:solidFill>
            <a:srgbClr val="FFFFFF"/>
          </a:solidFill>
          <a:ln w="12700">
            <a:solidFill>
              <a:srgbClr val="999999"/>
            </a:solidFill>
          </a:ln>
        </p:spPr>
      </p:sp>
      <p:sp>
        <p:nvSpPr>
          <p:cNvPr id="72" name="rect"/>
          <p:cNvSpPr txBox="0"/>
          <p:nvPr/>
        </p:nvSpPr>
        <p:spPr>
          <a:xfrm>
            <a:off x="1447800" y="3817620"/>
            <a:ext cx="147638" cy="147638"/>
          </a:xfrm>
          <a:prstGeom prst="rect">
            <a:avLst/>
          </a:prstGeom>
          <a:solidFill>
            <a:srgbClr val="FFFFFF"/>
          </a:solidFill>
          <a:ln w="12700">
            <a:solidFill>
              <a:srgbClr val="999999"/>
            </a:solidFill>
          </a:ln>
        </p:spPr>
      </p:sp>
      <p:sp>
        <p:nvSpPr>
          <p:cNvPr id="73" name="rect"/>
          <p:cNvSpPr txBox="0"/>
          <p:nvPr/>
        </p:nvSpPr>
        <p:spPr>
          <a:xfrm>
            <a:off x="1595438" y="3817620"/>
            <a:ext cx="147638" cy="147638"/>
          </a:xfrm>
          <a:prstGeom prst="rect">
            <a:avLst/>
          </a:prstGeom>
          <a:solidFill>
            <a:srgbClr val="FFFFFF"/>
          </a:solidFill>
          <a:ln w="12700">
            <a:solidFill>
              <a:srgbClr val="999999"/>
            </a:solidFill>
          </a:ln>
        </p:spPr>
      </p:sp>
      <p:sp>
        <p:nvSpPr>
          <p:cNvPr id="74" name="rect"/>
          <p:cNvSpPr txBox="0"/>
          <p:nvPr/>
        </p:nvSpPr>
        <p:spPr>
          <a:xfrm>
            <a:off x="1743075" y="3817620"/>
            <a:ext cx="147638" cy="147638"/>
          </a:xfrm>
          <a:prstGeom prst="rect">
            <a:avLst/>
          </a:prstGeom>
          <a:solidFill>
            <a:srgbClr val="FFFFFF"/>
          </a:solidFill>
          <a:ln w="12700">
            <a:solidFill>
              <a:srgbClr val="999999"/>
            </a:solidFill>
          </a:ln>
        </p:spPr>
      </p:sp>
      <p:sp>
        <p:nvSpPr>
          <p:cNvPr id="75" name="rect"/>
          <p:cNvSpPr txBox="0"/>
          <p:nvPr/>
        </p:nvSpPr>
        <p:spPr>
          <a:xfrm>
            <a:off x="1890712" y="3817620"/>
            <a:ext cx="147638" cy="147638"/>
          </a:xfrm>
          <a:prstGeom prst="rect">
            <a:avLst/>
          </a:prstGeom>
          <a:solidFill>
            <a:srgbClr val="FFFFFF"/>
          </a:solidFill>
          <a:ln w="12700">
            <a:solidFill>
              <a:srgbClr val="999999"/>
            </a:solidFill>
          </a:ln>
        </p:spPr>
      </p:sp>
      <p:sp>
        <p:nvSpPr>
          <p:cNvPr id="76" name="rect"/>
          <p:cNvSpPr txBox="0"/>
          <p:nvPr/>
        </p:nvSpPr>
        <p:spPr>
          <a:xfrm>
            <a:off x="857250" y="3965258"/>
            <a:ext cx="147638" cy="147638"/>
          </a:xfrm>
          <a:prstGeom prst="rect">
            <a:avLst/>
          </a:prstGeom>
          <a:solidFill>
            <a:srgbClr val="FFFFFF"/>
          </a:solidFill>
          <a:ln w="12700">
            <a:solidFill>
              <a:srgbClr val="999999"/>
            </a:solidFill>
          </a:ln>
        </p:spPr>
      </p:sp>
      <p:sp>
        <p:nvSpPr>
          <p:cNvPr id="77" name="O"/>
          <p:cNvSpPr txBox="1"/>
          <p:nvPr/>
        </p:nvSpPr>
        <p:spPr>
          <a:xfrm>
            <a:off x="885825" y="397478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O</a:t>
            </a:r>
            <a:endParaRPr lang="en-US"/>
          </a:p>
        </p:txBody>
      </p:sp>
      <p:sp>
        <p:nvSpPr>
          <p:cNvPr id="78" name="rect"/>
          <p:cNvSpPr txBox="0"/>
          <p:nvPr/>
        </p:nvSpPr>
        <p:spPr>
          <a:xfrm>
            <a:off x="1004888" y="3965258"/>
            <a:ext cx="147638" cy="147638"/>
          </a:xfrm>
          <a:prstGeom prst="rect">
            <a:avLst/>
          </a:prstGeom>
          <a:solidFill>
            <a:srgbClr val="FFFFFF"/>
          </a:solidFill>
          <a:ln w="12700">
            <a:solidFill>
              <a:srgbClr val="999999"/>
            </a:solidFill>
          </a:ln>
        </p:spPr>
      </p:sp>
      <p:sp>
        <p:nvSpPr>
          <p:cNvPr id="79" name="S"/>
          <p:cNvSpPr txBox="1"/>
          <p:nvPr/>
        </p:nvSpPr>
        <p:spPr>
          <a:xfrm>
            <a:off x="1033462" y="397478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S</a:t>
            </a:r>
            <a:endParaRPr lang="en-US"/>
          </a:p>
        </p:txBody>
      </p:sp>
      <p:sp>
        <p:nvSpPr>
          <p:cNvPr id="80" name="rect"/>
          <p:cNvSpPr txBox="0"/>
          <p:nvPr/>
        </p:nvSpPr>
        <p:spPr>
          <a:xfrm>
            <a:off x="1152525" y="3965258"/>
            <a:ext cx="147638" cy="147638"/>
          </a:xfrm>
          <a:prstGeom prst="rect">
            <a:avLst/>
          </a:prstGeom>
          <a:solidFill>
            <a:srgbClr val="FFFFFF"/>
          </a:solidFill>
          <a:ln w="12700">
            <a:solidFill>
              <a:srgbClr val="999999"/>
            </a:solidFill>
          </a:ln>
        </p:spPr>
      </p:sp>
      <p:sp>
        <p:nvSpPr>
          <p:cNvPr id="81" name="rect"/>
          <p:cNvSpPr txBox="0"/>
          <p:nvPr/>
        </p:nvSpPr>
        <p:spPr>
          <a:xfrm>
            <a:off x="1300162" y="3965258"/>
            <a:ext cx="147638" cy="147638"/>
          </a:xfrm>
          <a:prstGeom prst="rect">
            <a:avLst/>
          </a:prstGeom>
          <a:solidFill>
            <a:srgbClr val="FFFFFF"/>
          </a:solidFill>
          <a:ln w="12700">
            <a:solidFill>
              <a:srgbClr val="999999"/>
            </a:solidFill>
          </a:ln>
        </p:spPr>
      </p:sp>
      <p:sp>
        <p:nvSpPr>
          <p:cNvPr id="82" name="rect"/>
          <p:cNvSpPr txBox="0"/>
          <p:nvPr/>
        </p:nvSpPr>
        <p:spPr>
          <a:xfrm>
            <a:off x="1447800" y="3965258"/>
            <a:ext cx="147638" cy="147638"/>
          </a:xfrm>
          <a:prstGeom prst="rect">
            <a:avLst/>
          </a:prstGeom>
          <a:solidFill>
            <a:srgbClr val="FFFFFF"/>
          </a:solidFill>
          <a:ln w="12700">
            <a:solidFill>
              <a:srgbClr val="999999"/>
            </a:solidFill>
          </a:ln>
        </p:spPr>
      </p:sp>
      <p:sp>
        <p:nvSpPr>
          <p:cNvPr id="83" name="rect"/>
          <p:cNvSpPr txBox="0"/>
          <p:nvPr/>
        </p:nvSpPr>
        <p:spPr>
          <a:xfrm>
            <a:off x="1595438" y="3965258"/>
            <a:ext cx="147638" cy="147638"/>
          </a:xfrm>
          <a:prstGeom prst="rect">
            <a:avLst/>
          </a:prstGeom>
          <a:solidFill>
            <a:srgbClr val="FFFFFF"/>
          </a:solidFill>
          <a:ln w="12700">
            <a:solidFill>
              <a:srgbClr val="999999"/>
            </a:solidFill>
          </a:ln>
        </p:spPr>
      </p:sp>
      <p:sp>
        <p:nvSpPr>
          <p:cNvPr id="84" name="rect"/>
          <p:cNvSpPr txBox="0"/>
          <p:nvPr/>
        </p:nvSpPr>
        <p:spPr>
          <a:xfrm>
            <a:off x="1743075" y="3965258"/>
            <a:ext cx="147638" cy="147638"/>
          </a:xfrm>
          <a:prstGeom prst="rect">
            <a:avLst/>
          </a:prstGeom>
          <a:solidFill>
            <a:srgbClr val="FFFFFF"/>
          </a:solidFill>
          <a:ln w="12700">
            <a:solidFill>
              <a:srgbClr val="999999"/>
            </a:solidFill>
          </a:ln>
        </p:spPr>
      </p:sp>
      <p:sp>
        <p:nvSpPr>
          <p:cNvPr id="85" name="S"/>
          <p:cNvSpPr txBox="1"/>
          <p:nvPr/>
        </p:nvSpPr>
        <p:spPr>
          <a:xfrm>
            <a:off x="1771650" y="397478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S</a:t>
            </a:r>
            <a:endParaRPr lang="en-US"/>
          </a:p>
        </p:txBody>
      </p:sp>
      <p:sp>
        <p:nvSpPr>
          <p:cNvPr id="86" name="rect"/>
          <p:cNvSpPr txBox="0"/>
          <p:nvPr/>
        </p:nvSpPr>
        <p:spPr>
          <a:xfrm>
            <a:off x="1890712" y="3965258"/>
            <a:ext cx="147638" cy="147638"/>
          </a:xfrm>
          <a:prstGeom prst="rect">
            <a:avLst/>
          </a:prstGeom>
          <a:solidFill>
            <a:srgbClr val="FFFFFF"/>
          </a:solidFill>
          <a:ln w="12700">
            <a:solidFill>
              <a:srgbClr val="999999"/>
            </a:solidFill>
          </a:ln>
        </p:spPr>
      </p:sp>
      <p:sp>
        <p:nvSpPr>
          <p:cNvPr id="87" name="E"/>
          <p:cNvSpPr txBox="1"/>
          <p:nvPr/>
        </p:nvSpPr>
        <p:spPr>
          <a:xfrm>
            <a:off x="1919288" y="3974782"/>
            <a:ext cx="119062" cy="240411"/>
          </a:xfrm>
          <a:prstGeom prst="rect">
            <a:avLst/>
          </a:prstGeom>
          <a:noFill/>
          <a:ln>
            <a:noFill/>
          </a:ln>
        </p:spPr>
        <p:txBody>
          <a:bodyPr wrap="square" lIns="0" rIns="0" tIns="0" bIns="0" anchor="t">
            <a:noAutofit/>
          </a:bodyPr>
          <a:lstStyle/>
          <a:p>
            <a:pPr>
              <a:lnSpc>
                <a:spcPct val="130000"/>
              </a:lnSpc>
            </a:pPr>
            <a:r>
              <a:rPr lang="en-US" sz="750" b="1">
                <a:solidFill>
                  <a:srgbClr val="222222"/>
                </a:solidFill>
                <a:latin typeface="Arial"/>
              </a:rPr>
              <a:t xml:space="preserve">E</a:t>
            </a:r>
            <a:endParaRPr lang="en-US"/>
          </a:p>
        </p:txBody>
      </p:sp>
      <p:sp>
        <p:nvSpPr>
          <p:cNvPr id="88" name="O = Odysseus S = sheep / R = rock E = exit Gray = warne"/>
          <p:cNvSpPr txBox="1"/>
          <p:nvPr/>
        </p:nvSpPr>
        <p:spPr>
          <a:xfrm>
            <a:off x="2209800" y="3017520"/>
            <a:ext cx="3943350" cy="1029424"/>
          </a:xfrm>
          <a:prstGeom prst="rect">
            <a:avLst/>
          </a:prstGeom>
          <a:noFill/>
          <a:ln>
            <a:noFill/>
          </a:ln>
        </p:spPr>
        <p:txBody>
          <a:bodyPr wrap="square" lIns="0" rIns="0" tIns="0" bIns="0" anchor="t">
            <a:noAutofit/>
          </a:bodyPr>
          <a:lstStyle/>
          <a:p>
            <a:pPr>
              <a:lnSpc>
                <a:spcPct val="130000"/>
              </a:lnSpc>
            </a:pPr>
            <a:r>
              <a:rPr lang="en-US" sz="1200" b="0">
                <a:solidFill>
                  <a:srgbClr val="222222"/>
                </a:solidFill>
                <a:latin typeface="Arial"/>
              </a:rPr>
              <a:t xml:space="preserve">O = Odysseus</a:t>
            </a:r>
            <a:endParaRPr lang="en-US"/>
          </a:p>
          <a:p>
            <a:pPr>
              <a:lnSpc>
                <a:spcPct val="130000"/>
              </a:lnSpc>
            </a:pPr>
            <a:r>
              <a:rPr lang="en-US" sz="1200" b="0">
                <a:solidFill>
                  <a:srgbClr val="222222"/>
                </a:solidFill>
                <a:latin typeface="Arial"/>
              </a:rPr>
              <a:t xml:space="preserve">S = sheep / R = rock</a:t>
            </a:r>
            <a:endParaRPr lang="en-US"/>
          </a:p>
          <a:p>
            <a:pPr>
              <a:lnSpc>
                <a:spcPct val="130000"/>
              </a:lnSpc>
            </a:pPr>
            <a:r>
              <a:rPr lang="en-US" sz="1200" b="0">
                <a:solidFill>
                  <a:srgbClr val="222222"/>
                </a:solidFill>
                <a:latin typeface="Arial"/>
              </a:rPr>
              <a:t xml:space="preserve">E = exit</a:t>
            </a:r>
            <a:endParaRPr lang="en-US"/>
          </a:p>
          <a:p>
            <a:pPr>
              <a:lnSpc>
                <a:spcPct val="130000"/>
              </a:lnSpc>
            </a:pPr>
            <a:r>
              <a:rPr lang="en-US" sz="1200" b="0">
                <a:solidFill>
                  <a:srgbClr val="222222"/>
                </a:solidFill>
                <a:latin typeface="Arial"/>
              </a:rPr>
              <a:t xml:space="preserve">Gray = warned smash</a:t>
            </a:r>
            <a:endParaRPr lang="en-US"/>
          </a:p>
        </p:txBody>
      </p:sp>
      <p:sp>
        <p:nvSpPr>
          <p:cNvPr id="89" name="rect"/>
          <p:cNvSpPr txBox="0"/>
          <p:nvPr/>
        </p:nvSpPr>
        <p:spPr>
          <a:xfrm>
            <a:off x="762000" y="4265295"/>
            <a:ext cx="5505450" cy="495300"/>
          </a:xfrm>
          <a:prstGeom prst="rect">
            <a:avLst/>
          </a:prstGeom>
          <a:solidFill>
            <a:srgbClr val="FAFAFA"/>
          </a:solidFill>
          <a:ln w="12700">
            <a:solidFill>
              <a:srgbClr val="AAAAAA"/>
            </a:solidFill>
          </a:ln>
        </p:spPr>
      </p:sp>
      <p:sp>
        <p:nvSpPr>
          <p:cNvPr id="90" name="Marked 2 x 2 smash area. One evade left."/>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Marked 2 x 2 smash area. One evade left.</a:t>
            </a:r>
            <a:endParaRPr lang="en-US"/>
          </a:p>
        </p:txBody>
      </p:sp>
      <p:sp>
        <p:nvSpPr>
          <p:cNvPr id="91" name="rect"/>
          <p:cNvSpPr txBox="0"/>
          <p:nvPr/>
        </p:nvSpPr>
        <p:spPr>
          <a:xfrm>
            <a:off x="762000" y="4836795"/>
            <a:ext cx="5505450" cy="495300"/>
          </a:xfrm>
          <a:prstGeom prst="rect">
            <a:avLst/>
          </a:prstGeom>
          <a:solidFill>
            <a:srgbClr val="EEEEEE"/>
          </a:solidFill>
          <a:ln w="12700">
            <a:solidFill>
              <a:srgbClr val="AAAAAA"/>
            </a:solidFill>
          </a:ln>
        </p:spPr>
      </p:sp>
      <p:sp>
        <p:nvSpPr>
          <p:cNvPr id="92" name="Up / Left / Right / Down / Sneak-Dash / Hide"/>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Up / Left / Right / Down / Sneak-Dash / Hide</a:t>
            </a:r>
            <a:endParaRPr lang="en-US"/>
          </a:p>
        </p:txBody>
      </p:sp>
      <p:sp>
        <p:nvSpPr>
          <p:cNvPr id="93" name="rect"/>
          <p:cNvSpPr txBox="0"/>
          <p:nvPr/>
        </p:nvSpPr>
        <p:spPr>
          <a:xfrm>
            <a:off x="762000" y="5408295"/>
            <a:ext cx="5505450" cy="495300"/>
          </a:xfrm>
          <a:prstGeom prst="rect">
            <a:avLst/>
          </a:prstGeom>
          <a:solidFill>
            <a:srgbClr val="EEEEEE"/>
          </a:solidFill>
          <a:ln w="12700">
            <a:solidFill>
              <a:srgbClr val="AAAAAA"/>
            </a:solidFill>
          </a:ln>
        </p:spPr>
      </p:sp>
      <p:sp>
        <p:nvSpPr>
          <p:cNvPr id="94" name="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a:t>
            </a:r>
            <a:endParaRPr lang="en-US"/>
          </a:p>
        </p:txBody>
      </p:sp>
      <p:sp>
        <p:nvSpPr>
          <p:cNvPr id="9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96" name="Blind rival uses noise clues. The visible target locks "/>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Blind rival uses noise clues. The visible</a:t>
            </a:r>
            <a:endParaRPr lang="en-US"/>
          </a:p>
          <a:p>
            <a:pPr>
              <a:lnSpc>
                <a:spcPct val="130000"/>
              </a:lnSpc>
            </a:pPr>
            <a:r>
              <a:rPr lang="en-US" sz="1950" b="0">
                <a:solidFill>
                  <a:srgbClr val="102E40"/>
                </a:solidFill>
                <a:latin typeface="Arial"/>
              </a:rPr>
              <a:t xml:space="preserve">target locks before the single evade.</a:t>
            </a:r>
            <a:endParaRPr lang="en-US"/>
          </a:p>
          <a:p>
            <a:pPr>
              <a:lnSpc>
                <a:spcPct val="130000"/>
              </a:lnSpc>
            </a:pPr>
            <a:r>
              <a:rPr lang="en-US" sz="1950" b="0">
                <a:solidFill>
                  <a:srgbClr val="102E40"/>
                </a:solidFill>
                <a:latin typeface="Arial"/>
              </a:rPr>
              <a:t xml:space="preserve">Exits and sheep have symbols.</a:t>
            </a:r>
            <a:endParaRPr lang="en-US"/>
          </a:p>
        </p:txBody>
      </p:sp>
      <p:sp>
        <p:nvSpPr>
          <p:cNvPr id="97" name="Screen S05 Flow F3 State player / smash warning"/>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S05</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player / smash warning</a:t>
            </a:r>
            <a:endParaRPr lang="en-US"/>
          </a:p>
        </p:txBody>
      </p:sp>
      <p:sp>
        <p:nvSpPr>
          <p:cNvPr id="98" name="Farshore / Phase 2 / 3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2: Circe puzzle duel"/>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W12: Circe puzzle duel</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2  Circe puzzle duel"/>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W12  Circe puzzle duel</a:t>
            </a:r>
            <a:endParaRPr lang="en-US"/>
          </a:p>
        </p:txBody>
      </p:sp>
      <p:sp>
        <p:nvSpPr>
          <p:cNvPr id="6" name="S06 / simultaneous play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S06 / simultaneous play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Your score / Circe score / time / rival mod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score / Circe score / time / rival mode</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YOUR BOARD"/>
          <p:cNvSpPr txBox="1"/>
          <p:nvPr/>
        </p:nvSpPr>
        <p:spPr>
          <a:xfrm>
            <a:off x="914400" y="2903220"/>
            <a:ext cx="2524125" cy="298856"/>
          </a:xfrm>
          <a:prstGeom prst="rect">
            <a:avLst/>
          </a:prstGeom>
          <a:noFill/>
          <a:ln>
            <a:noFill/>
          </a:ln>
        </p:spPr>
        <p:txBody>
          <a:bodyPr wrap="square" lIns="0" rIns="0" tIns="0" bIns="0" anchor="t">
            <a:noAutofit/>
          </a:bodyPr>
          <a:lstStyle/>
          <a:p>
            <a:pPr>
              <a:lnSpc>
                <a:spcPct val="130000"/>
              </a:lnSpc>
            </a:pPr>
            <a:r>
              <a:rPr lang="en-US" sz="1050" b="1">
                <a:solidFill>
                  <a:srgbClr val="222222"/>
                </a:solidFill>
                <a:latin typeface="Arial"/>
              </a:rPr>
              <a:t xml:space="preserve">YOUR BOARD</a:t>
            </a:r>
            <a:endParaRPr lang="en-US"/>
          </a:p>
        </p:txBody>
      </p:sp>
      <p:sp>
        <p:nvSpPr>
          <p:cNvPr id="11" name="rect"/>
          <p:cNvSpPr txBox="0"/>
          <p:nvPr/>
        </p:nvSpPr>
        <p:spPr>
          <a:xfrm>
            <a:off x="914400" y="3112770"/>
            <a:ext cx="100965" cy="100965"/>
          </a:xfrm>
          <a:prstGeom prst="rect">
            <a:avLst/>
          </a:prstGeom>
          <a:solidFill>
            <a:srgbClr val="FFFFFF"/>
          </a:solidFill>
          <a:ln w="12700">
            <a:solidFill>
              <a:srgbClr val="999999"/>
            </a:solidFill>
          </a:ln>
        </p:spPr>
      </p:sp>
      <p:sp>
        <p:nvSpPr>
          <p:cNvPr id="12" name="rect"/>
          <p:cNvSpPr txBox="0"/>
          <p:nvPr/>
        </p:nvSpPr>
        <p:spPr>
          <a:xfrm>
            <a:off x="1015365" y="3112770"/>
            <a:ext cx="100965" cy="100965"/>
          </a:xfrm>
          <a:prstGeom prst="rect">
            <a:avLst/>
          </a:prstGeom>
          <a:solidFill>
            <a:srgbClr val="FFFFFF"/>
          </a:solidFill>
          <a:ln w="12700">
            <a:solidFill>
              <a:srgbClr val="999999"/>
            </a:solidFill>
          </a:ln>
        </p:spPr>
      </p:sp>
      <p:sp>
        <p:nvSpPr>
          <p:cNvPr id="13" name="rect"/>
          <p:cNvSpPr txBox="0"/>
          <p:nvPr/>
        </p:nvSpPr>
        <p:spPr>
          <a:xfrm>
            <a:off x="1116330" y="3112770"/>
            <a:ext cx="100965" cy="100965"/>
          </a:xfrm>
          <a:prstGeom prst="rect">
            <a:avLst/>
          </a:prstGeom>
          <a:solidFill>
            <a:srgbClr val="FFFFFF"/>
          </a:solidFill>
          <a:ln w="12700">
            <a:solidFill>
              <a:srgbClr val="999999"/>
            </a:solidFill>
          </a:ln>
        </p:spPr>
      </p:sp>
      <p:sp>
        <p:nvSpPr>
          <p:cNvPr id="14" name="rect"/>
          <p:cNvSpPr txBox="0"/>
          <p:nvPr/>
        </p:nvSpPr>
        <p:spPr>
          <a:xfrm>
            <a:off x="1217295" y="3112770"/>
            <a:ext cx="100965" cy="100965"/>
          </a:xfrm>
          <a:prstGeom prst="rect">
            <a:avLst/>
          </a:prstGeom>
          <a:solidFill>
            <a:srgbClr val="FFFFFF"/>
          </a:solidFill>
          <a:ln w="12700">
            <a:solidFill>
              <a:srgbClr val="999999"/>
            </a:solidFill>
          </a:ln>
        </p:spPr>
      </p:sp>
      <p:sp>
        <p:nvSpPr>
          <p:cNvPr id="15" name="rect"/>
          <p:cNvSpPr txBox="0"/>
          <p:nvPr/>
        </p:nvSpPr>
        <p:spPr>
          <a:xfrm>
            <a:off x="1318260" y="3112770"/>
            <a:ext cx="100965" cy="100965"/>
          </a:xfrm>
          <a:prstGeom prst="rect">
            <a:avLst/>
          </a:prstGeom>
          <a:solidFill>
            <a:srgbClr val="FFFFFF"/>
          </a:solidFill>
          <a:ln w="12700">
            <a:solidFill>
              <a:srgbClr val="999999"/>
            </a:solidFill>
          </a:ln>
        </p:spPr>
      </p:sp>
      <p:sp>
        <p:nvSpPr>
          <p:cNvPr id="16" name="rect"/>
          <p:cNvSpPr txBox="0"/>
          <p:nvPr/>
        </p:nvSpPr>
        <p:spPr>
          <a:xfrm>
            <a:off x="1419225" y="3112770"/>
            <a:ext cx="100965" cy="100965"/>
          </a:xfrm>
          <a:prstGeom prst="rect">
            <a:avLst/>
          </a:prstGeom>
          <a:solidFill>
            <a:srgbClr val="FFFFFF"/>
          </a:solidFill>
          <a:ln w="12700">
            <a:solidFill>
              <a:srgbClr val="999999"/>
            </a:solidFill>
          </a:ln>
        </p:spPr>
      </p:sp>
      <p:sp>
        <p:nvSpPr>
          <p:cNvPr id="17" name="rect"/>
          <p:cNvSpPr txBox="0"/>
          <p:nvPr/>
        </p:nvSpPr>
        <p:spPr>
          <a:xfrm>
            <a:off x="914400" y="3213735"/>
            <a:ext cx="100965" cy="100965"/>
          </a:xfrm>
          <a:prstGeom prst="rect">
            <a:avLst/>
          </a:prstGeom>
          <a:solidFill>
            <a:srgbClr val="FFFFFF"/>
          </a:solidFill>
          <a:ln w="12700">
            <a:solidFill>
              <a:srgbClr val="999999"/>
            </a:solidFill>
          </a:ln>
        </p:spPr>
      </p:sp>
      <p:sp>
        <p:nvSpPr>
          <p:cNvPr id="18" name="rect"/>
          <p:cNvSpPr txBox="0"/>
          <p:nvPr/>
        </p:nvSpPr>
        <p:spPr>
          <a:xfrm>
            <a:off x="1015365" y="3213735"/>
            <a:ext cx="100965" cy="100965"/>
          </a:xfrm>
          <a:prstGeom prst="rect">
            <a:avLst/>
          </a:prstGeom>
          <a:solidFill>
            <a:srgbClr val="FFFFFF"/>
          </a:solidFill>
          <a:ln w="12700">
            <a:solidFill>
              <a:srgbClr val="999999"/>
            </a:solidFill>
          </a:ln>
        </p:spPr>
      </p:sp>
      <p:sp>
        <p:nvSpPr>
          <p:cNvPr id="19" name="rect"/>
          <p:cNvSpPr txBox="0"/>
          <p:nvPr/>
        </p:nvSpPr>
        <p:spPr>
          <a:xfrm>
            <a:off x="1116330" y="3213735"/>
            <a:ext cx="100965" cy="100965"/>
          </a:xfrm>
          <a:prstGeom prst="rect">
            <a:avLst/>
          </a:prstGeom>
          <a:solidFill>
            <a:srgbClr val="FFFFFF"/>
          </a:solidFill>
          <a:ln w="12700">
            <a:solidFill>
              <a:srgbClr val="999999"/>
            </a:solidFill>
          </a:ln>
        </p:spPr>
      </p:sp>
      <p:sp>
        <p:nvSpPr>
          <p:cNvPr id="20" name="rect"/>
          <p:cNvSpPr txBox="0"/>
          <p:nvPr/>
        </p:nvSpPr>
        <p:spPr>
          <a:xfrm>
            <a:off x="1217295" y="3213735"/>
            <a:ext cx="100965" cy="100965"/>
          </a:xfrm>
          <a:prstGeom prst="rect">
            <a:avLst/>
          </a:prstGeom>
          <a:solidFill>
            <a:srgbClr val="FFFFFF"/>
          </a:solidFill>
          <a:ln w="12700">
            <a:solidFill>
              <a:srgbClr val="999999"/>
            </a:solidFill>
          </a:ln>
        </p:spPr>
      </p:sp>
      <p:sp>
        <p:nvSpPr>
          <p:cNvPr id="21" name="rect"/>
          <p:cNvSpPr txBox="0"/>
          <p:nvPr/>
        </p:nvSpPr>
        <p:spPr>
          <a:xfrm>
            <a:off x="1318260" y="3213735"/>
            <a:ext cx="100965" cy="100965"/>
          </a:xfrm>
          <a:prstGeom prst="rect">
            <a:avLst/>
          </a:prstGeom>
          <a:solidFill>
            <a:srgbClr val="FFFFFF"/>
          </a:solidFill>
          <a:ln w="12700">
            <a:solidFill>
              <a:srgbClr val="999999"/>
            </a:solidFill>
          </a:ln>
        </p:spPr>
      </p:sp>
      <p:sp>
        <p:nvSpPr>
          <p:cNvPr id="22" name="rect"/>
          <p:cNvSpPr txBox="0"/>
          <p:nvPr/>
        </p:nvSpPr>
        <p:spPr>
          <a:xfrm>
            <a:off x="1419225" y="3213735"/>
            <a:ext cx="100965" cy="100965"/>
          </a:xfrm>
          <a:prstGeom prst="rect">
            <a:avLst/>
          </a:prstGeom>
          <a:solidFill>
            <a:srgbClr val="FFFFFF"/>
          </a:solidFill>
          <a:ln w="12700">
            <a:solidFill>
              <a:srgbClr val="999999"/>
            </a:solidFill>
          </a:ln>
        </p:spPr>
      </p:sp>
      <p:sp>
        <p:nvSpPr>
          <p:cNvPr id="23" name="rect"/>
          <p:cNvSpPr txBox="0"/>
          <p:nvPr/>
        </p:nvSpPr>
        <p:spPr>
          <a:xfrm>
            <a:off x="914400" y="3314700"/>
            <a:ext cx="100965" cy="100965"/>
          </a:xfrm>
          <a:prstGeom prst="rect">
            <a:avLst/>
          </a:prstGeom>
          <a:solidFill>
            <a:srgbClr val="FFFFFF"/>
          </a:solidFill>
          <a:ln w="12700">
            <a:solidFill>
              <a:srgbClr val="999999"/>
            </a:solidFill>
          </a:ln>
        </p:spPr>
      </p:sp>
      <p:sp>
        <p:nvSpPr>
          <p:cNvPr id="24" name="rect"/>
          <p:cNvSpPr txBox="0"/>
          <p:nvPr/>
        </p:nvSpPr>
        <p:spPr>
          <a:xfrm>
            <a:off x="1015365" y="3314700"/>
            <a:ext cx="100965" cy="100965"/>
          </a:xfrm>
          <a:prstGeom prst="rect">
            <a:avLst/>
          </a:prstGeom>
          <a:solidFill>
            <a:srgbClr val="FFFFFF"/>
          </a:solidFill>
          <a:ln w="12700">
            <a:solidFill>
              <a:srgbClr val="999999"/>
            </a:solidFill>
          </a:ln>
        </p:spPr>
      </p:sp>
      <p:sp>
        <p:nvSpPr>
          <p:cNvPr id="25" name="rect"/>
          <p:cNvSpPr txBox="0"/>
          <p:nvPr/>
        </p:nvSpPr>
        <p:spPr>
          <a:xfrm>
            <a:off x="1116330" y="3314700"/>
            <a:ext cx="100965" cy="100965"/>
          </a:xfrm>
          <a:prstGeom prst="rect">
            <a:avLst/>
          </a:prstGeom>
          <a:solidFill>
            <a:srgbClr val="FFFFFF"/>
          </a:solidFill>
          <a:ln w="12700">
            <a:solidFill>
              <a:srgbClr val="999999"/>
            </a:solidFill>
          </a:ln>
        </p:spPr>
      </p:sp>
      <p:sp>
        <p:nvSpPr>
          <p:cNvPr id="26" name="rect"/>
          <p:cNvSpPr txBox="0"/>
          <p:nvPr/>
        </p:nvSpPr>
        <p:spPr>
          <a:xfrm>
            <a:off x="1217295" y="3314700"/>
            <a:ext cx="100965" cy="100965"/>
          </a:xfrm>
          <a:prstGeom prst="rect">
            <a:avLst/>
          </a:prstGeom>
          <a:solidFill>
            <a:srgbClr val="CCCCCC"/>
          </a:solidFill>
          <a:ln w="12700">
            <a:solidFill>
              <a:srgbClr val="999999"/>
            </a:solidFill>
          </a:ln>
        </p:spPr>
      </p:sp>
      <p:sp>
        <p:nvSpPr>
          <p:cNvPr id="27" name="rect"/>
          <p:cNvSpPr txBox="0"/>
          <p:nvPr/>
        </p:nvSpPr>
        <p:spPr>
          <a:xfrm>
            <a:off x="1318260" y="3314700"/>
            <a:ext cx="100965" cy="100965"/>
          </a:xfrm>
          <a:prstGeom prst="rect">
            <a:avLst/>
          </a:prstGeom>
          <a:solidFill>
            <a:srgbClr val="FFFFFF"/>
          </a:solidFill>
          <a:ln w="12700">
            <a:solidFill>
              <a:srgbClr val="999999"/>
            </a:solidFill>
          </a:ln>
        </p:spPr>
      </p:sp>
      <p:sp>
        <p:nvSpPr>
          <p:cNvPr id="28" name="rect"/>
          <p:cNvSpPr txBox="0"/>
          <p:nvPr/>
        </p:nvSpPr>
        <p:spPr>
          <a:xfrm>
            <a:off x="1419225" y="3314700"/>
            <a:ext cx="100965" cy="100965"/>
          </a:xfrm>
          <a:prstGeom prst="rect">
            <a:avLst/>
          </a:prstGeom>
          <a:solidFill>
            <a:srgbClr val="FFFFFF"/>
          </a:solidFill>
          <a:ln w="12700">
            <a:solidFill>
              <a:srgbClr val="999999"/>
            </a:solidFill>
          </a:ln>
        </p:spPr>
      </p:sp>
      <p:sp>
        <p:nvSpPr>
          <p:cNvPr id="29" name="rect"/>
          <p:cNvSpPr txBox="0"/>
          <p:nvPr/>
        </p:nvSpPr>
        <p:spPr>
          <a:xfrm>
            <a:off x="914400" y="3415665"/>
            <a:ext cx="100965" cy="100965"/>
          </a:xfrm>
          <a:prstGeom prst="rect">
            <a:avLst/>
          </a:prstGeom>
          <a:solidFill>
            <a:srgbClr val="FFFFFF"/>
          </a:solidFill>
          <a:ln w="12700">
            <a:solidFill>
              <a:srgbClr val="999999"/>
            </a:solidFill>
          </a:ln>
        </p:spPr>
      </p:sp>
      <p:sp>
        <p:nvSpPr>
          <p:cNvPr id="30" name="rect"/>
          <p:cNvSpPr txBox="0"/>
          <p:nvPr/>
        </p:nvSpPr>
        <p:spPr>
          <a:xfrm>
            <a:off x="1015365" y="3415665"/>
            <a:ext cx="100965" cy="100965"/>
          </a:xfrm>
          <a:prstGeom prst="rect">
            <a:avLst/>
          </a:prstGeom>
          <a:solidFill>
            <a:srgbClr val="FFFFFF"/>
          </a:solidFill>
          <a:ln w="12700">
            <a:solidFill>
              <a:srgbClr val="999999"/>
            </a:solidFill>
          </a:ln>
        </p:spPr>
      </p:sp>
      <p:sp>
        <p:nvSpPr>
          <p:cNvPr id="31" name="rect"/>
          <p:cNvSpPr txBox="0"/>
          <p:nvPr/>
        </p:nvSpPr>
        <p:spPr>
          <a:xfrm>
            <a:off x="1116330" y="3415665"/>
            <a:ext cx="100965" cy="100965"/>
          </a:xfrm>
          <a:prstGeom prst="rect">
            <a:avLst/>
          </a:prstGeom>
          <a:solidFill>
            <a:srgbClr val="FFFFFF"/>
          </a:solidFill>
          <a:ln w="12700">
            <a:solidFill>
              <a:srgbClr val="999999"/>
            </a:solidFill>
          </a:ln>
        </p:spPr>
      </p:sp>
      <p:sp>
        <p:nvSpPr>
          <p:cNvPr id="32" name="rect"/>
          <p:cNvSpPr txBox="0"/>
          <p:nvPr/>
        </p:nvSpPr>
        <p:spPr>
          <a:xfrm>
            <a:off x="1217295" y="3415665"/>
            <a:ext cx="100965" cy="100965"/>
          </a:xfrm>
          <a:prstGeom prst="rect">
            <a:avLst/>
          </a:prstGeom>
          <a:solidFill>
            <a:srgbClr val="FFFFFF"/>
          </a:solidFill>
          <a:ln w="12700">
            <a:solidFill>
              <a:srgbClr val="999999"/>
            </a:solidFill>
          </a:ln>
        </p:spPr>
      </p:sp>
      <p:sp>
        <p:nvSpPr>
          <p:cNvPr id="33" name="rect"/>
          <p:cNvSpPr txBox="0"/>
          <p:nvPr/>
        </p:nvSpPr>
        <p:spPr>
          <a:xfrm>
            <a:off x="1318260" y="3415665"/>
            <a:ext cx="100965" cy="100965"/>
          </a:xfrm>
          <a:prstGeom prst="rect">
            <a:avLst/>
          </a:prstGeom>
          <a:solidFill>
            <a:srgbClr val="FFFFFF"/>
          </a:solidFill>
          <a:ln w="12700">
            <a:solidFill>
              <a:srgbClr val="999999"/>
            </a:solidFill>
          </a:ln>
        </p:spPr>
      </p:sp>
      <p:sp>
        <p:nvSpPr>
          <p:cNvPr id="34" name="rect"/>
          <p:cNvSpPr txBox="0"/>
          <p:nvPr/>
        </p:nvSpPr>
        <p:spPr>
          <a:xfrm>
            <a:off x="1419225" y="3415665"/>
            <a:ext cx="100965" cy="100965"/>
          </a:xfrm>
          <a:prstGeom prst="rect">
            <a:avLst/>
          </a:prstGeom>
          <a:solidFill>
            <a:srgbClr val="FFFFFF"/>
          </a:solidFill>
          <a:ln w="12700">
            <a:solidFill>
              <a:srgbClr val="999999"/>
            </a:solidFill>
          </a:ln>
        </p:spPr>
      </p:sp>
      <p:sp>
        <p:nvSpPr>
          <p:cNvPr id="35" name="rect"/>
          <p:cNvSpPr txBox="0"/>
          <p:nvPr/>
        </p:nvSpPr>
        <p:spPr>
          <a:xfrm>
            <a:off x="914400" y="3516630"/>
            <a:ext cx="100965" cy="100965"/>
          </a:xfrm>
          <a:prstGeom prst="rect">
            <a:avLst/>
          </a:prstGeom>
          <a:solidFill>
            <a:srgbClr val="FFFFFF"/>
          </a:solidFill>
          <a:ln w="12700">
            <a:solidFill>
              <a:srgbClr val="999999"/>
            </a:solidFill>
          </a:ln>
        </p:spPr>
      </p:sp>
      <p:sp>
        <p:nvSpPr>
          <p:cNvPr id="36" name="rect"/>
          <p:cNvSpPr txBox="0"/>
          <p:nvPr/>
        </p:nvSpPr>
        <p:spPr>
          <a:xfrm>
            <a:off x="1015365" y="3516630"/>
            <a:ext cx="100965" cy="100965"/>
          </a:xfrm>
          <a:prstGeom prst="rect">
            <a:avLst/>
          </a:prstGeom>
          <a:solidFill>
            <a:srgbClr val="FFFFFF"/>
          </a:solidFill>
          <a:ln w="12700">
            <a:solidFill>
              <a:srgbClr val="999999"/>
            </a:solidFill>
          </a:ln>
        </p:spPr>
      </p:sp>
      <p:sp>
        <p:nvSpPr>
          <p:cNvPr id="37" name="rect"/>
          <p:cNvSpPr txBox="0"/>
          <p:nvPr/>
        </p:nvSpPr>
        <p:spPr>
          <a:xfrm>
            <a:off x="1116330" y="3516630"/>
            <a:ext cx="100965" cy="100965"/>
          </a:xfrm>
          <a:prstGeom prst="rect">
            <a:avLst/>
          </a:prstGeom>
          <a:solidFill>
            <a:srgbClr val="FFFFFF"/>
          </a:solidFill>
          <a:ln w="12700">
            <a:solidFill>
              <a:srgbClr val="999999"/>
            </a:solidFill>
          </a:ln>
        </p:spPr>
      </p:sp>
      <p:sp>
        <p:nvSpPr>
          <p:cNvPr id="38" name="rect"/>
          <p:cNvSpPr txBox="0"/>
          <p:nvPr/>
        </p:nvSpPr>
        <p:spPr>
          <a:xfrm>
            <a:off x="1217295" y="3516630"/>
            <a:ext cx="100965" cy="100965"/>
          </a:xfrm>
          <a:prstGeom prst="rect">
            <a:avLst/>
          </a:prstGeom>
          <a:solidFill>
            <a:srgbClr val="FFFFFF"/>
          </a:solidFill>
          <a:ln w="12700">
            <a:solidFill>
              <a:srgbClr val="999999"/>
            </a:solidFill>
          </a:ln>
        </p:spPr>
      </p:sp>
      <p:sp>
        <p:nvSpPr>
          <p:cNvPr id="39" name="rect"/>
          <p:cNvSpPr txBox="0"/>
          <p:nvPr/>
        </p:nvSpPr>
        <p:spPr>
          <a:xfrm>
            <a:off x="1318260" y="3516630"/>
            <a:ext cx="100965" cy="100965"/>
          </a:xfrm>
          <a:prstGeom prst="rect">
            <a:avLst/>
          </a:prstGeom>
          <a:solidFill>
            <a:srgbClr val="FFFFFF"/>
          </a:solidFill>
          <a:ln w="12700">
            <a:solidFill>
              <a:srgbClr val="999999"/>
            </a:solidFill>
          </a:ln>
        </p:spPr>
      </p:sp>
      <p:sp>
        <p:nvSpPr>
          <p:cNvPr id="40" name="rect"/>
          <p:cNvSpPr txBox="0"/>
          <p:nvPr/>
        </p:nvSpPr>
        <p:spPr>
          <a:xfrm>
            <a:off x="1419225" y="3516630"/>
            <a:ext cx="100965" cy="100965"/>
          </a:xfrm>
          <a:prstGeom prst="rect">
            <a:avLst/>
          </a:prstGeom>
          <a:solidFill>
            <a:srgbClr val="FFFFFF"/>
          </a:solidFill>
          <a:ln w="12700">
            <a:solidFill>
              <a:srgbClr val="999999"/>
            </a:solidFill>
          </a:ln>
        </p:spPr>
      </p:sp>
      <p:sp>
        <p:nvSpPr>
          <p:cNvPr id="41" name="rect"/>
          <p:cNvSpPr txBox="0"/>
          <p:nvPr/>
        </p:nvSpPr>
        <p:spPr>
          <a:xfrm>
            <a:off x="914400" y="3617595"/>
            <a:ext cx="100965" cy="100965"/>
          </a:xfrm>
          <a:prstGeom prst="rect">
            <a:avLst/>
          </a:prstGeom>
          <a:solidFill>
            <a:srgbClr val="FFFFFF"/>
          </a:solidFill>
          <a:ln w="12700">
            <a:solidFill>
              <a:srgbClr val="999999"/>
            </a:solidFill>
          </a:ln>
        </p:spPr>
      </p:sp>
      <p:sp>
        <p:nvSpPr>
          <p:cNvPr id="42" name="rect"/>
          <p:cNvSpPr txBox="0"/>
          <p:nvPr/>
        </p:nvSpPr>
        <p:spPr>
          <a:xfrm>
            <a:off x="1015365" y="3617595"/>
            <a:ext cx="100965" cy="100965"/>
          </a:xfrm>
          <a:prstGeom prst="rect">
            <a:avLst/>
          </a:prstGeom>
          <a:solidFill>
            <a:srgbClr val="FFFFFF"/>
          </a:solidFill>
          <a:ln w="12700">
            <a:solidFill>
              <a:srgbClr val="999999"/>
            </a:solidFill>
          </a:ln>
        </p:spPr>
      </p:sp>
      <p:sp>
        <p:nvSpPr>
          <p:cNvPr id="43" name="rect"/>
          <p:cNvSpPr txBox="0"/>
          <p:nvPr/>
        </p:nvSpPr>
        <p:spPr>
          <a:xfrm>
            <a:off x="1116330" y="3617595"/>
            <a:ext cx="100965" cy="100965"/>
          </a:xfrm>
          <a:prstGeom prst="rect">
            <a:avLst/>
          </a:prstGeom>
          <a:solidFill>
            <a:srgbClr val="FFFFFF"/>
          </a:solidFill>
          <a:ln w="12700">
            <a:solidFill>
              <a:srgbClr val="999999"/>
            </a:solidFill>
          </a:ln>
        </p:spPr>
      </p:sp>
      <p:sp>
        <p:nvSpPr>
          <p:cNvPr id="44" name="rect"/>
          <p:cNvSpPr txBox="0"/>
          <p:nvPr/>
        </p:nvSpPr>
        <p:spPr>
          <a:xfrm>
            <a:off x="1217295" y="3617595"/>
            <a:ext cx="100965" cy="100965"/>
          </a:xfrm>
          <a:prstGeom prst="rect">
            <a:avLst/>
          </a:prstGeom>
          <a:solidFill>
            <a:srgbClr val="FFFFFF"/>
          </a:solidFill>
          <a:ln w="12700">
            <a:solidFill>
              <a:srgbClr val="999999"/>
            </a:solidFill>
          </a:ln>
        </p:spPr>
      </p:sp>
      <p:sp>
        <p:nvSpPr>
          <p:cNvPr id="45" name="rect"/>
          <p:cNvSpPr txBox="0"/>
          <p:nvPr/>
        </p:nvSpPr>
        <p:spPr>
          <a:xfrm>
            <a:off x="1318260" y="3617595"/>
            <a:ext cx="100965" cy="100965"/>
          </a:xfrm>
          <a:prstGeom prst="rect">
            <a:avLst/>
          </a:prstGeom>
          <a:solidFill>
            <a:srgbClr val="FFFFFF"/>
          </a:solidFill>
          <a:ln w="12700">
            <a:solidFill>
              <a:srgbClr val="999999"/>
            </a:solidFill>
          </a:ln>
        </p:spPr>
      </p:sp>
      <p:sp>
        <p:nvSpPr>
          <p:cNvPr id="46" name="rect"/>
          <p:cNvSpPr txBox="0"/>
          <p:nvPr/>
        </p:nvSpPr>
        <p:spPr>
          <a:xfrm>
            <a:off x="1419225" y="3617595"/>
            <a:ext cx="100965" cy="100965"/>
          </a:xfrm>
          <a:prstGeom prst="rect">
            <a:avLst/>
          </a:prstGeom>
          <a:solidFill>
            <a:srgbClr val="FFFFFF"/>
          </a:solidFill>
          <a:ln w="12700">
            <a:solidFill>
              <a:srgbClr val="999999"/>
            </a:solidFill>
          </a:ln>
        </p:spPr>
      </p:sp>
      <p:sp>
        <p:nvSpPr>
          <p:cNvPr id="47" name="rect"/>
          <p:cNvSpPr txBox="0"/>
          <p:nvPr/>
        </p:nvSpPr>
        <p:spPr>
          <a:xfrm>
            <a:off x="914400" y="3718560"/>
            <a:ext cx="100965" cy="100965"/>
          </a:xfrm>
          <a:prstGeom prst="rect">
            <a:avLst/>
          </a:prstGeom>
          <a:solidFill>
            <a:srgbClr val="FFFFFF"/>
          </a:solidFill>
          <a:ln w="12700">
            <a:solidFill>
              <a:srgbClr val="999999"/>
            </a:solidFill>
          </a:ln>
        </p:spPr>
      </p:sp>
      <p:sp>
        <p:nvSpPr>
          <p:cNvPr id="48" name="rect"/>
          <p:cNvSpPr txBox="0"/>
          <p:nvPr/>
        </p:nvSpPr>
        <p:spPr>
          <a:xfrm>
            <a:off x="1015365" y="3718560"/>
            <a:ext cx="100965" cy="100965"/>
          </a:xfrm>
          <a:prstGeom prst="rect">
            <a:avLst/>
          </a:prstGeom>
          <a:solidFill>
            <a:srgbClr val="FFFFFF"/>
          </a:solidFill>
          <a:ln w="12700">
            <a:solidFill>
              <a:srgbClr val="999999"/>
            </a:solidFill>
          </a:ln>
        </p:spPr>
      </p:sp>
      <p:sp>
        <p:nvSpPr>
          <p:cNvPr id="49" name="rect"/>
          <p:cNvSpPr txBox="0"/>
          <p:nvPr/>
        </p:nvSpPr>
        <p:spPr>
          <a:xfrm>
            <a:off x="1116330" y="3718560"/>
            <a:ext cx="100965" cy="100965"/>
          </a:xfrm>
          <a:prstGeom prst="rect">
            <a:avLst/>
          </a:prstGeom>
          <a:solidFill>
            <a:srgbClr val="FFFFFF"/>
          </a:solidFill>
          <a:ln w="12700">
            <a:solidFill>
              <a:srgbClr val="999999"/>
            </a:solidFill>
          </a:ln>
        </p:spPr>
      </p:sp>
      <p:sp>
        <p:nvSpPr>
          <p:cNvPr id="50" name="rect"/>
          <p:cNvSpPr txBox="0"/>
          <p:nvPr/>
        </p:nvSpPr>
        <p:spPr>
          <a:xfrm>
            <a:off x="1217295" y="3718560"/>
            <a:ext cx="100965" cy="100965"/>
          </a:xfrm>
          <a:prstGeom prst="rect">
            <a:avLst/>
          </a:prstGeom>
          <a:solidFill>
            <a:srgbClr val="FFFFFF"/>
          </a:solidFill>
          <a:ln w="12700">
            <a:solidFill>
              <a:srgbClr val="999999"/>
            </a:solidFill>
          </a:ln>
        </p:spPr>
      </p:sp>
      <p:sp>
        <p:nvSpPr>
          <p:cNvPr id="51" name="rect"/>
          <p:cNvSpPr txBox="0"/>
          <p:nvPr/>
        </p:nvSpPr>
        <p:spPr>
          <a:xfrm>
            <a:off x="1318260" y="3718560"/>
            <a:ext cx="100965" cy="100965"/>
          </a:xfrm>
          <a:prstGeom prst="rect">
            <a:avLst/>
          </a:prstGeom>
          <a:solidFill>
            <a:srgbClr val="FFFFFF"/>
          </a:solidFill>
          <a:ln w="12700">
            <a:solidFill>
              <a:srgbClr val="999999"/>
            </a:solidFill>
          </a:ln>
        </p:spPr>
      </p:sp>
      <p:sp>
        <p:nvSpPr>
          <p:cNvPr id="52" name="rect"/>
          <p:cNvSpPr txBox="0"/>
          <p:nvPr/>
        </p:nvSpPr>
        <p:spPr>
          <a:xfrm>
            <a:off x="1419225" y="3718560"/>
            <a:ext cx="100965" cy="100965"/>
          </a:xfrm>
          <a:prstGeom prst="rect">
            <a:avLst/>
          </a:prstGeom>
          <a:solidFill>
            <a:srgbClr val="FFFFFF"/>
          </a:solidFill>
          <a:ln w="12700">
            <a:solidFill>
              <a:srgbClr val="999999"/>
            </a:solidFill>
          </a:ln>
        </p:spPr>
      </p:sp>
      <p:sp>
        <p:nvSpPr>
          <p:cNvPr id="53" name="rect"/>
          <p:cNvSpPr txBox="0"/>
          <p:nvPr/>
        </p:nvSpPr>
        <p:spPr>
          <a:xfrm>
            <a:off x="914400" y="3819525"/>
            <a:ext cx="100965" cy="100965"/>
          </a:xfrm>
          <a:prstGeom prst="rect">
            <a:avLst/>
          </a:prstGeom>
          <a:solidFill>
            <a:srgbClr val="CCCCCC"/>
          </a:solidFill>
          <a:ln w="12700">
            <a:solidFill>
              <a:srgbClr val="999999"/>
            </a:solidFill>
          </a:ln>
        </p:spPr>
      </p:sp>
      <p:sp>
        <p:nvSpPr>
          <p:cNvPr id="54" name="rect"/>
          <p:cNvSpPr txBox="0"/>
          <p:nvPr/>
        </p:nvSpPr>
        <p:spPr>
          <a:xfrm>
            <a:off x="1015365" y="3819525"/>
            <a:ext cx="100965" cy="100965"/>
          </a:xfrm>
          <a:prstGeom prst="rect">
            <a:avLst/>
          </a:prstGeom>
          <a:solidFill>
            <a:srgbClr val="CCCCCC"/>
          </a:solidFill>
          <a:ln w="12700">
            <a:solidFill>
              <a:srgbClr val="999999"/>
            </a:solidFill>
          </a:ln>
        </p:spPr>
      </p:sp>
      <p:sp>
        <p:nvSpPr>
          <p:cNvPr id="55" name="rect"/>
          <p:cNvSpPr txBox="0"/>
          <p:nvPr/>
        </p:nvSpPr>
        <p:spPr>
          <a:xfrm>
            <a:off x="1116330" y="3819525"/>
            <a:ext cx="100965" cy="100965"/>
          </a:xfrm>
          <a:prstGeom prst="rect">
            <a:avLst/>
          </a:prstGeom>
          <a:solidFill>
            <a:srgbClr val="CCCCCC"/>
          </a:solidFill>
          <a:ln w="12700">
            <a:solidFill>
              <a:srgbClr val="999999"/>
            </a:solidFill>
          </a:ln>
        </p:spPr>
      </p:sp>
      <p:sp>
        <p:nvSpPr>
          <p:cNvPr id="56" name="rect"/>
          <p:cNvSpPr txBox="0"/>
          <p:nvPr/>
        </p:nvSpPr>
        <p:spPr>
          <a:xfrm>
            <a:off x="1217295" y="3819525"/>
            <a:ext cx="100965" cy="100965"/>
          </a:xfrm>
          <a:prstGeom prst="rect">
            <a:avLst/>
          </a:prstGeom>
          <a:solidFill>
            <a:srgbClr val="CCCCCC"/>
          </a:solidFill>
          <a:ln w="12700">
            <a:solidFill>
              <a:srgbClr val="999999"/>
            </a:solidFill>
          </a:ln>
        </p:spPr>
      </p:sp>
      <p:sp>
        <p:nvSpPr>
          <p:cNvPr id="57" name="rect"/>
          <p:cNvSpPr txBox="0"/>
          <p:nvPr/>
        </p:nvSpPr>
        <p:spPr>
          <a:xfrm>
            <a:off x="1318260" y="3819525"/>
            <a:ext cx="100965" cy="100965"/>
          </a:xfrm>
          <a:prstGeom prst="rect">
            <a:avLst/>
          </a:prstGeom>
          <a:solidFill>
            <a:srgbClr val="CCCCCC"/>
          </a:solidFill>
          <a:ln w="12700">
            <a:solidFill>
              <a:srgbClr val="999999"/>
            </a:solidFill>
          </a:ln>
        </p:spPr>
      </p:sp>
      <p:sp>
        <p:nvSpPr>
          <p:cNvPr id="58" name="rect"/>
          <p:cNvSpPr txBox="0"/>
          <p:nvPr/>
        </p:nvSpPr>
        <p:spPr>
          <a:xfrm>
            <a:off x="1419225" y="3819525"/>
            <a:ext cx="100965" cy="100965"/>
          </a:xfrm>
          <a:prstGeom prst="rect">
            <a:avLst/>
          </a:prstGeom>
          <a:solidFill>
            <a:srgbClr val="CCCCCC"/>
          </a:solidFill>
          <a:ln w="12700">
            <a:solidFill>
              <a:srgbClr val="999999"/>
            </a:solidFill>
          </a:ln>
        </p:spPr>
      </p:sp>
      <p:sp>
        <p:nvSpPr>
          <p:cNvPr id="59" name="rect"/>
          <p:cNvSpPr txBox="0"/>
          <p:nvPr/>
        </p:nvSpPr>
        <p:spPr>
          <a:xfrm>
            <a:off x="914400" y="3920490"/>
            <a:ext cx="100965" cy="100965"/>
          </a:xfrm>
          <a:prstGeom prst="rect">
            <a:avLst/>
          </a:prstGeom>
          <a:solidFill>
            <a:srgbClr val="CCCCCC"/>
          </a:solidFill>
          <a:ln w="12700">
            <a:solidFill>
              <a:srgbClr val="999999"/>
            </a:solidFill>
          </a:ln>
        </p:spPr>
      </p:sp>
      <p:sp>
        <p:nvSpPr>
          <p:cNvPr id="60" name="rect"/>
          <p:cNvSpPr txBox="0"/>
          <p:nvPr/>
        </p:nvSpPr>
        <p:spPr>
          <a:xfrm>
            <a:off x="1015365" y="3920490"/>
            <a:ext cx="100965" cy="100965"/>
          </a:xfrm>
          <a:prstGeom prst="rect">
            <a:avLst/>
          </a:prstGeom>
          <a:solidFill>
            <a:srgbClr val="CCCCCC"/>
          </a:solidFill>
          <a:ln w="12700">
            <a:solidFill>
              <a:srgbClr val="999999"/>
            </a:solidFill>
          </a:ln>
        </p:spPr>
      </p:sp>
      <p:sp>
        <p:nvSpPr>
          <p:cNvPr id="61" name="rect"/>
          <p:cNvSpPr txBox="0"/>
          <p:nvPr/>
        </p:nvSpPr>
        <p:spPr>
          <a:xfrm>
            <a:off x="1116330" y="3920490"/>
            <a:ext cx="100965" cy="100965"/>
          </a:xfrm>
          <a:prstGeom prst="rect">
            <a:avLst/>
          </a:prstGeom>
          <a:solidFill>
            <a:srgbClr val="CCCCCC"/>
          </a:solidFill>
          <a:ln w="12700">
            <a:solidFill>
              <a:srgbClr val="999999"/>
            </a:solidFill>
          </a:ln>
        </p:spPr>
      </p:sp>
      <p:sp>
        <p:nvSpPr>
          <p:cNvPr id="62" name="rect"/>
          <p:cNvSpPr txBox="0"/>
          <p:nvPr/>
        </p:nvSpPr>
        <p:spPr>
          <a:xfrm>
            <a:off x="1217295" y="3920490"/>
            <a:ext cx="100965" cy="100965"/>
          </a:xfrm>
          <a:prstGeom prst="rect">
            <a:avLst/>
          </a:prstGeom>
          <a:solidFill>
            <a:srgbClr val="CCCCCC"/>
          </a:solidFill>
          <a:ln w="12700">
            <a:solidFill>
              <a:srgbClr val="999999"/>
            </a:solidFill>
          </a:ln>
        </p:spPr>
      </p:sp>
      <p:sp>
        <p:nvSpPr>
          <p:cNvPr id="63" name="rect"/>
          <p:cNvSpPr txBox="0"/>
          <p:nvPr/>
        </p:nvSpPr>
        <p:spPr>
          <a:xfrm>
            <a:off x="1318260" y="3920490"/>
            <a:ext cx="100965" cy="100965"/>
          </a:xfrm>
          <a:prstGeom prst="rect">
            <a:avLst/>
          </a:prstGeom>
          <a:solidFill>
            <a:srgbClr val="CCCCCC"/>
          </a:solidFill>
          <a:ln w="12700">
            <a:solidFill>
              <a:srgbClr val="999999"/>
            </a:solidFill>
          </a:ln>
        </p:spPr>
      </p:sp>
      <p:sp>
        <p:nvSpPr>
          <p:cNvPr id="64" name="rect"/>
          <p:cNvSpPr txBox="0"/>
          <p:nvPr/>
        </p:nvSpPr>
        <p:spPr>
          <a:xfrm>
            <a:off x="1419225" y="3920490"/>
            <a:ext cx="100965" cy="100965"/>
          </a:xfrm>
          <a:prstGeom prst="rect">
            <a:avLst/>
          </a:prstGeom>
          <a:solidFill>
            <a:srgbClr val="CCCCCC"/>
          </a:solidFill>
          <a:ln w="12700">
            <a:solidFill>
              <a:srgbClr val="999999"/>
            </a:solidFill>
          </a:ln>
        </p:spPr>
      </p:sp>
      <p:sp>
        <p:nvSpPr>
          <p:cNvPr id="65" name="rect"/>
          <p:cNvSpPr txBox="0"/>
          <p:nvPr/>
        </p:nvSpPr>
        <p:spPr>
          <a:xfrm>
            <a:off x="914400" y="4021455"/>
            <a:ext cx="100965" cy="100965"/>
          </a:xfrm>
          <a:prstGeom prst="rect">
            <a:avLst/>
          </a:prstGeom>
          <a:solidFill>
            <a:srgbClr val="CCCCCC"/>
          </a:solidFill>
          <a:ln w="12700">
            <a:solidFill>
              <a:srgbClr val="999999"/>
            </a:solidFill>
          </a:ln>
        </p:spPr>
      </p:sp>
      <p:sp>
        <p:nvSpPr>
          <p:cNvPr id="66" name="rect"/>
          <p:cNvSpPr txBox="0"/>
          <p:nvPr/>
        </p:nvSpPr>
        <p:spPr>
          <a:xfrm>
            <a:off x="1015365" y="4021455"/>
            <a:ext cx="100965" cy="100965"/>
          </a:xfrm>
          <a:prstGeom prst="rect">
            <a:avLst/>
          </a:prstGeom>
          <a:solidFill>
            <a:srgbClr val="CCCCCC"/>
          </a:solidFill>
          <a:ln w="12700">
            <a:solidFill>
              <a:srgbClr val="999999"/>
            </a:solidFill>
          </a:ln>
        </p:spPr>
      </p:sp>
      <p:sp>
        <p:nvSpPr>
          <p:cNvPr id="67" name="rect"/>
          <p:cNvSpPr txBox="0"/>
          <p:nvPr/>
        </p:nvSpPr>
        <p:spPr>
          <a:xfrm>
            <a:off x="1116330" y="4021455"/>
            <a:ext cx="100965" cy="100965"/>
          </a:xfrm>
          <a:prstGeom prst="rect">
            <a:avLst/>
          </a:prstGeom>
          <a:solidFill>
            <a:srgbClr val="CCCCCC"/>
          </a:solidFill>
          <a:ln w="12700">
            <a:solidFill>
              <a:srgbClr val="999999"/>
            </a:solidFill>
          </a:ln>
        </p:spPr>
      </p:sp>
      <p:sp>
        <p:nvSpPr>
          <p:cNvPr id="68" name="rect"/>
          <p:cNvSpPr txBox="0"/>
          <p:nvPr/>
        </p:nvSpPr>
        <p:spPr>
          <a:xfrm>
            <a:off x="1217295" y="4021455"/>
            <a:ext cx="100965" cy="100965"/>
          </a:xfrm>
          <a:prstGeom prst="rect">
            <a:avLst/>
          </a:prstGeom>
          <a:solidFill>
            <a:srgbClr val="CCCCCC"/>
          </a:solidFill>
          <a:ln w="12700">
            <a:solidFill>
              <a:srgbClr val="999999"/>
            </a:solidFill>
          </a:ln>
        </p:spPr>
      </p:sp>
      <p:sp>
        <p:nvSpPr>
          <p:cNvPr id="69" name="rect"/>
          <p:cNvSpPr txBox="0"/>
          <p:nvPr/>
        </p:nvSpPr>
        <p:spPr>
          <a:xfrm>
            <a:off x="1318260" y="4021455"/>
            <a:ext cx="100965" cy="100965"/>
          </a:xfrm>
          <a:prstGeom prst="rect">
            <a:avLst/>
          </a:prstGeom>
          <a:solidFill>
            <a:srgbClr val="CCCCCC"/>
          </a:solidFill>
          <a:ln w="12700">
            <a:solidFill>
              <a:srgbClr val="999999"/>
            </a:solidFill>
          </a:ln>
        </p:spPr>
      </p:sp>
      <p:sp>
        <p:nvSpPr>
          <p:cNvPr id="70" name="rect"/>
          <p:cNvSpPr txBox="0"/>
          <p:nvPr/>
        </p:nvSpPr>
        <p:spPr>
          <a:xfrm>
            <a:off x="1419225" y="4021455"/>
            <a:ext cx="100965" cy="100965"/>
          </a:xfrm>
          <a:prstGeom prst="rect">
            <a:avLst/>
          </a:prstGeom>
          <a:solidFill>
            <a:srgbClr val="CCCCCC"/>
          </a:solidFill>
          <a:ln w="12700">
            <a:solidFill>
              <a:srgbClr val="999999"/>
            </a:solidFill>
          </a:ln>
        </p:spPr>
      </p:sp>
      <p:sp>
        <p:nvSpPr>
          <p:cNvPr id="71" name="CIRCE BOARD"/>
          <p:cNvSpPr txBox="1"/>
          <p:nvPr/>
        </p:nvSpPr>
        <p:spPr>
          <a:xfrm>
            <a:off x="3667125" y="2903220"/>
            <a:ext cx="2524125" cy="298856"/>
          </a:xfrm>
          <a:prstGeom prst="rect">
            <a:avLst/>
          </a:prstGeom>
          <a:noFill/>
          <a:ln>
            <a:noFill/>
          </a:ln>
        </p:spPr>
        <p:txBody>
          <a:bodyPr wrap="square" lIns="0" rIns="0" tIns="0" bIns="0" anchor="t">
            <a:noAutofit/>
          </a:bodyPr>
          <a:lstStyle/>
          <a:p>
            <a:pPr>
              <a:lnSpc>
                <a:spcPct val="130000"/>
              </a:lnSpc>
            </a:pPr>
            <a:r>
              <a:rPr lang="en-US" sz="1050" b="1">
                <a:solidFill>
                  <a:srgbClr val="222222"/>
                </a:solidFill>
                <a:latin typeface="Arial"/>
              </a:rPr>
              <a:t xml:space="preserve">CIRCE BOARD</a:t>
            </a:r>
            <a:endParaRPr lang="en-US"/>
          </a:p>
        </p:txBody>
      </p:sp>
      <p:sp>
        <p:nvSpPr>
          <p:cNvPr id="72" name="rect"/>
          <p:cNvSpPr txBox="0"/>
          <p:nvPr/>
        </p:nvSpPr>
        <p:spPr>
          <a:xfrm>
            <a:off x="3667125" y="3112770"/>
            <a:ext cx="100965" cy="100965"/>
          </a:xfrm>
          <a:prstGeom prst="rect">
            <a:avLst/>
          </a:prstGeom>
          <a:solidFill>
            <a:srgbClr val="FFFFFF"/>
          </a:solidFill>
          <a:ln w="12700">
            <a:solidFill>
              <a:srgbClr val="999999"/>
            </a:solidFill>
          </a:ln>
        </p:spPr>
      </p:sp>
      <p:sp>
        <p:nvSpPr>
          <p:cNvPr id="73" name="rect"/>
          <p:cNvSpPr txBox="0"/>
          <p:nvPr/>
        </p:nvSpPr>
        <p:spPr>
          <a:xfrm>
            <a:off x="3768090" y="3112770"/>
            <a:ext cx="100965" cy="100965"/>
          </a:xfrm>
          <a:prstGeom prst="rect">
            <a:avLst/>
          </a:prstGeom>
          <a:solidFill>
            <a:srgbClr val="FFFFFF"/>
          </a:solidFill>
          <a:ln w="12700">
            <a:solidFill>
              <a:srgbClr val="999999"/>
            </a:solidFill>
          </a:ln>
        </p:spPr>
      </p:sp>
      <p:sp>
        <p:nvSpPr>
          <p:cNvPr id="74" name="rect"/>
          <p:cNvSpPr txBox="0"/>
          <p:nvPr/>
        </p:nvSpPr>
        <p:spPr>
          <a:xfrm>
            <a:off x="3869055" y="3112770"/>
            <a:ext cx="100965" cy="100965"/>
          </a:xfrm>
          <a:prstGeom prst="rect">
            <a:avLst/>
          </a:prstGeom>
          <a:solidFill>
            <a:srgbClr val="FFFFFF"/>
          </a:solidFill>
          <a:ln w="12700">
            <a:solidFill>
              <a:srgbClr val="999999"/>
            </a:solidFill>
          </a:ln>
        </p:spPr>
      </p:sp>
      <p:sp>
        <p:nvSpPr>
          <p:cNvPr id="75" name="rect"/>
          <p:cNvSpPr txBox="0"/>
          <p:nvPr/>
        </p:nvSpPr>
        <p:spPr>
          <a:xfrm>
            <a:off x="3970020" y="3112770"/>
            <a:ext cx="100965" cy="100965"/>
          </a:xfrm>
          <a:prstGeom prst="rect">
            <a:avLst/>
          </a:prstGeom>
          <a:solidFill>
            <a:srgbClr val="FFFFFF"/>
          </a:solidFill>
          <a:ln w="12700">
            <a:solidFill>
              <a:srgbClr val="999999"/>
            </a:solidFill>
          </a:ln>
        </p:spPr>
      </p:sp>
      <p:sp>
        <p:nvSpPr>
          <p:cNvPr id="76" name="rect"/>
          <p:cNvSpPr txBox="0"/>
          <p:nvPr/>
        </p:nvSpPr>
        <p:spPr>
          <a:xfrm>
            <a:off x="4070985" y="3112770"/>
            <a:ext cx="100965" cy="100965"/>
          </a:xfrm>
          <a:prstGeom prst="rect">
            <a:avLst/>
          </a:prstGeom>
          <a:solidFill>
            <a:srgbClr val="FFFFFF"/>
          </a:solidFill>
          <a:ln w="12700">
            <a:solidFill>
              <a:srgbClr val="999999"/>
            </a:solidFill>
          </a:ln>
        </p:spPr>
      </p:sp>
      <p:sp>
        <p:nvSpPr>
          <p:cNvPr id="77" name="rect"/>
          <p:cNvSpPr txBox="0"/>
          <p:nvPr/>
        </p:nvSpPr>
        <p:spPr>
          <a:xfrm>
            <a:off x="4171950" y="3112770"/>
            <a:ext cx="100965" cy="100965"/>
          </a:xfrm>
          <a:prstGeom prst="rect">
            <a:avLst/>
          </a:prstGeom>
          <a:solidFill>
            <a:srgbClr val="FFFFFF"/>
          </a:solidFill>
          <a:ln w="12700">
            <a:solidFill>
              <a:srgbClr val="999999"/>
            </a:solidFill>
          </a:ln>
        </p:spPr>
      </p:sp>
      <p:sp>
        <p:nvSpPr>
          <p:cNvPr id="78" name="rect"/>
          <p:cNvSpPr txBox="0"/>
          <p:nvPr/>
        </p:nvSpPr>
        <p:spPr>
          <a:xfrm>
            <a:off x="3667125" y="3213735"/>
            <a:ext cx="100965" cy="100965"/>
          </a:xfrm>
          <a:prstGeom prst="rect">
            <a:avLst/>
          </a:prstGeom>
          <a:solidFill>
            <a:srgbClr val="FFFFFF"/>
          </a:solidFill>
          <a:ln w="12700">
            <a:solidFill>
              <a:srgbClr val="999999"/>
            </a:solidFill>
          </a:ln>
        </p:spPr>
      </p:sp>
      <p:sp>
        <p:nvSpPr>
          <p:cNvPr id="79" name="rect"/>
          <p:cNvSpPr txBox="0"/>
          <p:nvPr/>
        </p:nvSpPr>
        <p:spPr>
          <a:xfrm>
            <a:off x="3768090" y="3213735"/>
            <a:ext cx="100965" cy="100965"/>
          </a:xfrm>
          <a:prstGeom prst="rect">
            <a:avLst/>
          </a:prstGeom>
          <a:solidFill>
            <a:srgbClr val="FFFFFF"/>
          </a:solidFill>
          <a:ln w="12700">
            <a:solidFill>
              <a:srgbClr val="999999"/>
            </a:solidFill>
          </a:ln>
        </p:spPr>
      </p:sp>
      <p:sp>
        <p:nvSpPr>
          <p:cNvPr id="80" name="rect"/>
          <p:cNvSpPr txBox="0"/>
          <p:nvPr/>
        </p:nvSpPr>
        <p:spPr>
          <a:xfrm>
            <a:off x="3869055" y="3213735"/>
            <a:ext cx="100965" cy="100965"/>
          </a:xfrm>
          <a:prstGeom prst="rect">
            <a:avLst/>
          </a:prstGeom>
          <a:solidFill>
            <a:srgbClr val="FFFFFF"/>
          </a:solidFill>
          <a:ln w="12700">
            <a:solidFill>
              <a:srgbClr val="999999"/>
            </a:solidFill>
          </a:ln>
        </p:spPr>
      </p:sp>
      <p:sp>
        <p:nvSpPr>
          <p:cNvPr id="81" name="rect"/>
          <p:cNvSpPr txBox="0"/>
          <p:nvPr/>
        </p:nvSpPr>
        <p:spPr>
          <a:xfrm>
            <a:off x="3970020" y="3213735"/>
            <a:ext cx="100965" cy="100965"/>
          </a:xfrm>
          <a:prstGeom prst="rect">
            <a:avLst/>
          </a:prstGeom>
          <a:solidFill>
            <a:srgbClr val="FFFFFF"/>
          </a:solidFill>
          <a:ln w="12700">
            <a:solidFill>
              <a:srgbClr val="999999"/>
            </a:solidFill>
          </a:ln>
        </p:spPr>
      </p:sp>
      <p:sp>
        <p:nvSpPr>
          <p:cNvPr id="82" name="rect"/>
          <p:cNvSpPr txBox="0"/>
          <p:nvPr/>
        </p:nvSpPr>
        <p:spPr>
          <a:xfrm>
            <a:off x="4070985" y="3213735"/>
            <a:ext cx="100965" cy="100965"/>
          </a:xfrm>
          <a:prstGeom prst="rect">
            <a:avLst/>
          </a:prstGeom>
          <a:solidFill>
            <a:srgbClr val="FFFFFF"/>
          </a:solidFill>
          <a:ln w="12700">
            <a:solidFill>
              <a:srgbClr val="999999"/>
            </a:solidFill>
          </a:ln>
        </p:spPr>
      </p:sp>
      <p:sp>
        <p:nvSpPr>
          <p:cNvPr id="83" name="rect"/>
          <p:cNvSpPr txBox="0"/>
          <p:nvPr/>
        </p:nvSpPr>
        <p:spPr>
          <a:xfrm>
            <a:off x="4171950" y="3213735"/>
            <a:ext cx="100965" cy="100965"/>
          </a:xfrm>
          <a:prstGeom prst="rect">
            <a:avLst/>
          </a:prstGeom>
          <a:solidFill>
            <a:srgbClr val="FFFFFF"/>
          </a:solidFill>
          <a:ln w="12700">
            <a:solidFill>
              <a:srgbClr val="999999"/>
            </a:solidFill>
          </a:ln>
        </p:spPr>
      </p:sp>
      <p:sp>
        <p:nvSpPr>
          <p:cNvPr id="84" name="rect"/>
          <p:cNvSpPr txBox="0"/>
          <p:nvPr/>
        </p:nvSpPr>
        <p:spPr>
          <a:xfrm>
            <a:off x="3667125" y="3314700"/>
            <a:ext cx="100965" cy="100965"/>
          </a:xfrm>
          <a:prstGeom prst="rect">
            <a:avLst/>
          </a:prstGeom>
          <a:solidFill>
            <a:srgbClr val="FFFFFF"/>
          </a:solidFill>
          <a:ln w="12700">
            <a:solidFill>
              <a:srgbClr val="999999"/>
            </a:solidFill>
          </a:ln>
        </p:spPr>
      </p:sp>
      <p:sp>
        <p:nvSpPr>
          <p:cNvPr id="85" name="rect"/>
          <p:cNvSpPr txBox="0"/>
          <p:nvPr/>
        </p:nvSpPr>
        <p:spPr>
          <a:xfrm>
            <a:off x="3768090" y="3314700"/>
            <a:ext cx="100965" cy="100965"/>
          </a:xfrm>
          <a:prstGeom prst="rect">
            <a:avLst/>
          </a:prstGeom>
          <a:solidFill>
            <a:srgbClr val="FFFFFF"/>
          </a:solidFill>
          <a:ln w="12700">
            <a:solidFill>
              <a:srgbClr val="999999"/>
            </a:solidFill>
          </a:ln>
        </p:spPr>
      </p:sp>
      <p:sp>
        <p:nvSpPr>
          <p:cNvPr id="86" name="rect"/>
          <p:cNvSpPr txBox="0"/>
          <p:nvPr/>
        </p:nvSpPr>
        <p:spPr>
          <a:xfrm>
            <a:off x="3869055" y="3314700"/>
            <a:ext cx="100965" cy="100965"/>
          </a:xfrm>
          <a:prstGeom prst="rect">
            <a:avLst/>
          </a:prstGeom>
          <a:solidFill>
            <a:srgbClr val="FFFFFF"/>
          </a:solidFill>
          <a:ln w="12700">
            <a:solidFill>
              <a:srgbClr val="999999"/>
            </a:solidFill>
          </a:ln>
        </p:spPr>
      </p:sp>
      <p:sp>
        <p:nvSpPr>
          <p:cNvPr id="87" name="rect"/>
          <p:cNvSpPr txBox="0"/>
          <p:nvPr/>
        </p:nvSpPr>
        <p:spPr>
          <a:xfrm>
            <a:off x="3970020" y="3314700"/>
            <a:ext cx="100965" cy="100965"/>
          </a:xfrm>
          <a:prstGeom prst="rect">
            <a:avLst/>
          </a:prstGeom>
          <a:solidFill>
            <a:srgbClr val="CCCCCC"/>
          </a:solidFill>
          <a:ln w="12700">
            <a:solidFill>
              <a:srgbClr val="999999"/>
            </a:solidFill>
          </a:ln>
        </p:spPr>
      </p:sp>
      <p:sp>
        <p:nvSpPr>
          <p:cNvPr id="88" name="rect"/>
          <p:cNvSpPr txBox="0"/>
          <p:nvPr/>
        </p:nvSpPr>
        <p:spPr>
          <a:xfrm>
            <a:off x="4070985" y="3314700"/>
            <a:ext cx="100965" cy="100965"/>
          </a:xfrm>
          <a:prstGeom prst="rect">
            <a:avLst/>
          </a:prstGeom>
          <a:solidFill>
            <a:srgbClr val="FFFFFF"/>
          </a:solidFill>
          <a:ln w="12700">
            <a:solidFill>
              <a:srgbClr val="999999"/>
            </a:solidFill>
          </a:ln>
        </p:spPr>
      </p:sp>
      <p:sp>
        <p:nvSpPr>
          <p:cNvPr id="89" name="rect"/>
          <p:cNvSpPr txBox="0"/>
          <p:nvPr/>
        </p:nvSpPr>
        <p:spPr>
          <a:xfrm>
            <a:off x="4171950" y="3314700"/>
            <a:ext cx="100965" cy="100965"/>
          </a:xfrm>
          <a:prstGeom prst="rect">
            <a:avLst/>
          </a:prstGeom>
          <a:solidFill>
            <a:srgbClr val="FFFFFF"/>
          </a:solidFill>
          <a:ln w="12700">
            <a:solidFill>
              <a:srgbClr val="999999"/>
            </a:solidFill>
          </a:ln>
        </p:spPr>
      </p:sp>
      <p:sp>
        <p:nvSpPr>
          <p:cNvPr id="90" name="rect"/>
          <p:cNvSpPr txBox="0"/>
          <p:nvPr/>
        </p:nvSpPr>
        <p:spPr>
          <a:xfrm>
            <a:off x="3667125" y="3415665"/>
            <a:ext cx="100965" cy="100965"/>
          </a:xfrm>
          <a:prstGeom prst="rect">
            <a:avLst/>
          </a:prstGeom>
          <a:solidFill>
            <a:srgbClr val="FFFFFF"/>
          </a:solidFill>
          <a:ln w="12700">
            <a:solidFill>
              <a:srgbClr val="999999"/>
            </a:solidFill>
          </a:ln>
        </p:spPr>
      </p:sp>
      <p:sp>
        <p:nvSpPr>
          <p:cNvPr id="91" name="rect"/>
          <p:cNvSpPr txBox="0"/>
          <p:nvPr/>
        </p:nvSpPr>
        <p:spPr>
          <a:xfrm>
            <a:off x="3768090" y="3415665"/>
            <a:ext cx="100965" cy="100965"/>
          </a:xfrm>
          <a:prstGeom prst="rect">
            <a:avLst/>
          </a:prstGeom>
          <a:solidFill>
            <a:srgbClr val="FFFFFF"/>
          </a:solidFill>
          <a:ln w="12700">
            <a:solidFill>
              <a:srgbClr val="999999"/>
            </a:solidFill>
          </a:ln>
        </p:spPr>
      </p:sp>
      <p:sp>
        <p:nvSpPr>
          <p:cNvPr id="92" name="rect"/>
          <p:cNvSpPr txBox="0"/>
          <p:nvPr/>
        </p:nvSpPr>
        <p:spPr>
          <a:xfrm>
            <a:off x="3869055" y="3415665"/>
            <a:ext cx="100965" cy="100965"/>
          </a:xfrm>
          <a:prstGeom prst="rect">
            <a:avLst/>
          </a:prstGeom>
          <a:solidFill>
            <a:srgbClr val="FFFFFF"/>
          </a:solidFill>
          <a:ln w="12700">
            <a:solidFill>
              <a:srgbClr val="999999"/>
            </a:solidFill>
          </a:ln>
        </p:spPr>
      </p:sp>
      <p:sp>
        <p:nvSpPr>
          <p:cNvPr id="93" name="rect"/>
          <p:cNvSpPr txBox="0"/>
          <p:nvPr/>
        </p:nvSpPr>
        <p:spPr>
          <a:xfrm>
            <a:off x="3970020" y="3415665"/>
            <a:ext cx="100965" cy="100965"/>
          </a:xfrm>
          <a:prstGeom prst="rect">
            <a:avLst/>
          </a:prstGeom>
          <a:solidFill>
            <a:srgbClr val="FFFFFF"/>
          </a:solidFill>
          <a:ln w="12700">
            <a:solidFill>
              <a:srgbClr val="999999"/>
            </a:solidFill>
          </a:ln>
        </p:spPr>
      </p:sp>
      <p:sp>
        <p:nvSpPr>
          <p:cNvPr id="94" name="rect"/>
          <p:cNvSpPr txBox="0"/>
          <p:nvPr/>
        </p:nvSpPr>
        <p:spPr>
          <a:xfrm>
            <a:off x="4070985" y="3415665"/>
            <a:ext cx="100965" cy="100965"/>
          </a:xfrm>
          <a:prstGeom prst="rect">
            <a:avLst/>
          </a:prstGeom>
          <a:solidFill>
            <a:srgbClr val="FFFFFF"/>
          </a:solidFill>
          <a:ln w="12700">
            <a:solidFill>
              <a:srgbClr val="999999"/>
            </a:solidFill>
          </a:ln>
        </p:spPr>
      </p:sp>
      <p:sp>
        <p:nvSpPr>
          <p:cNvPr id="95" name="rect"/>
          <p:cNvSpPr txBox="0"/>
          <p:nvPr/>
        </p:nvSpPr>
        <p:spPr>
          <a:xfrm>
            <a:off x="4171950" y="3415665"/>
            <a:ext cx="100965" cy="100965"/>
          </a:xfrm>
          <a:prstGeom prst="rect">
            <a:avLst/>
          </a:prstGeom>
          <a:solidFill>
            <a:srgbClr val="FFFFFF"/>
          </a:solidFill>
          <a:ln w="12700">
            <a:solidFill>
              <a:srgbClr val="999999"/>
            </a:solidFill>
          </a:ln>
        </p:spPr>
      </p:sp>
      <p:sp>
        <p:nvSpPr>
          <p:cNvPr id="96" name="rect"/>
          <p:cNvSpPr txBox="0"/>
          <p:nvPr/>
        </p:nvSpPr>
        <p:spPr>
          <a:xfrm>
            <a:off x="3667125" y="3516630"/>
            <a:ext cx="100965" cy="100965"/>
          </a:xfrm>
          <a:prstGeom prst="rect">
            <a:avLst/>
          </a:prstGeom>
          <a:solidFill>
            <a:srgbClr val="FFFFFF"/>
          </a:solidFill>
          <a:ln w="12700">
            <a:solidFill>
              <a:srgbClr val="999999"/>
            </a:solidFill>
          </a:ln>
        </p:spPr>
      </p:sp>
      <p:sp>
        <p:nvSpPr>
          <p:cNvPr id="97" name="rect"/>
          <p:cNvSpPr txBox="0"/>
          <p:nvPr/>
        </p:nvSpPr>
        <p:spPr>
          <a:xfrm>
            <a:off x="3768090" y="3516630"/>
            <a:ext cx="100965" cy="100965"/>
          </a:xfrm>
          <a:prstGeom prst="rect">
            <a:avLst/>
          </a:prstGeom>
          <a:solidFill>
            <a:srgbClr val="FFFFFF"/>
          </a:solidFill>
          <a:ln w="12700">
            <a:solidFill>
              <a:srgbClr val="999999"/>
            </a:solidFill>
          </a:ln>
        </p:spPr>
      </p:sp>
      <p:sp>
        <p:nvSpPr>
          <p:cNvPr id="98" name="rect"/>
          <p:cNvSpPr txBox="0"/>
          <p:nvPr/>
        </p:nvSpPr>
        <p:spPr>
          <a:xfrm>
            <a:off x="3869055" y="3516630"/>
            <a:ext cx="100965" cy="100965"/>
          </a:xfrm>
          <a:prstGeom prst="rect">
            <a:avLst/>
          </a:prstGeom>
          <a:solidFill>
            <a:srgbClr val="FFFFFF"/>
          </a:solidFill>
          <a:ln w="12700">
            <a:solidFill>
              <a:srgbClr val="999999"/>
            </a:solidFill>
          </a:ln>
        </p:spPr>
      </p:sp>
      <p:sp>
        <p:nvSpPr>
          <p:cNvPr id="99" name="rect"/>
          <p:cNvSpPr txBox="0"/>
          <p:nvPr/>
        </p:nvSpPr>
        <p:spPr>
          <a:xfrm>
            <a:off x="3970020" y="3516630"/>
            <a:ext cx="100965" cy="100965"/>
          </a:xfrm>
          <a:prstGeom prst="rect">
            <a:avLst/>
          </a:prstGeom>
          <a:solidFill>
            <a:srgbClr val="FFFFFF"/>
          </a:solidFill>
          <a:ln w="12700">
            <a:solidFill>
              <a:srgbClr val="999999"/>
            </a:solidFill>
          </a:ln>
        </p:spPr>
      </p:sp>
      <p:sp>
        <p:nvSpPr>
          <p:cNvPr id="100" name="rect"/>
          <p:cNvSpPr txBox="0"/>
          <p:nvPr/>
        </p:nvSpPr>
        <p:spPr>
          <a:xfrm>
            <a:off x="4070985" y="3516630"/>
            <a:ext cx="100965" cy="100965"/>
          </a:xfrm>
          <a:prstGeom prst="rect">
            <a:avLst/>
          </a:prstGeom>
          <a:solidFill>
            <a:srgbClr val="FFFFFF"/>
          </a:solidFill>
          <a:ln w="12700">
            <a:solidFill>
              <a:srgbClr val="999999"/>
            </a:solidFill>
          </a:ln>
        </p:spPr>
      </p:sp>
      <p:sp>
        <p:nvSpPr>
          <p:cNvPr id="101" name="rect"/>
          <p:cNvSpPr txBox="0"/>
          <p:nvPr/>
        </p:nvSpPr>
        <p:spPr>
          <a:xfrm>
            <a:off x="4171950" y="3516630"/>
            <a:ext cx="100965" cy="100965"/>
          </a:xfrm>
          <a:prstGeom prst="rect">
            <a:avLst/>
          </a:prstGeom>
          <a:solidFill>
            <a:srgbClr val="FFFFFF"/>
          </a:solidFill>
          <a:ln w="12700">
            <a:solidFill>
              <a:srgbClr val="999999"/>
            </a:solidFill>
          </a:ln>
        </p:spPr>
      </p:sp>
      <p:sp>
        <p:nvSpPr>
          <p:cNvPr id="102" name="rect"/>
          <p:cNvSpPr txBox="0"/>
          <p:nvPr/>
        </p:nvSpPr>
        <p:spPr>
          <a:xfrm>
            <a:off x="3667125" y="3617595"/>
            <a:ext cx="100965" cy="100965"/>
          </a:xfrm>
          <a:prstGeom prst="rect">
            <a:avLst/>
          </a:prstGeom>
          <a:solidFill>
            <a:srgbClr val="FFFFFF"/>
          </a:solidFill>
          <a:ln w="12700">
            <a:solidFill>
              <a:srgbClr val="999999"/>
            </a:solidFill>
          </a:ln>
        </p:spPr>
      </p:sp>
      <p:sp>
        <p:nvSpPr>
          <p:cNvPr id="103" name="rect"/>
          <p:cNvSpPr txBox="0"/>
          <p:nvPr/>
        </p:nvSpPr>
        <p:spPr>
          <a:xfrm>
            <a:off x="3768090" y="3617595"/>
            <a:ext cx="100965" cy="100965"/>
          </a:xfrm>
          <a:prstGeom prst="rect">
            <a:avLst/>
          </a:prstGeom>
          <a:solidFill>
            <a:srgbClr val="FFFFFF"/>
          </a:solidFill>
          <a:ln w="12700">
            <a:solidFill>
              <a:srgbClr val="999999"/>
            </a:solidFill>
          </a:ln>
        </p:spPr>
      </p:sp>
      <p:sp>
        <p:nvSpPr>
          <p:cNvPr id="104" name="rect"/>
          <p:cNvSpPr txBox="0"/>
          <p:nvPr/>
        </p:nvSpPr>
        <p:spPr>
          <a:xfrm>
            <a:off x="3869055" y="3617595"/>
            <a:ext cx="100965" cy="100965"/>
          </a:xfrm>
          <a:prstGeom prst="rect">
            <a:avLst/>
          </a:prstGeom>
          <a:solidFill>
            <a:srgbClr val="FFFFFF"/>
          </a:solidFill>
          <a:ln w="12700">
            <a:solidFill>
              <a:srgbClr val="999999"/>
            </a:solidFill>
          </a:ln>
        </p:spPr>
      </p:sp>
      <p:sp>
        <p:nvSpPr>
          <p:cNvPr id="105" name="rect"/>
          <p:cNvSpPr txBox="0"/>
          <p:nvPr/>
        </p:nvSpPr>
        <p:spPr>
          <a:xfrm>
            <a:off x="3970020" y="3617595"/>
            <a:ext cx="100965" cy="100965"/>
          </a:xfrm>
          <a:prstGeom prst="rect">
            <a:avLst/>
          </a:prstGeom>
          <a:solidFill>
            <a:srgbClr val="FFFFFF"/>
          </a:solidFill>
          <a:ln w="12700">
            <a:solidFill>
              <a:srgbClr val="999999"/>
            </a:solidFill>
          </a:ln>
        </p:spPr>
      </p:sp>
      <p:sp>
        <p:nvSpPr>
          <p:cNvPr id="106" name="rect"/>
          <p:cNvSpPr txBox="0"/>
          <p:nvPr/>
        </p:nvSpPr>
        <p:spPr>
          <a:xfrm>
            <a:off x="4070985" y="3617595"/>
            <a:ext cx="100965" cy="100965"/>
          </a:xfrm>
          <a:prstGeom prst="rect">
            <a:avLst/>
          </a:prstGeom>
          <a:solidFill>
            <a:srgbClr val="FFFFFF"/>
          </a:solidFill>
          <a:ln w="12700">
            <a:solidFill>
              <a:srgbClr val="999999"/>
            </a:solidFill>
          </a:ln>
        </p:spPr>
      </p:sp>
      <p:sp>
        <p:nvSpPr>
          <p:cNvPr id="107" name="rect"/>
          <p:cNvSpPr txBox="0"/>
          <p:nvPr/>
        </p:nvSpPr>
        <p:spPr>
          <a:xfrm>
            <a:off x="4171950" y="3617595"/>
            <a:ext cx="100965" cy="100965"/>
          </a:xfrm>
          <a:prstGeom prst="rect">
            <a:avLst/>
          </a:prstGeom>
          <a:solidFill>
            <a:srgbClr val="FFFFFF"/>
          </a:solidFill>
          <a:ln w="12700">
            <a:solidFill>
              <a:srgbClr val="999999"/>
            </a:solidFill>
          </a:ln>
        </p:spPr>
      </p:sp>
      <p:sp>
        <p:nvSpPr>
          <p:cNvPr id="108" name="rect"/>
          <p:cNvSpPr txBox="0"/>
          <p:nvPr/>
        </p:nvSpPr>
        <p:spPr>
          <a:xfrm>
            <a:off x="3667125" y="3718560"/>
            <a:ext cx="100965" cy="100965"/>
          </a:xfrm>
          <a:prstGeom prst="rect">
            <a:avLst/>
          </a:prstGeom>
          <a:solidFill>
            <a:srgbClr val="FFFFFF"/>
          </a:solidFill>
          <a:ln w="12700">
            <a:solidFill>
              <a:srgbClr val="999999"/>
            </a:solidFill>
          </a:ln>
        </p:spPr>
      </p:sp>
      <p:sp>
        <p:nvSpPr>
          <p:cNvPr id="109" name="rect"/>
          <p:cNvSpPr txBox="0"/>
          <p:nvPr/>
        </p:nvSpPr>
        <p:spPr>
          <a:xfrm>
            <a:off x="3768090" y="3718560"/>
            <a:ext cx="100965" cy="100965"/>
          </a:xfrm>
          <a:prstGeom prst="rect">
            <a:avLst/>
          </a:prstGeom>
          <a:solidFill>
            <a:srgbClr val="FFFFFF"/>
          </a:solidFill>
          <a:ln w="12700">
            <a:solidFill>
              <a:srgbClr val="999999"/>
            </a:solidFill>
          </a:ln>
        </p:spPr>
      </p:sp>
      <p:sp>
        <p:nvSpPr>
          <p:cNvPr id="110" name="rect"/>
          <p:cNvSpPr txBox="0"/>
          <p:nvPr/>
        </p:nvSpPr>
        <p:spPr>
          <a:xfrm>
            <a:off x="3869055" y="3718560"/>
            <a:ext cx="100965" cy="100965"/>
          </a:xfrm>
          <a:prstGeom prst="rect">
            <a:avLst/>
          </a:prstGeom>
          <a:solidFill>
            <a:srgbClr val="FFFFFF"/>
          </a:solidFill>
          <a:ln w="12700">
            <a:solidFill>
              <a:srgbClr val="999999"/>
            </a:solidFill>
          </a:ln>
        </p:spPr>
      </p:sp>
      <p:sp>
        <p:nvSpPr>
          <p:cNvPr id="111" name="rect"/>
          <p:cNvSpPr txBox="0"/>
          <p:nvPr/>
        </p:nvSpPr>
        <p:spPr>
          <a:xfrm>
            <a:off x="3970020" y="3718560"/>
            <a:ext cx="100965" cy="100965"/>
          </a:xfrm>
          <a:prstGeom prst="rect">
            <a:avLst/>
          </a:prstGeom>
          <a:solidFill>
            <a:srgbClr val="FFFFFF"/>
          </a:solidFill>
          <a:ln w="12700">
            <a:solidFill>
              <a:srgbClr val="999999"/>
            </a:solidFill>
          </a:ln>
        </p:spPr>
      </p:sp>
      <p:sp>
        <p:nvSpPr>
          <p:cNvPr id="112" name="rect"/>
          <p:cNvSpPr txBox="0"/>
          <p:nvPr/>
        </p:nvSpPr>
        <p:spPr>
          <a:xfrm>
            <a:off x="4070985" y="3718560"/>
            <a:ext cx="100965" cy="100965"/>
          </a:xfrm>
          <a:prstGeom prst="rect">
            <a:avLst/>
          </a:prstGeom>
          <a:solidFill>
            <a:srgbClr val="FFFFFF"/>
          </a:solidFill>
          <a:ln w="12700">
            <a:solidFill>
              <a:srgbClr val="999999"/>
            </a:solidFill>
          </a:ln>
        </p:spPr>
      </p:sp>
      <p:sp>
        <p:nvSpPr>
          <p:cNvPr id="113" name="rect"/>
          <p:cNvSpPr txBox="0"/>
          <p:nvPr/>
        </p:nvSpPr>
        <p:spPr>
          <a:xfrm>
            <a:off x="4171950" y="3718560"/>
            <a:ext cx="100965" cy="100965"/>
          </a:xfrm>
          <a:prstGeom prst="rect">
            <a:avLst/>
          </a:prstGeom>
          <a:solidFill>
            <a:srgbClr val="FFFFFF"/>
          </a:solidFill>
          <a:ln w="12700">
            <a:solidFill>
              <a:srgbClr val="999999"/>
            </a:solidFill>
          </a:ln>
        </p:spPr>
      </p:sp>
      <p:sp>
        <p:nvSpPr>
          <p:cNvPr id="114" name="rect"/>
          <p:cNvSpPr txBox="0"/>
          <p:nvPr/>
        </p:nvSpPr>
        <p:spPr>
          <a:xfrm>
            <a:off x="3667125" y="3819525"/>
            <a:ext cx="100965" cy="100965"/>
          </a:xfrm>
          <a:prstGeom prst="rect">
            <a:avLst/>
          </a:prstGeom>
          <a:solidFill>
            <a:srgbClr val="CCCCCC"/>
          </a:solidFill>
          <a:ln w="12700">
            <a:solidFill>
              <a:srgbClr val="999999"/>
            </a:solidFill>
          </a:ln>
        </p:spPr>
      </p:sp>
      <p:sp>
        <p:nvSpPr>
          <p:cNvPr id="115" name="rect"/>
          <p:cNvSpPr txBox="0"/>
          <p:nvPr/>
        </p:nvSpPr>
        <p:spPr>
          <a:xfrm>
            <a:off x="3768090" y="3819525"/>
            <a:ext cx="100965" cy="100965"/>
          </a:xfrm>
          <a:prstGeom prst="rect">
            <a:avLst/>
          </a:prstGeom>
          <a:solidFill>
            <a:srgbClr val="CCCCCC"/>
          </a:solidFill>
          <a:ln w="12700">
            <a:solidFill>
              <a:srgbClr val="999999"/>
            </a:solidFill>
          </a:ln>
        </p:spPr>
      </p:sp>
      <p:sp>
        <p:nvSpPr>
          <p:cNvPr id="116" name="rect"/>
          <p:cNvSpPr txBox="0"/>
          <p:nvPr/>
        </p:nvSpPr>
        <p:spPr>
          <a:xfrm>
            <a:off x="3869055" y="3819525"/>
            <a:ext cx="100965" cy="100965"/>
          </a:xfrm>
          <a:prstGeom prst="rect">
            <a:avLst/>
          </a:prstGeom>
          <a:solidFill>
            <a:srgbClr val="CCCCCC"/>
          </a:solidFill>
          <a:ln w="12700">
            <a:solidFill>
              <a:srgbClr val="999999"/>
            </a:solidFill>
          </a:ln>
        </p:spPr>
      </p:sp>
      <p:sp>
        <p:nvSpPr>
          <p:cNvPr id="117" name="rect"/>
          <p:cNvSpPr txBox="0"/>
          <p:nvPr/>
        </p:nvSpPr>
        <p:spPr>
          <a:xfrm>
            <a:off x="3970020" y="3819525"/>
            <a:ext cx="100965" cy="100965"/>
          </a:xfrm>
          <a:prstGeom prst="rect">
            <a:avLst/>
          </a:prstGeom>
          <a:solidFill>
            <a:srgbClr val="CCCCCC"/>
          </a:solidFill>
          <a:ln w="12700">
            <a:solidFill>
              <a:srgbClr val="999999"/>
            </a:solidFill>
          </a:ln>
        </p:spPr>
      </p:sp>
      <p:sp>
        <p:nvSpPr>
          <p:cNvPr id="118" name="rect"/>
          <p:cNvSpPr txBox="0"/>
          <p:nvPr/>
        </p:nvSpPr>
        <p:spPr>
          <a:xfrm>
            <a:off x="4070985" y="3819525"/>
            <a:ext cx="100965" cy="100965"/>
          </a:xfrm>
          <a:prstGeom prst="rect">
            <a:avLst/>
          </a:prstGeom>
          <a:solidFill>
            <a:srgbClr val="CCCCCC"/>
          </a:solidFill>
          <a:ln w="12700">
            <a:solidFill>
              <a:srgbClr val="999999"/>
            </a:solidFill>
          </a:ln>
        </p:spPr>
      </p:sp>
      <p:sp>
        <p:nvSpPr>
          <p:cNvPr id="119" name="rect"/>
          <p:cNvSpPr txBox="0"/>
          <p:nvPr/>
        </p:nvSpPr>
        <p:spPr>
          <a:xfrm>
            <a:off x="4171950" y="3819525"/>
            <a:ext cx="100965" cy="100965"/>
          </a:xfrm>
          <a:prstGeom prst="rect">
            <a:avLst/>
          </a:prstGeom>
          <a:solidFill>
            <a:srgbClr val="CCCCCC"/>
          </a:solidFill>
          <a:ln w="12700">
            <a:solidFill>
              <a:srgbClr val="999999"/>
            </a:solidFill>
          </a:ln>
        </p:spPr>
      </p:sp>
      <p:sp>
        <p:nvSpPr>
          <p:cNvPr id="120" name="rect"/>
          <p:cNvSpPr txBox="0"/>
          <p:nvPr/>
        </p:nvSpPr>
        <p:spPr>
          <a:xfrm>
            <a:off x="3667125" y="3920490"/>
            <a:ext cx="100965" cy="100965"/>
          </a:xfrm>
          <a:prstGeom prst="rect">
            <a:avLst/>
          </a:prstGeom>
          <a:solidFill>
            <a:srgbClr val="CCCCCC"/>
          </a:solidFill>
          <a:ln w="12700">
            <a:solidFill>
              <a:srgbClr val="999999"/>
            </a:solidFill>
          </a:ln>
        </p:spPr>
      </p:sp>
      <p:sp>
        <p:nvSpPr>
          <p:cNvPr id="121" name="rect"/>
          <p:cNvSpPr txBox="0"/>
          <p:nvPr/>
        </p:nvSpPr>
        <p:spPr>
          <a:xfrm>
            <a:off x="3768090" y="3920490"/>
            <a:ext cx="100965" cy="100965"/>
          </a:xfrm>
          <a:prstGeom prst="rect">
            <a:avLst/>
          </a:prstGeom>
          <a:solidFill>
            <a:srgbClr val="CCCCCC"/>
          </a:solidFill>
          <a:ln w="12700">
            <a:solidFill>
              <a:srgbClr val="999999"/>
            </a:solidFill>
          </a:ln>
        </p:spPr>
      </p:sp>
      <p:sp>
        <p:nvSpPr>
          <p:cNvPr id="122" name="rect"/>
          <p:cNvSpPr txBox="0"/>
          <p:nvPr/>
        </p:nvSpPr>
        <p:spPr>
          <a:xfrm>
            <a:off x="3869055" y="3920490"/>
            <a:ext cx="100965" cy="100965"/>
          </a:xfrm>
          <a:prstGeom prst="rect">
            <a:avLst/>
          </a:prstGeom>
          <a:solidFill>
            <a:srgbClr val="CCCCCC"/>
          </a:solidFill>
          <a:ln w="12700">
            <a:solidFill>
              <a:srgbClr val="999999"/>
            </a:solidFill>
          </a:ln>
        </p:spPr>
      </p:sp>
      <p:sp>
        <p:nvSpPr>
          <p:cNvPr id="123" name="rect"/>
          <p:cNvSpPr txBox="0"/>
          <p:nvPr/>
        </p:nvSpPr>
        <p:spPr>
          <a:xfrm>
            <a:off x="3970020" y="3920490"/>
            <a:ext cx="100965" cy="100965"/>
          </a:xfrm>
          <a:prstGeom prst="rect">
            <a:avLst/>
          </a:prstGeom>
          <a:solidFill>
            <a:srgbClr val="CCCCCC"/>
          </a:solidFill>
          <a:ln w="12700">
            <a:solidFill>
              <a:srgbClr val="999999"/>
            </a:solidFill>
          </a:ln>
        </p:spPr>
      </p:sp>
      <p:sp>
        <p:nvSpPr>
          <p:cNvPr id="124" name="rect"/>
          <p:cNvSpPr txBox="0"/>
          <p:nvPr/>
        </p:nvSpPr>
        <p:spPr>
          <a:xfrm>
            <a:off x="4070985" y="3920490"/>
            <a:ext cx="100965" cy="100965"/>
          </a:xfrm>
          <a:prstGeom prst="rect">
            <a:avLst/>
          </a:prstGeom>
          <a:solidFill>
            <a:srgbClr val="CCCCCC"/>
          </a:solidFill>
          <a:ln w="12700">
            <a:solidFill>
              <a:srgbClr val="999999"/>
            </a:solidFill>
          </a:ln>
        </p:spPr>
      </p:sp>
      <p:sp>
        <p:nvSpPr>
          <p:cNvPr id="125" name="rect"/>
          <p:cNvSpPr txBox="0"/>
          <p:nvPr/>
        </p:nvSpPr>
        <p:spPr>
          <a:xfrm>
            <a:off x="4171950" y="3920490"/>
            <a:ext cx="100965" cy="100965"/>
          </a:xfrm>
          <a:prstGeom prst="rect">
            <a:avLst/>
          </a:prstGeom>
          <a:solidFill>
            <a:srgbClr val="CCCCCC"/>
          </a:solidFill>
          <a:ln w="12700">
            <a:solidFill>
              <a:srgbClr val="999999"/>
            </a:solidFill>
          </a:ln>
        </p:spPr>
      </p:sp>
      <p:sp>
        <p:nvSpPr>
          <p:cNvPr id="126" name="rect"/>
          <p:cNvSpPr txBox="0"/>
          <p:nvPr/>
        </p:nvSpPr>
        <p:spPr>
          <a:xfrm>
            <a:off x="3667125" y="4021455"/>
            <a:ext cx="100965" cy="100965"/>
          </a:xfrm>
          <a:prstGeom prst="rect">
            <a:avLst/>
          </a:prstGeom>
          <a:solidFill>
            <a:srgbClr val="CCCCCC"/>
          </a:solidFill>
          <a:ln w="12700">
            <a:solidFill>
              <a:srgbClr val="999999"/>
            </a:solidFill>
          </a:ln>
        </p:spPr>
      </p:sp>
      <p:sp>
        <p:nvSpPr>
          <p:cNvPr id="127" name="rect"/>
          <p:cNvSpPr txBox="0"/>
          <p:nvPr/>
        </p:nvSpPr>
        <p:spPr>
          <a:xfrm>
            <a:off x="3768090" y="4021455"/>
            <a:ext cx="100965" cy="100965"/>
          </a:xfrm>
          <a:prstGeom prst="rect">
            <a:avLst/>
          </a:prstGeom>
          <a:solidFill>
            <a:srgbClr val="CCCCCC"/>
          </a:solidFill>
          <a:ln w="12700">
            <a:solidFill>
              <a:srgbClr val="999999"/>
            </a:solidFill>
          </a:ln>
        </p:spPr>
      </p:sp>
      <p:sp>
        <p:nvSpPr>
          <p:cNvPr id="128" name="rect"/>
          <p:cNvSpPr txBox="0"/>
          <p:nvPr/>
        </p:nvSpPr>
        <p:spPr>
          <a:xfrm>
            <a:off x="3869055" y="4021455"/>
            <a:ext cx="100965" cy="100965"/>
          </a:xfrm>
          <a:prstGeom prst="rect">
            <a:avLst/>
          </a:prstGeom>
          <a:solidFill>
            <a:srgbClr val="CCCCCC"/>
          </a:solidFill>
          <a:ln w="12700">
            <a:solidFill>
              <a:srgbClr val="999999"/>
            </a:solidFill>
          </a:ln>
        </p:spPr>
      </p:sp>
      <p:sp>
        <p:nvSpPr>
          <p:cNvPr id="129" name="rect"/>
          <p:cNvSpPr txBox="0"/>
          <p:nvPr/>
        </p:nvSpPr>
        <p:spPr>
          <a:xfrm>
            <a:off x="3970020" y="4021455"/>
            <a:ext cx="100965" cy="100965"/>
          </a:xfrm>
          <a:prstGeom prst="rect">
            <a:avLst/>
          </a:prstGeom>
          <a:solidFill>
            <a:srgbClr val="CCCCCC"/>
          </a:solidFill>
          <a:ln w="12700">
            <a:solidFill>
              <a:srgbClr val="999999"/>
            </a:solidFill>
          </a:ln>
        </p:spPr>
      </p:sp>
      <p:sp>
        <p:nvSpPr>
          <p:cNvPr id="130" name="rect"/>
          <p:cNvSpPr txBox="0"/>
          <p:nvPr/>
        </p:nvSpPr>
        <p:spPr>
          <a:xfrm>
            <a:off x="4070985" y="4021455"/>
            <a:ext cx="100965" cy="100965"/>
          </a:xfrm>
          <a:prstGeom prst="rect">
            <a:avLst/>
          </a:prstGeom>
          <a:solidFill>
            <a:srgbClr val="CCCCCC"/>
          </a:solidFill>
          <a:ln w="12700">
            <a:solidFill>
              <a:srgbClr val="999999"/>
            </a:solidFill>
          </a:ln>
        </p:spPr>
      </p:sp>
      <p:sp>
        <p:nvSpPr>
          <p:cNvPr id="131" name="rect"/>
          <p:cNvSpPr txBox="0"/>
          <p:nvPr/>
        </p:nvSpPr>
        <p:spPr>
          <a:xfrm>
            <a:off x="4171950" y="4021455"/>
            <a:ext cx="100965" cy="100965"/>
          </a:xfrm>
          <a:prstGeom prst="rect">
            <a:avLst/>
          </a:prstGeom>
          <a:solidFill>
            <a:srgbClr val="CCCCCC"/>
          </a:solidFill>
          <a:ln w="12700">
            <a:solidFill>
              <a:srgbClr val="999999"/>
            </a:solidFill>
          </a:ln>
        </p:spPr>
      </p:sp>
      <p:sp>
        <p:nvSpPr>
          <p:cNvPr id="132" name="rect"/>
          <p:cNvSpPr txBox="0"/>
          <p:nvPr/>
        </p:nvSpPr>
        <p:spPr>
          <a:xfrm>
            <a:off x="762000" y="4265295"/>
            <a:ext cx="5505450" cy="495300"/>
          </a:xfrm>
          <a:prstGeom prst="rect">
            <a:avLst/>
          </a:prstGeom>
          <a:solidFill>
            <a:srgbClr val="FAFAFA"/>
          </a:solidFill>
          <a:ln w="12700">
            <a:solidFill>
              <a:srgbClr val="AAAAAA"/>
            </a:solidFill>
          </a:ln>
        </p:spPr>
      </p:sp>
      <p:sp>
        <p:nvSpPr>
          <p:cNvPr id="133" name="Your next triplet / Circe next triplet / curse bank"/>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next triplet / Circe next triplet / curse bank</a:t>
            </a:r>
            <a:endParaRPr lang="en-US"/>
          </a:p>
        </p:txBody>
      </p:sp>
      <p:sp>
        <p:nvSpPr>
          <p:cNvPr id="134" name="rect"/>
          <p:cNvSpPr txBox="0"/>
          <p:nvPr/>
        </p:nvSpPr>
        <p:spPr>
          <a:xfrm>
            <a:off x="762000" y="4836795"/>
            <a:ext cx="5505450" cy="495300"/>
          </a:xfrm>
          <a:prstGeom prst="rect">
            <a:avLst/>
          </a:prstGeom>
          <a:solidFill>
            <a:srgbClr val="EEEEEE"/>
          </a:solidFill>
          <a:ln w="12700">
            <a:solidFill>
              <a:srgbClr val="AAAAAA"/>
            </a:solidFill>
          </a:ln>
        </p:spPr>
      </p:sp>
      <p:sp>
        <p:nvSpPr>
          <p:cNvPr id="135" name="Choose column / Rotate / Drop"/>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Choose column / Rotate / Drop</a:t>
            </a:r>
            <a:endParaRPr lang="en-US"/>
          </a:p>
        </p:txBody>
      </p:sp>
      <p:sp>
        <p:nvSpPr>
          <p:cNvPr id="136" name="rect"/>
          <p:cNvSpPr txBox="0"/>
          <p:nvPr/>
        </p:nvSpPr>
        <p:spPr>
          <a:xfrm>
            <a:off x="762000" y="5408295"/>
            <a:ext cx="5505450" cy="495300"/>
          </a:xfrm>
          <a:prstGeom prst="rect">
            <a:avLst/>
          </a:prstGeom>
          <a:solidFill>
            <a:srgbClr val="EEEEEE"/>
          </a:solidFill>
          <a:ln w="12700">
            <a:solidFill>
              <a:srgbClr val="AAAAAA"/>
            </a:solidFill>
          </a:ln>
        </p:spPr>
      </p:sp>
      <p:sp>
        <p:nvSpPr>
          <p:cNvPr id="137" name="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a:t>
            </a:r>
            <a:endParaRPr lang="en-US"/>
          </a:p>
        </p:txBody>
      </p:sp>
      <p:sp>
        <p:nvSpPr>
          <p:cNvPr id="138"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39" name="Two boards make the opponent's moves visible. Moly matc"/>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Two boards make the opponent's moves</a:t>
            </a:r>
            <a:endParaRPr lang="en-US"/>
          </a:p>
          <a:p>
            <a:pPr>
              <a:lnSpc>
                <a:spcPct val="130000"/>
              </a:lnSpc>
            </a:pPr>
            <a:r>
              <a:rPr lang="en-US" sz="1950" b="0">
                <a:solidFill>
                  <a:srgbClr val="102E40"/>
                </a:solidFill>
                <a:latin typeface="Arial"/>
              </a:rPr>
              <a:t xml:space="preserve">visible. Moly matches purify swine and</a:t>
            </a:r>
            <a:endParaRPr lang="en-US"/>
          </a:p>
          <a:p>
            <a:pPr>
              <a:lnSpc>
                <a:spcPct val="130000"/>
              </a:lnSpc>
            </a:pPr>
            <a:r>
              <a:rPr lang="en-US" sz="1950" b="0">
                <a:solidFill>
                  <a:srgbClr val="102E40"/>
                </a:solidFill>
                <a:latin typeface="Arial"/>
              </a:rPr>
              <a:t xml:space="preserve">send curses.</a:t>
            </a:r>
            <a:endParaRPr lang="en-US"/>
          </a:p>
        </p:txBody>
      </p:sp>
      <p:sp>
        <p:nvSpPr>
          <p:cNvPr id="140" name="Screen S06 Flow F3 State simultaneous pla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S06</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simultaneous play</a:t>
            </a:r>
            <a:endParaRPr lang="en-US"/>
          </a:p>
        </p:txBody>
      </p:sp>
      <p:sp>
        <p:nvSpPr>
          <p:cNvPr id="141" name="Farshore / Phase 2 / 3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3: Sirens melod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W13: Sirens melody</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3  Sirens melody"/>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W13  Sirens melody</a:t>
            </a:r>
            <a:endParaRPr lang="en-US"/>
          </a:p>
        </p:txBody>
      </p:sp>
      <p:sp>
        <p:nvSpPr>
          <p:cNvPr id="6" name="S07 / Listen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S07 / Listen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Listen / melody 2 of 5 / Temptation 20%"/>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Listen / melody 2 of 5 / Temptation 20%</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rect"/>
          <p:cNvSpPr txBox="0"/>
          <p:nvPr/>
        </p:nvSpPr>
        <p:spPr>
          <a:xfrm>
            <a:off x="876300" y="3065145"/>
            <a:ext cx="1204912" cy="904875"/>
          </a:xfrm>
          <a:prstGeom prst="rect">
            <a:avLst/>
          </a:prstGeom>
          <a:solidFill>
            <a:srgbClr val="FFFFFF"/>
          </a:solidFill>
          <a:ln w="12700">
            <a:solidFill>
              <a:srgbClr val="777777"/>
            </a:solidFill>
          </a:ln>
        </p:spPr>
      </p:sp>
      <p:sp>
        <p:nvSpPr>
          <p:cNvPr id="11" name="A / 1"/>
          <p:cNvSpPr txBox="1"/>
          <p:nvPr/>
        </p:nvSpPr>
        <p:spPr>
          <a:xfrm>
            <a:off x="962025"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A / 1</a:t>
            </a:r>
            <a:endParaRPr lang="en-US"/>
          </a:p>
        </p:txBody>
      </p:sp>
      <p:sp>
        <p:nvSpPr>
          <p:cNvPr id="12" name="rect"/>
          <p:cNvSpPr txBox="0"/>
          <p:nvPr/>
        </p:nvSpPr>
        <p:spPr>
          <a:xfrm>
            <a:off x="2157412" y="3065145"/>
            <a:ext cx="1204912" cy="904875"/>
          </a:xfrm>
          <a:prstGeom prst="rect">
            <a:avLst/>
          </a:prstGeom>
          <a:solidFill>
            <a:srgbClr val="BBBBBB"/>
          </a:solidFill>
          <a:ln w="12700">
            <a:solidFill>
              <a:srgbClr val="777777"/>
            </a:solidFill>
          </a:ln>
        </p:spPr>
      </p:sp>
      <p:sp>
        <p:nvSpPr>
          <p:cNvPr id="13" name="S / 2"/>
          <p:cNvSpPr txBox="1"/>
          <p:nvPr/>
        </p:nvSpPr>
        <p:spPr>
          <a:xfrm>
            <a:off x="2243138"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S / 2</a:t>
            </a:r>
            <a:endParaRPr lang="en-US"/>
          </a:p>
        </p:txBody>
      </p:sp>
      <p:sp>
        <p:nvSpPr>
          <p:cNvPr id="14" name="rect"/>
          <p:cNvSpPr txBox="0"/>
          <p:nvPr/>
        </p:nvSpPr>
        <p:spPr>
          <a:xfrm>
            <a:off x="3438525" y="3065145"/>
            <a:ext cx="1204912" cy="904875"/>
          </a:xfrm>
          <a:prstGeom prst="rect">
            <a:avLst/>
          </a:prstGeom>
          <a:solidFill>
            <a:srgbClr val="FFFFFF"/>
          </a:solidFill>
          <a:ln w="12700">
            <a:solidFill>
              <a:srgbClr val="777777"/>
            </a:solidFill>
          </a:ln>
        </p:spPr>
      </p:sp>
      <p:sp>
        <p:nvSpPr>
          <p:cNvPr id="15" name="D / 3"/>
          <p:cNvSpPr txBox="1"/>
          <p:nvPr/>
        </p:nvSpPr>
        <p:spPr>
          <a:xfrm>
            <a:off x="3524250"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D / 3</a:t>
            </a:r>
            <a:endParaRPr lang="en-US"/>
          </a:p>
        </p:txBody>
      </p:sp>
      <p:sp>
        <p:nvSpPr>
          <p:cNvPr id="16" name="rect"/>
          <p:cNvSpPr txBox="0"/>
          <p:nvPr/>
        </p:nvSpPr>
        <p:spPr>
          <a:xfrm>
            <a:off x="4719638" y="3065145"/>
            <a:ext cx="1204912" cy="904875"/>
          </a:xfrm>
          <a:prstGeom prst="rect">
            <a:avLst/>
          </a:prstGeom>
          <a:solidFill>
            <a:srgbClr val="FFFFFF"/>
          </a:solidFill>
          <a:ln w="12700">
            <a:solidFill>
              <a:srgbClr val="777777"/>
            </a:solidFill>
          </a:ln>
        </p:spPr>
      </p:sp>
      <p:sp>
        <p:nvSpPr>
          <p:cNvPr id="17" name="F / 4"/>
          <p:cNvSpPr txBox="1"/>
          <p:nvPr/>
        </p:nvSpPr>
        <p:spPr>
          <a:xfrm>
            <a:off x="4805362"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F / 4</a:t>
            </a:r>
            <a:endParaRPr lang="en-US"/>
          </a:p>
        </p:txBody>
      </p:sp>
      <p:sp>
        <p:nvSpPr>
          <p:cNvPr id="18" name="rect"/>
          <p:cNvSpPr txBox="0"/>
          <p:nvPr/>
        </p:nvSpPr>
        <p:spPr>
          <a:xfrm>
            <a:off x="762000" y="4265295"/>
            <a:ext cx="5505450" cy="495300"/>
          </a:xfrm>
          <a:prstGeom prst="rect">
            <a:avLst/>
          </a:prstGeom>
          <a:solidFill>
            <a:srgbClr val="FAFAFA"/>
          </a:solidFill>
          <a:ln w="12700">
            <a:solidFill>
              <a:srgbClr val="AAAAAA"/>
            </a:solidFill>
          </a:ln>
        </p:spPr>
      </p:sp>
      <p:sp>
        <p:nvSpPr>
          <p:cNvPr id="19" name="Highlight and optional tone play the sequence"/>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Highlight and optional tone play the sequence</a:t>
            </a:r>
            <a:endParaRPr lang="en-US"/>
          </a:p>
        </p:txBody>
      </p:sp>
      <p:sp>
        <p:nvSpPr>
          <p:cNvPr id="20" name="rect"/>
          <p:cNvSpPr txBox="0"/>
          <p:nvPr/>
        </p:nvSpPr>
        <p:spPr>
          <a:xfrm>
            <a:off x="762000" y="4836795"/>
            <a:ext cx="5505450" cy="495300"/>
          </a:xfrm>
          <a:prstGeom prst="rect">
            <a:avLst/>
          </a:prstGeom>
          <a:solidFill>
            <a:srgbClr val="FAFAFA"/>
          </a:solidFill>
          <a:ln w="12700">
            <a:solidFill>
              <a:srgbClr val="AAAAAA"/>
            </a:solidFill>
          </a:ln>
        </p:spPr>
      </p:sp>
      <p:sp>
        <p:nvSpPr>
          <p:cNvPr id="21" name="Wait for Reply before entering notes"/>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Wait for Reply before entering notes</a:t>
            </a:r>
            <a:endParaRPr lang="en-US"/>
          </a:p>
        </p:txBody>
      </p:sp>
      <p:sp>
        <p:nvSpPr>
          <p:cNvPr id="22" name="rect"/>
          <p:cNvSpPr txBox="0"/>
          <p:nvPr/>
        </p:nvSpPr>
        <p:spPr>
          <a:xfrm>
            <a:off x="762000" y="5408295"/>
            <a:ext cx="5505450" cy="495300"/>
          </a:xfrm>
          <a:prstGeom prst="rect">
            <a:avLst/>
          </a:prstGeom>
          <a:solidFill>
            <a:srgbClr val="EEEEEE"/>
          </a:solidFill>
          <a:ln w="12700">
            <a:solidFill>
              <a:srgbClr val="AAAAAA"/>
            </a:solidFill>
          </a:ln>
        </p:spPr>
      </p:sp>
      <p:sp>
        <p:nvSpPr>
          <p:cNvPr id="23" name="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a:t>
            </a:r>
            <a:endParaRPr lang="en-US"/>
          </a:p>
        </p:txBody>
      </p:sp>
      <p:sp>
        <p:nvSpPr>
          <p:cNvPr id="24"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25" name="Numbered pads and phase text work without audio. Trick "/>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Numbered pads and phase text work</a:t>
            </a:r>
            <a:endParaRPr lang="en-US"/>
          </a:p>
          <a:p>
            <a:pPr>
              <a:lnSpc>
                <a:spcPct val="130000"/>
              </a:lnSpc>
            </a:pPr>
            <a:r>
              <a:rPr lang="en-US" sz="1950" b="0">
                <a:solidFill>
                  <a:srgbClr val="102E40"/>
                </a:solidFill>
                <a:latin typeface="Arial"/>
              </a:rPr>
              <a:t xml:space="preserve">without audio. Trick rests appear visibly.</a:t>
            </a:r>
            <a:endParaRPr lang="en-US"/>
          </a:p>
        </p:txBody>
      </p:sp>
      <p:sp>
        <p:nvSpPr>
          <p:cNvPr id="26" name="Screen S07 Flow F3 State Listen"/>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S07</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Listen</a:t>
            </a:r>
            <a:endParaRPr lang="en-US"/>
          </a:p>
        </p:txBody>
      </p:sp>
      <p:sp>
        <p:nvSpPr>
          <p:cNvPr id="27" name="Farshore / Phase 2 / 3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4: Sirens counter melody"/>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W14: Sirens counter melody</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4  Sirens counter melody"/>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W14  Sirens counter melody</a:t>
            </a:r>
            <a:endParaRPr lang="en-US"/>
          </a:p>
        </p:txBody>
      </p:sp>
      <p:sp>
        <p:nvSpPr>
          <p:cNvPr id="6" name="S07 / Reply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S07 / Reply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Reply / entered notes / remaining tim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Reply / entered notes / remaining time</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rect"/>
          <p:cNvSpPr txBox="0"/>
          <p:nvPr/>
        </p:nvSpPr>
        <p:spPr>
          <a:xfrm>
            <a:off x="876300" y="3065145"/>
            <a:ext cx="1204912" cy="904875"/>
          </a:xfrm>
          <a:prstGeom prst="rect">
            <a:avLst/>
          </a:prstGeom>
          <a:solidFill>
            <a:srgbClr val="FFFFFF"/>
          </a:solidFill>
          <a:ln w="12700">
            <a:solidFill>
              <a:srgbClr val="777777"/>
            </a:solidFill>
          </a:ln>
        </p:spPr>
      </p:sp>
      <p:sp>
        <p:nvSpPr>
          <p:cNvPr id="11" name="A / 1"/>
          <p:cNvSpPr txBox="1"/>
          <p:nvPr/>
        </p:nvSpPr>
        <p:spPr>
          <a:xfrm>
            <a:off x="962025"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A / 1</a:t>
            </a:r>
            <a:endParaRPr lang="en-US"/>
          </a:p>
        </p:txBody>
      </p:sp>
      <p:sp>
        <p:nvSpPr>
          <p:cNvPr id="12" name="rect"/>
          <p:cNvSpPr txBox="0"/>
          <p:nvPr/>
        </p:nvSpPr>
        <p:spPr>
          <a:xfrm>
            <a:off x="2157412" y="3065145"/>
            <a:ext cx="1204912" cy="904875"/>
          </a:xfrm>
          <a:prstGeom prst="rect">
            <a:avLst/>
          </a:prstGeom>
          <a:solidFill>
            <a:srgbClr val="FFFFFF"/>
          </a:solidFill>
          <a:ln w="12700">
            <a:solidFill>
              <a:srgbClr val="777777"/>
            </a:solidFill>
          </a:ln>
        </p:spPr>
      </p:sp>
      <p:sp>
        <p:nvSpPr>
          <p:cNvPr id="13" name="S / 2"/>
          <p:cNvSpPr txBox="1"/>
          <p:nvPr/>
        </p:nvSpPr>
        <p:spPr>
          <a:xfrm>
            <a:off x="2243138"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S / 2</a:t>
            </a:r>
            <a:endParaRPr lang="en-US"/>
          </a:p>
        </p:txBody>
      </p:sp>
      <p:sp>
        <p:nvSpPr>
          <p:cNvPr id="14" name="rect"/>
          <p:cNvSpPr txBox="0"/>
          <p:nvPr/>
        </p:nvSpPr>
        <p:spPr>
          <a:xfrm>
            <a:off x="3438525" y="3065145"/>
            <a:ext cx="1204912" cy="904875"/>
          </a:xfrm>
          <a:prstGeom prst="rect">
            <a:avLst/>
          </a:prstGeom>
          <a:solidFill>
            <a:srgbClr val="FFFFFF"/>
          </a:solidFill>
          <a:ln w="12700">
            <a:solidFill>
              <a:srgbClr val="777777"/>
            </a:solidFill>
          </a:ln>
        </p:spPr>
      </p:sp>
      <p:sp>
        <p:nvSpPr>
          <p:cNvPr id="15" name="D / 3"/>
          <p:cNvSpPr txBox="1"/>
          <p:nvPr/>
        </p:nvSpPr>
        <p:spPr>
          <a:xfrm>
            <a:off x="3524250"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D / 3</a:t>
            </a:r>
            <a:endParaRPr lang="en-US"/>
          </a:p>
        </p:txBody>
      </p:sp>
      <p:sp>
        <p:nvSpPr>
          <p:cNvPr id="16" name="rect"/>
          <p:cNvSpPr txBox="0"/>
          <p:nvPr/>
        </p:nvSpPr>
        <p:spPr>
          <a:xfrm>
            <a:off x="4719638" y="3065145"/>
            <a:ext cx="1204912" cy="904875"/>
          </a:xfrm>
          <a:prstGeom prst="rect">
            <a:avLst/>
          </a:prstGeom>
          <a:solidFill>
            <a:srgbClr val="FFFFFF"/>
          </a:solidFill>
          <a:ln w="12700">
            <a:solidFill>
              <a:srgbClr val="777777"/>
            </a:solidFill>
          </a:ln>
        </p:spPr>
      </p:sp>
      <p:sp>
        <p:nvSpPr>
          <p:cNvPr id="17" name="F / 4"/>
          <p:cNvSpPr txBox="1"/>
          <p:nvPr/>
        </p:nvSpPr>
        <p:spPr>
          <a:xfrm>
            <a:off x="4805362" y="3255645"/>
            <a:ext cx="1052512" cy="357302"/>
          </a:xfrm>
          <a:prstGeom prst="rect">
            <a:avLst/>
          </a:prstGeom>
          <a:noFill/>
          <a:ln>
            <a:noFill/>
          </a:ln>
        </p:spPr>
        <p:txBody>
          <a:bodyPr wrap="square" lIns="0" rIns="0" tIns="0" bIns="0" anchor="t">
            <a:noAutofit/>
          </a:bodyPr>
          <a:lstStyle/>
          <a:p>
            <a:pPr>
              <a:lnSpc>
                <a:spcPct val="130000"/>
              </a:lnSpc>
            </a:pPr>
            <a:r>
              <a:rPr lang="en-US" sz="1350" b="1">
                <a:solidFill>
                  <a:srgbClr val="222222"/>
                </a:solidFill>
                <a:latin typeface="Arial"/>
              </a:rPr>
              <a:t xml:space="preserve">F / 4</a:t>
            </a:r>
            <a:endParaRPr lang="en-US"/>
          </a:p>
        </p:txBody>
      </p:sp>
      <p:sp>
        <p:nvSpPr>
          <p:cNvPr id="18" name="rect"/>
          <p:cNvSpPr txBox="0"/>
          <p:nvPr/>
        </p:nvSpPr>
        <p:spPr>
          <a:xfrm>
            <a:off x="762000" y="4265295"/>
            <a:ext cx="5505450" cy="495300"/>
          </a:xfrm>
          <a:prstGeom prst="rect">
            <a:avLst/>
          </a:prstGeom>
          <a:solidFill>
            <a:srgbClr val="FAFAFA"/>
          </a:solidFill>
          <a:ln w="12700">
            <a:solidFill>
              <a:srgbClr val="AAAAAA"/>
            </a:solidFill>
          </a:ln>
        </p:spPr>
      </p:sp>
      <p:sp>
        <p:nvSpPr>
          <p:cNvPr id="19" name="Temptation increases on wrong or missing notes"/>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Temptation increases on wrong or missing notes</a:t>
            </a:r>
            <a:endParaRPr lang="en-US"/>
          </a:p>
        </p:txBody>
      </p:sp>
      <p:sp>
        <p:nvSpPr>
          <p:cNvPr id="20" name="rect"/>
          <p:cNvSpPr txBox="0"/>
          <p:nvPr/>
        </p:nvSpPr>
        <p:spPr>
          <a:xfrm>
            <a:off x="762000" y="4836795"/>
            <a:ext cx="5505450" cy="495300"/>
          </a:xfrm>
          <a:prstGeom prst="rect">
            <a:avLst/>
          </a:prstGeom>
          <a:solidFill>
            <a:srgbClr val="EEEEEE"/>
          </a:solidFill>
          <a:ln w="12700">
            <a:solidFill>
              <a:srgbClr val="AAAAAA"/>
            </a:solidFill>
          </a:ln>
        </p:spPr>
      </p:sp>
      <p:sp>
        <p:nvSpPr>
          <p:cNvPr id="21" name="Press pads or use keys / Pause"/>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Press pads or use keys / Pause</a:t>
            </a:r>
            <a:endParaRPr lang="en-US"/>
          </a:p>
        </p:txBody>
      </p:sp>
      <p:sp>
        <p:nvSpPr>
          <p:cNvPr id="22"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23" name="Local Siren logic targets misses within the current rou"/>
          <p:cNvSpPr txBox="1"/>
          <p:nvPr/>
        </p:nvSpPr>
        <p:spPr>
          <a:xfrm>
            <a:off x="6953250" y="2667000"/>
            <a:ext cx="4810125" cy="199377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Local Siren logic targets misses within</a:t>
            </a:r>
            <a:endParaRPr lang="en-US"/>
          </a:p>
          <a:p>
            <a:pPr>
              <a:lnSpc>
                <a:spcPct val="130000"/>
              </a:lnSpc>
            </a:pPr>
            <a:r>
              <a:rPr lang="en-US" sz="1950" b="0">
                <a:solidFill>
                  <a:srgbClr val="102E40"/>
                </a:solidFill>
                <a:latin typeface="Arial"/>
              </a:rPr>
              <a:t xml:space="preserve">the current round. Previous-round</a:t>
            </a:r>
            <a:endParaRPr lang="en-US"/>
          </a:p>
          <a:p>
            <a:pPr>
              <a:lnSpc>
                <a:spcPct val="130000"/>
              </a:lnSpc>
            </a:pPr>
            <a:r>
              <a:rPr lang="en-US" sz="1950" b="0">
                <a:solidFill>
                  <a:srgbClr val="102E40"/>
                </a:solidFill>
                <a:latin typeface="Arial"/>
              </a:rPr>
              <a:t xml:space="preserve">misses inform model policy selection, not</a:t>
            </a:r>
            <a:endParaRPr lang="en-US"/>
          </a:p>
          <a:p>
            <a:pPr>
              <a:lnSpc>
                <a:spcPct val="130000"/>
              </a:lnSpc>
            </a:pPr>
            <a:r>
              <a:rPr lang="en-US" sz="1950" b="0">
                <a:solidFill>
                  <a:srgbClr val="102E40"/>
                </a:solidFill>
                <a:latin typeface="Arial"/>
              </a:rPr>
              <a:t xml:space="preserve">initial lane targeting. Pads also have</a:t>
            </a:r>
            <a:endParaRPr lang="en-US"/>
          </a:p>
          <a:p>
            <a:pPr>
              <a:lnSpc>
                <a:spcPct val="130000"/>
              </a:lnSpc>
            </a:pPr>
            <a:r>
              <a:rPr lang="en-US" sz="1950" b="0">
                <a:solidFill>
                  <a:srgbClr val="102E40"/>
                </a:solidFill>
                <a:latin typeface="Arial"/>
              </a:rPr>
              <a:t xml:space="preserve">labels.</a:t>
            </a:r>
            <a:endParaRPr lang="en-US"/>
          </a:p>
        </p:txBody>
      </p:sp>
      <p:sp>
        <p:nvSpPr>
          <p:cNvPr id="24" name="Screen S07 Flow F3 State Repl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S07</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Reply</a:t>
            </a:r>
            <a:endParaRPr lang="en-US"/>
          </a:p>
        </p:txBody>
      </p:sp>
      <p:sp>
        <p:nvSpPr>
          <p:cNvPr id="25" name="Farshore / Phase 2 / 3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5: Twin-paddle escap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W15: Twin-paddle escape</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5  Twin-paddle escape"/>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W15  Twin-paddle escape</a:t>
            </a:r>
            <a:endParaRPr lang="en-US"/>
          </a:p>
        </p:txBody>
      </p:sp>
      <p:sp>
        <p:nvSpPr>
          <p:cNvPr id="6" name="S08 / active strikes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S08 / active strikes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Hull 5 / survival time / rival mod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Hull 5 / survival time / rival mode</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VORTEX"/>
          <p:cNvSpPr txBox="1"/>
          <p:nvPr/>
        </p:nvSpPr>
        <p:spPr>
          <a:xfrm>
            <a:off x="857250" y="3027045"/>
            <a:ext cx="809625" cy="298856"/>
          </a:xfrm>
          <a:prstGeom prst="rect">
            <a:avLst/>
          </a:prstGeom>
          <a:noFill/>
          <a:ln>
            <a:noFill/>
          </a:ln>
        </p:spPr>
        <p:txBody>
          <a:bodyPr wrap="square" lIns="0" rIns="0" tIns="0" bIns="0" anchor="t">
            <a:noAutofit/>
          </a:bodyPr>
          <a:lstStyle/>
          <a:p>
            <a:pPr>
              <a:lnSpc>
                <a:spcPct val="130000"/>
              </a:lnSpc>
            </a:pPr>
            <a:r>
              <a:rPr lang="en-US" sz="1050" b="1">
                <a:solidFill>
                  <a:srgbClr val="222222"/>
                </a:solidFill>
                <a:latin typeface="Arial"/>
              </a:rPr>
              <a:t xml:space="preserve">VORTEX</a:t>
            </a:r>
            <a:endParaRPr lang="en-US"/>
          </a:p>
        </p:txBody>
      </p:sp>
      <p:sp>
        <p:nvSpPr>
          <p:cNvPr id="11" name="rect"/>
          <p:cNvSpPr txBox="0"/>
          <p:nvPr/>
        </p:nvSpPr>
        <p:spPr>
          <a:xfrm>
            <a:off x="1933575" y="3284220"/>
            <a:ext cx="609600" cy="361950"/>
          </a:xfrm>
          <a:prstGeom prst="rect">
            <a:avLst/>
          </a:prstGeom>
          <a:solidFill>
            <a:srgbClr val="DDDDDD"/>
          </a:solidFill>
          <a:ln w="12700">
            <a:solidFill>
              <a:srgbClr val="777777"/>
            </a:solidFill>
          </a:ln>
        </p:spPr>
      </p:sp>
      <p:sp>
        <p:nvSpPr>
          <p:cNvPr id="12" name="SHIP"/>
          <p:cNvSpPr txBox="1"/>
          <p:nvPr/>
        </p:nvSpPr>
        <p:spPr>
          <a:xfrm>
            <a:off x="2000250" y="3350895"/>
            <a:ext cx="495300" cy="284245"/>
          </a:xfrm>
          <a:prstGeom prst="rect">
            <a:avLst/>
          </a:prstGeom>
          <a:noFill/>
          <a:ln>
            <a:noFill/>
          </a:ln>
        </p:spPr>
        <p:txBody>
          <a:bodyPr wrap="square" lIns="0" rIns="0" tIns="0" bIns="0" anchor="t">
            <a:noAutofit/>
          </a:bodyPr>
          <a:lstStyle/>
          <a:p>
            <a:pPr>
              <a:lnSpc>
                <a:spcPct val="130000"/>
              </a:lnSpc>
            </a:pPr>
            <a:r>
              <a:rPr lang="en-US" sz="975" b="0">
                <a:solidFill>
                  <a:srgbClr val="222222"/>
                </a:solidFill>
                <a:latin typeface="Arial"/>
              </a:rPr>
              <a:t xml:space="preserve">SHIP</a:t>
            </a:r>
            <a:endParaRPr lang="en-US"/>
          </a:p>
        </p:txBody>
      </p:sp>
      <p:sp>
        <p:nvSpPr>
          <p:cNvPr id="13" name="rect"/>
          <p:cNvSpPr txBox="0"/>
          <p:nvPr/>
        </p:nvSpPr>
        <p:spPr>
          <a:xfrm>
            <a:off x="2971800" y="3217545"/>
            <a:ext cx="114300" cy="609600"/>
          </a:xfrm>
          <a:prstGeom prst="rect">
            <a:avLst/>
          </a:prstGeom>
          <a:solidFill>
            <a:srgbClr val="999999"/>
          </a:solidFill>
          <a:ln w="12700">
            <a:solidFill>
              <a:srgbClr val="777777"/>
            </a:solidFill>
          </a:ln>
        </p:spPr>
      </p:sp>
      <p:sp>
        <p:nvSpPr>
          <p:cNvPr id="14" name="rect"/>
          <p:cNvSpPr txBox="0"/>
          <p:nvPr/>
        </p:nvSpPr>
        <p:spPr>
          <a:xfrm>
            <a:off x="5648325" y="2941320"/>
            <a:ext cx="428625" cy="142875"/>
          </a:xfrm>
          <a:prstGeom prst="rect">
            <a:avLst/>
          </a:prstGeom>
          <a:solidFill>
            <a:srgbClr val="DDDDDD"/>
          </a:solidFill>
          <a:ln w="12700">
            <a:solidFill>
              <a:srgbClr val="777777"/>
            </a:solidFill>
          </a:ln>
        </p:spPr>
      </p:sp>
      <p:sp>
        <p:nvSpPr>
          <p:cNvPr id="15" name="1"/>
          <p:cNvSpPr txBox="1"/>
          <p:nvPr/>
        </p:nvSpPr>
        <p:spPr>
          <a:xfrm>
            <a:off x="5695950" y="2941320"/>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1</a:t>
            </a:r>
            <a:endParaRPr lang="en-US"/>
          </a:p>
        </p:txBody>
      </p:sp>
      <p:sp>
        <p:nvSpPr>
          <p:cNvPr id="16" name="rect"/>
          <p:cNvSpPr txBox="0"/>
          <p:nvPr/>
        </p:nvSpPr>
        <p:spPr>
          <a:xfrm>
            <a:off x="5648325" y="3122295"/>
            <a:ext cx="428625" cy="142875"/>
          </a:xfrm>
          <a:prstGeom prst="rect">
            <a:avLst/>
          </a:prstGeom>
          <a:solidFill>
            <a:srgbClr val="DDDDDD"/>
          </a:solidFill>
          <a:ln w="12700">
            <a:solidFill>
              <a:srgbClr val="777777"/>
            </a:solidFill>
          </a:ln>
        </p:spPr>
      </p:sp>
      <p:sp>
        <p:nvSpPr>
          <p:cNvPr id="17" name="2"/>
          <p:cNvSpPr txBox="1"/>
          <p:nvPr/>
        </p:nvSpPr>
        <p:spPr>
          <a:xfrm>
            <a:off x="5695950" y="3122295"/>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2</a:t>
            </a:r>
            <a:endParaRPr lang="en-US"/>
          </a:p>
        </p:txBody>
      </p:sp>
      <p:sp>
        <p:nvSpPr>
          <p:cNvPr id="18" name="rect"/>
          <p:cNvSpPr txBox="0"/>
          <p:nvPr/>
        </p:nvSpPr>
        <p:spPr>
          <a:xfrm>
            <a:off x="5648325" y="3303270"/>
            <a:ext cx="428625" cy="142875"/>
          </a:xfrm>
          <a:prstGeom prst="rect">
            <a:avLst/>
          </a:prstGeom>
          <a:solidFill>
            <a:srgbClr val="DDDDDD"/>
          </a:solidFill>
          <a:ln w="12700">
            <a:solidFill>
              <a:srgbClr val="777777"/>
            </a:solidFill>
          </a:ln>
        </p:spPr>
      </p:sp>
      <p:sp>
        <p:nvSpPr>
          <p:cNvPr id="19" name="3"/>
          <p:cNvSpPr txBox="1"/>
          <p:nvPr/>
        </p:nvSpPr>
        <p:spPr>
          <a:xfrm>
            <a:off x="5695950" y="3303270"/>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3</a:t>
            </a:r>
            <a:endParaRPr lang="en-US"/>
          </a:p>
        </p:txBody>
      </p:sp>
      <p:sp>
        <p:nvSpPr>
          <p:cNvPr id="20" name="rect"/>
          <p:cNvSpPr txBox="0"/>
          <p:nvPr/>
        </p:nvSpPr>
        <p:spPr>
          <a:xfrm>
            <a:off x="5648325" y="3484245"/>
            <a:ext cx="428625" cy="142875"/>
          </a:xfrm>
          <a:prstGeom prst="rect">
            <a:avLst/>
          </a:prstGeom>
          <a:solidFill>
            <a:srgbClr val="DDDDDD"/>
          </a:solidFill>
          <a:ln w="12700">
            <a:solidFill>
              <a:srgbClr val="777777"/>
            </a:solidFill>
          </a:ln>
        </p:spPr>
      </p:sp>
      <p:sp>
        <p:nvSpPr>
          <p:cNvPr id="21" name="4"/>
          <p:cNvSpPr txBox="1"/>
          <p:nvPr/>
        </p:nvSpPr>
        <p:spPr>
          <a:xfrm>
            <a:off x="5695950" y="3484245"/>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4</a:t>
            </a:r>
            <a:endParaRPr lang="en-US"/>
          </a:p>
        </p:txBody>
      </p:sp>
      <p:sp>
        <p:nvSpPr>
          <p:cNvPr id="22" name="rect"/>
          <p:cNvSpPr txBox="0"/>
          <p:nvPr/>
        </p:nvSpPr>
        <p:spPr>
          <a:xfrm>
            <a:off x="5648325" y="3665220"/>
            <a:ext cx="428625" cy="142875"/>
          </a:xfrm>
          <a:prstGeom prst="rect">
            <a:avLst/>
          </a:prstGeom>
          <a:solidFill>
            <a:srgbClr val="DDDDDD"/>
          </a:solidFill>
          <a:ln w="12700">
            <a:solidFill>
              <a:srgbClr val="777777"/>
            </a:solidFill>
          </a:ln>
        </p:spPr>
      </p:sp>
      <p:sp>
        <p:nvSpPr>
          <p:cNvPr id="23" name="5"/>
          <p:cNvSpPr txBox="1"/>
          <p:nvPr/>
        </p:nvSpPr>
        <p:spPr>
          <a:xfrm>
            <a:off x="5695950" y="3665220"/>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5</a:t>
            </a:r>
            <a:endParaRPr lang="en-US"/>
          </a:p>
        </p:txBody>
      </p:sp>
      <p:sp>
        <p:nvSpPr>
          <p:cNvPr id="24" name="rect"/>
          <p:cNvSpPr txBox="0"/>
          <p:nvPr/>
        </p:nvSpPr>
        <p:spPr>
          <a:xfrm>
            <a:off x="5648325" y="3846195"/>
            <a:ext cx="428625" cy="142875"/>
          </a:xfrm>
          <a:prstGeom prst="rect">
            <a:avLst/>
          </a:prstGeom>
          <a:solidFill>
            <a:srgbClr val="DDDDDD"/>
          </a:solidFill>
          <a:ln w="12700">
            <a:solidFill>
              <a:srgbClr val="777777"/>
            </a:solidFill>
          </a:ln>
        </p:spPr>
      </p:sp>
      <p:sp>
        <p:nvSpPr>
          <p:cNvPr id="25" name="6"/>
          <p:cNvSpPr txBox="1"/>
          <p:nvPr/>
        </p:nvSpPr>
        <p:spPr>
          <a:xfrm>
            <a:off x="5695950" y="3846195"/>
            <a:ext cx="285750" cy="240411"/>
          </a:xfrm>
          <a:prstGeom prst="rect">
            <a:avLst/>
          </a:prstGeom>
          <a:noFill/>
          <a:ln>
            <a:noFill/>
          </a:ln>
        </p:spPr>
        <p:txBody>
          <a:bodyPr wrap="square" lIns="0" rIns="0" tIns="0" bIns="0" anchor="t">
            <a:noAutofit/>
          </a:bodyPr>
          <a:lstStyle/>
          <a:p>
            <a:pPr>
              <a:lnSpc>
                <a:spcPct val="130000"/>
              </a:lnSpc>
            </a:pPr>
            <a:r>
              <a:rPr lang="en-US" sz="750" b="0">
                <a:solidFill>
                  <a:srgbClr val="222222"/>
                </a:solidFill>
                <a:latin typeface="Arial"/>
              </a:rPr>
              <a:t xml:space="preserve">6</a:t>
            </a:r>
            <a:endParaRPr lang="en-US"/>
          </a:p>
        </p:txBody>
      </p:sp>
      <p:cxnSp>
        <p:nvCxnSpPr>
          <p:cNvPr id="26" name="Connector 26"/>
          <p:cNvCxnSpPr/>
          <p:nvPr/>
        </p:nvCxnSpPr>
        <p:spPr>
          <a:xfrm flipH="1">
            <a:off x="3143250" y="3388995"/>
            <a:ext cx="2476500" cy="114300"/>
          </a:xfrm>
          <a:prstGeom prst="line">
            <a:avLst/>
          </a:prstGeom>
          <a:ln w="19050">
            <a:solidFill>
              <a:srgbClr val="526875"/>
            </a:solidFill>
            <a:prstDash val="dash"/>
            <a:tailEnd type="triangle"/>
          </a:ln>
        </p:spPr>
      </p:cxnSp>
      <p:sp>
        <p:nvSpPr>
          <p:cNvPr id="27" name="rect"/>
          <p:cNvSpPr txBox="0"/>
          <p:nvPr/>
        </p:nvSpPr>
        <p:spPr>
          <a:xfrm>
            <a:off x="762000" y="4265295"/>
            <a:ext cx="5505450" cy="495300"/>
          </a:xfrm>
          <a:prstGeom prst="rect">
            <a:avLst/>
          </a:prstGeom>
          <a:solidFill>
            <a:srgbClr val="FAFAFA"/>
          </a:solidFill>
          <a:ln w="12700">
            <a:solidFill>
              <a:srgbClr val="AAAAAA"/>
            </a:solidFill>
          </a:ln>
        </p:spPr>
      </p:sp>
      <p:sp>
        <p:nvSpPr>
          <p:cNvPr id="28" name="Telegraphed strike paths and visible pull"/>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Telegraphed strike paths and visible pull</a:t>
            </a:r>
            <a:endParaRPr lang="en-US"/>
          </a:p>
        </p:txBody>
      </p:sp>
      <p:sp>
        <p:nvSpPr>
          <p:cNvPr id="29" name="rect"/>
          <p:cNvSpPr txBox="0"/>
          <p:nvPr/>
        </p:nvSpPr>
        <p:spPr>
          <a:xfrm>
            <a:off x="762000" y="4836795"/>
            <a:ext cx="5505450" cy="495300"/>
          </a:xfrm>
          <a:prstGeom prst="rect">
            <a:avLst/>
          </a:prstGeom>
          <a:solidFill>
            <a:srgbClr val="EEEEEE"/>
          </a:solidFill>
          <a:ln w="12700">
            <a:solidFill>
              <a:srgbClr val="AAAAAA"/>
            </a:solidFill>
          </a:ln>
        </p:spPr>
      </p:sp>
      <p:sp>
        <p:nvSpPr>
          <p:cNvPr id="30" name="Shield Up/Down or drag / hold Row or Space"/>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Shield Up/Down or drag / hold Row or Space</a:t>
            </a:r>
            <a:endParaRPr lang="en-US"/>
          </a:p>
        </p:txBody>
      </p:sp>
      <p:sp>
        <p:nvSpPr>
          <p:cNvPr id="31" name="rect"/>
          <p:cNvSpPr txBox="0"/>
          <p:nvPr/>
        </p:nvSpPr>
        <p:spPr>
          <a:xfrm>
            <a:off x="762000" y="5408295"/>
            <a:ext cx="5505450" cy="495300"/>
          </a:xfrm>
          <a:prstGeom prst="rect">
            <a:avLst/>
          </a:prstGeom>
          <a:solidFill>
            <a:srgbClr val="EEEEEE"/>
          </a:solidFill>
          <a:ln w="12700">
            <a:solidFill>
              <a:srgbClr val="AAAAAA"/>
            </a:solidFill>
          </a:ln>
        </p:spPr>
      </p:sp>
      <p:sp>
        <p:nvSpPr>
          <p:cNvPr id="32" name="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a:t>
            </a:r>
            <a:endParaRPr lang="en-US"/>
          </a:p>
        </p:txBody>
      </p:sp>
      <p:sp>
        <p:nvSpPr>
          <p:cNvPr id="33"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34" name="Release Row to stop rowing. Pause or focus loss release"/>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Release Row to stop rowing. Pause or</a:t>
            </a:r>
            <a:endParaRPr lang="en-US"/>
          </a:p>
          <a:p>
            <a:pPr>
              <a:lnSpc>
                <a:spcPct val="130000"/>
              </a:lnSpc>
            </a:pPr>
            <a:r>
              <a:rPr lang="en-US" sz="1950" b="0">
                <a:solidFill>
                  <a:srgbClr val="102E40"/>
                </a:solidFill>
                <a:latin typeface="Arial"/>
              </a:rPr>
              <a:t xml:space="preserve">focus loss releases every held input.</a:t>
            </a:r>
            <a:endParaRPr lang="en-US"/>
          </a:p>
        </p:txBody>
      </p:sp>
      <p:sp>
        <p:nvSpPr>
          <p:cNvPr id="35" name="Screen S08 Flow F3 State active strikes"/>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S08</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active strikes</a:t>
            </a:r>
            <a:endParaRPr lang="en-US"/>
          </a:p>
        </p:txBody>
      </p:sp>
      <p:sp>
        <p:nvSpPr>
          <p:cNvPr id="36" name="Farshore / Phase 2 / 3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6: Archery - player tur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W16: Archery - player turn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6  Archery - player tur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W16  Archery - player turn</a:t>
            </a:r>
            <a:endParaRPr lang="en-US"/>
          </a:p>
        </p:txBody>
      </p:sp>
      <p:sp>
        <p:nvSpPr>
          <p:cNvPr id="6" name="S09 / aim and release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S09 / aim and release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Your turn / shot 1 of 5 / both ring totals"/>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turn / shot 1 of 5 / both ring totals</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rect"/>
          <p:cNvSpPr txBox="0"/>
          <p:nvPr/>
        </p:nvSpPr>
        <p:spPr>
          <a:xfrm>
            <a:off x="933450" y="3046095"/>
            <a:ext cx="209550" cy="781050"/>
          </a:xfrm>
          <a:prstGeom prst="rect">
            <a:avLst/>
          </a:prstGeom>
          <a:solidFill>
            <a:srgbClr val="FFFFFF"/>
          </a:solidFill>
          <a:ln w="12700">
            <a:solidFill>
              <a:srgbClr val="777777"/>
            </a:solidFill>
          </a:ln>
        </p:spPr>
      </p:sp>
      <p:sp>
        <p:nvSpPr>
          <p:cNvPr id="11" name="rect"/>
          <p:cNvSpPr txBox="0"/>
          <p:nvPr/>
        </p:nvSpPr>
        <p:spPr>
          <a:xfrm>
            <a:off x="1352550" y="3065145"/>
            <a:ext cx="209550" cy="742950"/>
          </a:xfrm>
          <a:prstGeom prst="rect">
            <a:avLst/>
          </a:prstGeom>
          <a:solidFill>
            <a:srgbClr val="FFFFFF"/>
          </a:solidFill>
          <a:ln w="12700">
            <a:solidFill>
              <a:srgbClr val="777777"/>
            </a:solidFill>
          </a:ln>
        </p:spPr>
      </p:sp>
      <p:sp>
        <p:nvSpPr>
          <p:cNvPr id="12" name="rect"/>
          <p:cNvSpPr txBox="0"/>
          <p:nvPr/>
        </p:nvSpPr>
        <p:spPr>
          <a:xfrm>
            <a:off x="1771650" y="3084195"/>
            <a:ext cx="209550" cy="704850"/>
          </a:xfrm>
          <a:prstGeom prst="rect">
            <a:avLst/>
          </a:prstGeom>
          <a:solidFill>
            <a:srgbClr val="FFFFFF"/>
          </a:solidFill>
          <a:ln w="12700">
            <a:solidFill>
              <a:srgbClr val="777777"/>
            </a:solidFill>
          </a:ln>
        </p:spPr>
      </p:sp>
      <p:sp>
        <p:nvSpPr>
          <p:cNvPr id="13" name="rect"/>
          <p:cNvSpPr txBox="0"/>
          <p:nvPr/>
        </p:nvSpPr>
        <p:spPr>
          <a:xfrm>
            <a:off x="2190750" y="3103245"/>
            <a:ext cx="209550" cy="666750"/>
          </a:xfrm>
          <a:prstGeom prst="rect">
            <a:avLst/>
          </a:prstGeom>
          <a:solidFill>
            <a:srgbClr val="FFFFFF"/>
          </a:solidFill>
          <a:ln w="12700">
            <a:solidFill>
              <a:srgbClr val="777777"/>
            </a:solidFill>
          </a:ln>
        </p:spPr>
      </p:sp>
      <p:sp>
        <p:nvSpPr>
          <p:cNvPr id="14" name="rect"/>
          <p:cNvSpPr txBox="0"/>
          <p:nvPr/>
        </p:nvSpPr>
        <p:spPr>
          <a:xfrm>
            <a:off x="2609850" y="3122295"/>
            <a:ext cx="209550" cy="628650"/>
          </a:xfrm>
          <a:prstGeom prst="rect">
            <a:avLst/>
          </a:prstGeom>
          <a:solidFill>
            <a:srgbClr val="FFFFFF"/>
          </a:solidFill>
          <a:ln w="12700">
            <a:solidFill>
              <a:srgbClr val="777777"/>
            </a:solidFill>
          </a:ln>
        </p:spPr>
      </p:sp>
      <p:sp>
        <p:nvSpPr>
          <p:cNvPr id="15" name="rect"/>
          <p:cNvSpPr txBox="0"/>
          <p:nvPr/>
        </p:nvSpPr>
        <p:spPr>
          <a:xfrm>
            <a:off x="3028950" y="3141345"/>
            <a:ext cx="209550" cy="590550"/>
          </a:xfrm>
          <a:prstGeom prst="rect">
            <a:avLst/>
          </a:prstGeom>
          <a:solidFill>
            <a:srgbClr val="FFFFFF"/>
          </a:solidFill>
          <a:ln w="12700">
            <a:solidFill>
              <a:srgbClr val="777777"/>
            </a:solidFill>
          </a:ln>
        </p:spPr>
      </p:sp>
      <p:sp>
        <p:nvSpPr>
          <p:cNvPr id="16" name="rect"/>
          <p:cNvSpPr txBox="0"/>
          <p:nvPr/>
        </p:nvSpPr>
        <p:spPr>
          <a:xfrm>
            <a:off x="3448050" y="3160395"/>
            <a:ext cx="209550" cy="552450"/>
          </a:xfrm>
          <a:prstGeom prst="rect">
            <a:avLst/>
          </a:prstGeom>
          <a:solidFill>
            <a:srgbClr val="FFFFFF"/>
          </a:solidFill>
          <a:ln w="12700">
            <a:solidFill>
              <a:srgbClr val="777777"/>
            </a:solidFill>
          </a:ln>
        </p:spPr>
      </p:sp>
      <p:sp>
        <p:nvSpPr>
          <p:cNvPr id="17" name="rect"/>
          <p:cNvSpPr txBox="0"/>
          <p:nvPr/>
        </p:nvSpPr>
        <p:spPr>
          <a:xfrm>
            <a:off x="3867150" y="3179445"/>
            <a:ext cx="209550" cy="514350"/>
          </a:xfrm>
          <a:prstGeom prst="rect">
            <a:avLst/>
          </a:prstGeom>
          <a:solidFill>
            <a:srgbClr val="FFFFFF"/>
          </a:solidFill>
          <a:ln w="12700">
            <a:solidFill>
              <a:srgbClr val="777777"/>
            </a:solidFill>
          </a:ln>
        </p:spPr>
      </p:sp>
      <p:sp>
        <p:nvSpPr>
          <p:cNvPr id="18" name="rect"/>
          <p:cNvSpPr txBox="0"/>
          <p:nvPr/>
        </p:nvSpPr>
        <p:spPr>
          <a:xfrm>
            <a:off x="4286250" y="3198495"/>
            <a:ext cx="209550" cy="476250"/>
          </a:xfrm>
          <a:prstGeom prst="rect">
            <a:avLst/>
          </a:prstGeom>
          <a:solidFill>
            <a:srgbClr val="FFFFFF"/>
          </a:solidFill>
          <a:ln w="12700">
            <a:solidFill>
              <a:srgbClr val="777777"/>
            </a:solidFill>
          </a:ln>
        </p:spPr>
      </p:sp>
      <p:sp>
        <p:nvSpPr>
          <p:cNvPr id="19" name="rect"/>
          <p:cNvSpPr txBox="0"/>
          <p:nvPr/>
        </p:nvSpPr>
        <p:spPr>
          <a:xfrm>
            <a:off x="4705350" y="3217545"/>
            <a:ext cx="209550" cy="438150"/>
          </a:xfrm>
          <a:prstGeom prst="rect">
            <a:avLst/>
          </a:prstGeom>
          <a:solidFill>
            <a:srgbClr val="FFFFFF"/>
          </a:solidFill>
          <a:ln w="12700">
            <a:solidFill>
              <a:srgbClr val="777777"/>
            </a:solidFill>
          </a:ln>
        </p:spPr>
      </p:sp>
      <p:sp>
        <p:nvSpPr>
          <p:cNvPr id="20" name="rect"/>
          <p:cNvSpPr txBox="0"/>
          <p:nvPr/>
        </p:nvSpPr>
        <p:spPr>
          <a:xfrm>
            <a:off x="5124450" y="3236595"/>
            <a:ext cx="209550" cy="400050"/>
          </a:xfrm>
          <a:prstGeom prst="rect">
            <a:avLst/>
          </a:prstGeom>
          <a:solidFill>
            <a:srgbClr val="FFFFFF"/>
          </a:solidFill>
          <a:ln w="12700">
            <a:solidFill>
              <a:srgbClr val="777777"/>
            </a:solidFill>
          </a:ln>
        </p:spPr>
      </p:sp>
      <p:sp>
        <p:nvSpPr>
          <p:cNvPr id="21" name="rect"/>
          <p:cNvSpPr txBox="0"/>
          <p:nvPr/>
        </p:nvSpPr>
        <p:spPr>
          <a:xfrm>
            <a:off x="5543550" y="3255645"/>
            <a:ext cx="209550" cy="361950"/>
          </a:xfrm>
          <a:prstGeom prst="rect">
            <a:avLst/>
          </a:prstGeom>
          <a:solidFill>
            <a:srgbClr val="FFFFFF"/>
          </a:solidFill>
          <a:ln w="12700">
            <a:solidFill>
              <a:srgbClr val="777777"/>
            </a:solidFill>
          </a:ln>
        </p:spPr>
      </p:sp>
      <p:cxnSp>
        <p:nvCxnSpPr>
          <p:cNvPr id="22" name="Connector 22"/>
          <p:cNvCxnSpPr/>
          <p:nvPr/>
        </p:nvCxnSpPr>
        <p:spPr>
          <a:xfrm flipV="1">
            <a:off x="876300" y="3350895"/>
            <a:ext cx="5153025" cy="647700"/>
          </a:xfrm>
          <a:prstGeom prst="line">
            <a:avLst/>
          </a:prstGeom>
          <a:ln w="19050">
            <a:solidFill>
              <a:srgbClr val="526875"/>
            </a:solidFill>
            <a:prstDash val="dash"/>
            <a:tailEnd type="triangle"/>
          </a:ln>
        </p:spPr>
      </p:cxnSp>
      <p:sp>
        <p:nvSpPr>
          <p:cNvPr id="23" name="rect"/>
          <p:cNvSpPr txBox="0"/>
          <p:nvPr/>
        </p:nvSpPr>
        <p:spPr>
          <a:xfrm>
            <a:off x="762000" y="4265295"/>
            <a:ext cx="5505450" cy="495300"/>
          </a:xfrm>
          <a:prstGeom prst="rect">
            <a:avLst/>
          </a:prstGeom>
          <a:solidFill>
            <a:srgbClr val="FAFAFA"/>
          </a:solidFill>
          <a:ln w="12700">
            <a:solidFill>
              <a:srgbClr val="AAAAAA"/>
            </a:solidFill>
          </a:ln>
        </p:spPr>
      </p:sp>
      <p:sp>
        <p:nvSpPr>
          <p:cNvPr id="24" name="Wind direction/speed and predicted arrow path"/>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Wind direction/speed and predicted arrow path</a:t>
            </a:r>
            <a:endParaRPr lang="en-US"/>
          </a:p>
        </p:txBody>
      </p:sp>
      <p:sp>
        <p:nvSpPr>
          <p:cNvPr id="25" name="rect"/>
          <p:cNvSpPr txBox="0"/>
          <p:nvPr/>
        </p:nvSpPr>
        <p:spPr>
          <a:xfrm>
            <a:off x="762000" y="4836795"/>
            <a:ext cx="5505450" cy="495300"/>
          </a:xfrm>
          <a:prstGeom prst="rect">
            <a:avLst/>
          </a:prstGeom>
          <a:solidFill>
            <a:srgbClr val="FAFAFA"/>
          </a:solidFill>
          <a:ln w="12700">
            <a:solidFill>
              <a:srgbClr val="AAAAAA"/>
            </a:solidFill>
          </a:ln>
        </p:spPr>
      </p:sp>
      <p:sp>
        <p:nvSpPr>
          <p:cNvPr id="26" name="Aim / elevation / tension sliders"/>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Aim / elevation / tension sliders</a:t>
            </a:r>
            <a:endParaRPr lang="en-US"/>
          </a:p>
        </p:txBody>
      </p:sp>
      <p:sp>
        <p:nvSpPr>
          <p:cNvPr id="27" name="rect"/>
          <p:cNvSpPr txBox="0"/>
          <p:nvPr/>
        </p:nvSpPr>
        <p:spPr>
          <a:xfrm>
            <a:off x="762000" y="5408295"/>
            <a:ext cx="5505450" cy="495300"/>
          </a:xfrm>
          <a:prstGeom prst="rect">
            <a:avLst/>
          </a:prstGeom>
          <a:solidFill>
            <a:srgbClr val="EEEEEE"/>
          </a:solidFill>
          <a:ln w="12700">
            <a:solidFill>
              <a:srgbClr val="AAAAAA"/>
            </a:solidFill>
          </a:ln>
        </p:spPr>
      </p:sp>
      <p:sp>
        <p:nvSpPr>
          <p:cNvPr id="28" name="Release arrow / 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Release arrow / Pause</a:t>
            </a:r>
            <a:endParaRPr lang="en-US"/>
          </a:p>
        </p:txBody>
      </p:sp>
      <p:sp>
        <p:nvSpPr>
          <p:cNvPr id="29"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30" name="Prediction uses the same physics as the shot. Inputs id"/>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Prediction uses the same physics as the</a:t>
            </a:r>
            <a:endParaRPr lang="en-US"/>
          </a:p>
          <a:p>
            <a:pPr>
              <a:lnSpc>
                <a:spcPct val="130000"/>
              </a:lnSpc>
            </a:pPr>
            <a:r>
              <a:rPr lang="en-US" sz="1950" b="0">
                <a:solidFill>
                  <a:srgbClr val="102E40"/>
                </a:solidFill>
                <a:latin typeface="Arial"/>
              </a:rPr>
              <a:t xml:space="preserve">shot. Inputs identify their values and can</a:t>
            </a:r>
            <a:endParaRPr lang="en-US"/>
          </a:p>
          <a:p>
            <a:pPr>
              <a:lnSpc>
                <a:spcPct val="130000"/>
              </a:lnSpc>
            </a:pPr>
            <a:r>
              <a:rPr lang="en-US" sz="1950" b="0">
                <a:solidFill>
                  <a:srgbClr val="102E40"/>
                </a:solidFill>
                <a:latin typeface="Arial"/>
              </a:rPr>
              <a:t xml:space="preserve">use keyboard controls.</a:t>
            </a:r>
            <a:endParaRPr lang="en-US"/>
          </a:p>
        </p:txBody>
      </p:sp>
      <p:sp>
        <p:nvSpPr>
          <p:cNvPr id="31" name="Screen S09 Flow F3 State aim and release"/>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S09</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aim and release</a:t>
            </a:r>
            <a:endParaRPr lang="en-US"/>
          </a:p>
        </p:txBody>
      </p:sp>
      <p:sp>
        <p:nvSpPr>
          <p:cNvPr id="32" name="Farshore / Phase 2 / 3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7: Archery - rival tur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W17: Archery - rival turn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7  Archery - rival tur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W17  Archery - rival turn</a:t>
            </a:r>
            <a:endParaRPr lang="en-US"/>
          </a:p>
        </p:txBody>
      </p:sp>
      <p:sp>
        <p:nvSpPr>
          <p:cNvPr id="6" name="S09 / opponent shot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S09 / opponent shot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Antinous' turn / shooting controls disabled"/>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Antinous' turn / shooting controls disabled</a:t>
            </a:r>
            <a:endParaRPr lang="en-US"/>
          </a:p>
        </p:txBody>
      </p:sp>
      <p:sp>
        <p:nvSpPr>
          <p:cNvPr id="9" name="rect"/>
          <p:cNvSpPr txBox="0"/>
          <p:nvPr/>
        </p:nvSpPr>
        <p:spPr>
          <a:xfrm>
            <a:off x="762000" y="2855595"/>
            <a:ext cx="5505450" cy="1333500"/>
          </a:xfrm>
          <a:prstGeom prst="rect">
            <a:avLst/>
          </a:prstGeom>
          <a:solidFill>
            <a:srgbClr val="EEEEEE"/>
          </a:solidFill>
          <a:ln w="12700">
            <a:solidFill>
              <a:srgbClr val="AAAAAA"/>
            </a:solidFill>
          </a:ln>
        </p:spPr>
      </p:sp>
      <p:sp>
        <p:nvSpPr>
          <p:cNvPr id="10" name="rect"/>
          <p:cNvSpPr txBox="0"/>
          <p:nvPr/>
        </p:nvSpPr>
        <p:spPr>
          <a:xfrm>
            <a:off x="933450" y="3046095"/>
            <a:ext cx="209550" cy="781050"/>
          </a:xfrm>
          <a:prstGeom prst="rect">
            <a:avLst/>
          </a:prstGeom>
          <a:solidFill>
            <a:srgbClr val="FFFFFF"/>
          </a:solidFill>
          <a:ln w="12700">
            <a:solidFill>
              <a:srgbClr val="777777"/>
            </a:solidFill>
          </a:ln>
        </p:spPr>
      </p:sp>
      <p:sp>
        <p:nvSpPr>
          <p:cNvPr id="11" name="rect"/>
          <p:cNvSpPr txBox="0"/>
          <p:nvPr/>
        </p:nvSpPr>
        <p:spPr>
          <a:xfrm>
            <a:off x="1352550" y="3065145"/>
            <a:ext cx="209550" cy="742950"/>
          </a:xfrm>
          <a:prstGeom prst="rect">
            <a:avLst/>
          </a:prstGeom>
          <a:solidFill>
            <a:srgbClr val="FFFFFF"/>
          </a:solidFill>
          <a:ln w="12700">
            <a:solidFill>
              <a:srgbClr val="777777"/>
            </a:solidFill>
          </a:ln>
        </p:spPr>
      </p:sp>
      <p:sp>
        <p:nvSpPr>
          <p:cNvPr id="12" name="rect"/>
          <p:cNvSpPr txBox="0"/>
          <p:nvPr/>
        </p:nvSpPr>
        <p:spPr>
          <a:xfrm>
            <a:off x="1771650" y="3084195"/>
            <a:ext cx="209550" cy="704850"/>
          </a:xfrm>
          <a:prstGeom prst="rect">
            <a:avLst/>
          </a:prstGeom>
          <a:solidFill>
            <a:srgbClr val="FFFFFF"/>
          </a:solidFill>
          <a:ln w="12700">
            <a:solidFill>
              <a:srgbClr val="777777"/>
            </a:solidFill>
          </a:ln>
        </p:spPr>
      </p:sp>
      <p:sp>
        <p:nvSpPr>
          <p:cNvPr id="13" name="rect"/>
          <p:cNvSpPr txBox="0"/>
          <p:nvPr/>
        </p:nvSpPr>
        <p:spPr>
          <a:xfrm>
            <a:off x="2190750" y="3103245"/>
            <a:ext cx="209550" cy="666750"/>
          </a:xfrm>
          <a:prstGeom prst="rect">
            <a:avLst/>
          </a:prstGeom>
          <a:solidFill>
            <a:srgbClr val="FFFFFF"/>
          </a:solidFill>
          <a:ln w="12700">
            <a:solidFill>
              <a:srgbClr val="777777"/>
            </a:solidFill>
          </a:ln>
        </p:spPr>
      </p:sp>
      <p:sp>
        <p:nvSpPr>
          <p:cNvPr id="14" name="rect"/>
          <p:cNvSpPr txBox="0"/>
          <p:nvPr/>
        </p:nvSpPr>
        <p:spPr>
          <a:xfrm>
            <a:off x="2609850" y="3122295"/>
            <a:ext cx="209550" cy="628650"/>
          </a:xfrm>
          <a:prstGeom prst="rect">
            <a:avLst/>
          </a:prstGeom>
          <a:solidFill>
            <a:srgbClr val="FFFFFF"/>
          </a:solidFill>
          <a:ln w="12700">
            <a:solidFill>
              <a:srgbClr val="777777"/>
            </a:solidFill>
          </a:ln>
        </p:spPr>
      </p:sp>
      <p:sp>
        <p:nvSpPr>
          <p:cNvPr id="15" name="rect"/>
          <p:cNvSpPr txBox="0"/>
          <p:nvPr/>
        </p:nvSpPr>
        <p:spPr>
          <a:xfrm>
            <a:off x="3028950" y="3141345"/>
            <a:ext cx="209550" cy="590550"/>
          </a:xfrm>
          <a:prstGeom prst="rect">
            <a:avLst/>
          </a:prstGeom>
          <a:solidFill>
            <a:srgbClr val="FFFFFF"/>
          </a:solidFill>
          <a:ln w="12700">
            <a:solidFill>
              <a:srgbClr val="777777"/>
            </a:solidFill>
          </a:ln>
        </p:spPr>
      </p:sp>
      <p:sp>
        <p:nvSpPr>
          <p:cNvPr id="16" name="rect"/>
          <p:cNvSpPr txBox="0"/>
          <p:nvPr/>
        </p:nvSpPr>
        <p:spPr>
          <a:xfrm>
            <a:off x="3448050" y="3160395"/>
            <a:ext cx="209550" cy="552450"/>
          </a:xfrm>
          <a:prstGeom prst="rect">
            <a:avLst/>
          </a:prstGeom>
          <a:solidFill>
            <a:srgbClr val="FFFFFF"/>
          </a:solidFill>
          <a:ln w="12700">
            <a:solidFill>
              <a:srgbClr val="777777"/>
            </a:solidFill>
          </a:ln>
        </p:spPr>
      </p:sp>
      <p:sp>
        <p:nvSpPr>
          <p:cNvPr id="17" name="rect"/>
          <p:cNvSpPr txBox="0"/>
          <p:nvPr/>
        </p:nvSpPr>
        <p:spPr>
          <a:xfrm>
            <a:off x="3867150" y="3179445"/>
            <a:ext cx="209550" cy="514350"/>
          </a:xfrm>
          <a:prstGeom prst="rect">
            <a:avLst/>
          </a:prstGeom>
          <a:solidFill>
            <a:srgbClr val="FFFFFF"/>
          </a:solidFill>
          <a:ln w="12700">
            <a:solidFill>
              <a:srgbClr val="777777"/>
            </a:solidFill>
          </a:ln>
        </p:spPr>
      </p:sp>
      <p:sp>
        <p:nvSpPr>
          <p:cNvPr id="18" name="rect"/>
          <p:cNvSpPr txBox="0"/>
          <p:nvPr/>
        </p:nvSpPr>
        <p:spPr>
          <a:xfrm>
            <a:off x="4286250" y="3198495"/>
            <a:ext cx="209550" cy="476250"/>
          </a:xfrm>
          <a:prstGeom prst="rect">
            <a:avLst/>
          </a:prstGeom>
          <a:solidFill>
            <a:srgbClr val="FFFFFF"/>
          </a:solidFill>
          <a:ln w="12700">
            <a:solidFill>
              <a:srgbClr val="777777"/>
            </a:solidFill>
          </a:ln>
        </p:spPr>
      </p:sp>
      <p:sp>
        <p:nvSpPr>
          <p:cNvPr id="19" name="rect"/>
          <p:cNvSpPr txBox="0"/>
          <p:nvPr/>
        </p:nvSpPr>
        <p:spPr>
          <a:xfrm>
            <a:off x="4705350" y="3217545"/>
            <a:ext cx="209550" cy="438150"/>
          </a:xfrm>
          <a:prstGeom prst="rect">
            <a:avLst/>
          </a:prstGeom>
          <a:solidFill>
            <a:srgbClr val="FFFFFF"/>
          </a:solidFill>
          <a:ln w="12700">
            <a:solidFill>
              <a:srgbClr val="777777"/>
            </a:solidFill>
          </a:ln>
        </p:spPr>
      </p:sp>
      <p:sp>
        <p:nvSpPr>
          <p:cNvPr id="20" name="rect"/>
          <p:cNvSpPr txBox="0"/>
          <p:nvPr/>
        </p:nvSpPr>
        <p:spPr>
          <a:xfrm>
            <a:off x="5124450" y="3236595"/>
            <a:ext cx="209550" cy="400050"/>
          </a:xfrm>
          <a:prstGeom prst="rect">
            <a:avLst/>
          </a:prstGeom>
          <a:solidFill>
            <a:srgbClr val="FFFFFF"/>
          </a:solidFill>
          <a:ln w="12700">
            <a:solidFill>
              <a:srgbClr val="777777"/>
            </a:solidFill>
          </a:ln>
        </p:spPr>
      </p:sp>
      <p:sp>
        <p:nvSpPr>
          <p:cNvPr id="21" name="rect"/>
          <p:cNvSpPr txBox="0"/>
          <p:nvPr/>
        </p:nvSpPr>
        <p:spPr>
          <a:xfrm>
            <a:off x="5543550" y="3255645"/>
            <a:ext cx="209550" cy="361950"/>
          </a:xfrm>
          <a:prstGeom prst="rect">
            <a:avLst/>
          </a:prstGeom>
          <a:solidFill>
            <a:srgbClr val="FFFFFF"/>
          </a:solidFill>
          <a:ln w="12700">
            <a:solidFill>
              <a:srgbClr val="777777"/>
            </a:solidFill>
          </a:ln>
        </p:spPr>
      </p:sp>
      <p:cxnSp>
        <p:nvCxnSpPr>
          <p:cNvPr id="22" name="Connector 22"/>
          <p:cNvCxnSpPr/>
          <p:nvPr/>
        </p:nvCxnSpPr>
        <p:spPr>
          <a:xfrm flipV="1">
            <a:off x="876300" y="3350895"/>
            <a:ext cx="5153025" cy="647700"/>
          </a:xfrm>
          <a:prstGeom prst="line">
            <a:avLst/>
          </a:prstGeom>
          <a:ln w="19050">
            <a:solidFill>
              <a:srgbClr val="526875"/>
            </a:solidFill>
            <a:prstDash val="dash"/>
            <a:tailEnd type="triangle"/>
          </a:ln>
        </p:spPr>
      </p:cxnSp>
      <p:sp>
        <p:nvSpPr>
          <p:cNvPr id="23" name="rect"/>
          <p:cNvSpPr txBox="0"/>
          <p:nvPr/>
        </p:nvSpPr>
        <p:spPr>
          <a:xfrm>
            <a:off x="762000" y="4265295"/>
            <a:ext cx="5505450" cy="495300"/>
          </a:xfrm>
          <a:prstGeom prst="rect">
            <a:avLst/>
          </a:prstGeom>
          <a:solidFill>
            <a:srgbClr val="FAFAFA"/>
          </a:solidFill>
          <a:ln w="12700">
            <a:solidFill>
              <a:srgbClr val="AAAAAA"/>
            </a:solidFill>
          </a:ln>
        </p:spPr>
      </p:sp>
      <p:sp>
        <p:nvSpPr>
          <p:cNvPr id="24" name="Wind Reader or temporary Block-shot action"/>
          <p:cNvSpPr txBox="1"/>
          <p:nvPr/>
        </p:nvSpPr>
        <p:spPr>
          <a:xfrm>
            <a:off x="876300" y="4360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Wind Reader or temporary Block-shot action</a:t>
            </a:r>
            <a:endParaRPr lang="en-US"/>
          </a:p>
        </p:txBody>
      </p:sp>
      <p:sp>
        <p:nvSpPr>
          <p:cNvPr id="25" name="rect"/>
          <p:cNvSpPr txBox="0"/>
          <p:nvPr/>
        </p:nvSpPr>
        <p:spPr>
          <a:xfrm>
            <a:off x="762000" y="4836795"/>
            <a:ext cx="5505450" cy="495300"/>
          </a:xfrm>
          <a:prstGeom prst="rect">
            <a:avLst/>
          </a:prstGeom>
          <a:solidFill>
            <a:srgbClr val="FAFAFA"/>
          </a:solidFill>
          <a:ln w="12700">
            <a:solidFill>
              <a:srgbClr val="AAAAAA"/>
            </a:solidFill>
          </a:ln>
        </p:spPr>
      </p:sp>
      <p:sp>
        <p:nvSpPr>
          <p:cNvPr id="26" name="Next wind appears when player turn resumes"/>
          <p:cNvSpPr txBox="1"/>
          <p:nvPr/>
        </p:nvSpPr>
        <p:spPr>
          <a:xfrm>
            <a:off x="876300" y="49320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Next wind appears when player turn resumes</a:t>
            </a:r>
            <a:endParaRPr lang="en-US"/>
          </a:p>
        </p:txBody>
      </p:sp>
      <p:sp>
        <p:nvSpPr>
          <p:cNvPr id="27" name="rect"/>
          <p:cNvSpPr txBox="0"/>
          <p:nvPr/>
        </p:nvSpPr>
        <p:spPr>
          <a:xfrm>
            <a:off x="762000" y="5408295"/>
            <a:ext cx="5505450" cy="495300"/>
          </a:xfrm>
          <a:prstGeom prst="rect">
            <a:avLst/>
          </a:prstGeom>
          <a:solidFill>
            <a:srgbClr val="EEEEEE"/>
          </a:solidFill>
          <a:ln w="12700">
            <a:solidFill>
              <a:srgbClr val="AAAAAA"/>
            </a:solidFill>
          </a:ln>
        </p:spPr>
      </p:sp>
      <p:sp>
        <p:nvSpPr>
          <p:cNvPr id="28" name="Pause"/>
          <p:cNvSpPr txBox="1"/>
          <p:nvPr/>
        </p:nvSpPr>
        <p:spPr>
          <a:xfrm>
            <a:off x="876300" y="55035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a:t>
            </a:r>
            <a:endParaRPr lang="en-US"/>
          </a:p>
        </p:txBody>
      </p:sp>
      <p:sp>
        <p:nvSpPr>
          <p:cNvPr id="29"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30" name="The rival takes an independent scored turn. A temporary"/>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The rival takes an independent scored</a:t>
            </a:r>
            <a:endParaRPr lang="en-US"/>
          </a:p>
          <a:p>
            <a:pPr>
              <a:lnSpc>
                <a:spcPct val="130000"/>
              </a:lnSpc>
            </a:pPr>
            <a:r>
              <a:rPr lang="en-US" sz="1950" b="0">
                <a:solidFill>
                  <a:srgbClr val="102E40"/>
                </a:solidFill>
                <a:latin typeface="Arial"/>
              </a:rPr>
              <a:t xml:space="preserve">turn. A temporary block is visible and</a:t>
            </a:r>
            <a:endParaRPr lang="en-US"/>
          </a:p>
          <a:p>
            <a:pPr>
              <a:lnSpc>
                <a:spcPct val="130000"/>
              </a:lnSpc>
            </a:pPr>
            <a:r>
              <a:rPr lang="en-US" sz="1950" b="0">
                <a:solidFill>
                  <a:srgbClr val="102E40"/>
                </a:solidFill>
                <a:latin typeface="Arial"/>
              </a:rPr>
              <a:t xml:space="preserve">expires after one player shot.</a:t>
            </a:r>
            <a:endParaRPr lang="en-US"/>
          </a:p>
        </p:txBody>
      </p:sp>
      <p:sp>
        <p:nvSpPr>
          <p:cNvPr id="31" name="Screen S09 Flow F3 State opponent shot"/>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S09</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opponent shot</a:t>
            </a:r>
            <a:endParaRPr lang="en-US"/>
          </a:p>
        </p:txBody>
      </p:sp>
      <p:sp>
        <p:nvSpPr>
          <p:cNvPr id="32" name="Farshore / Phase 2 / 39"/>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8: Round cleared"/>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W18: Round cleared</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8  Round cleared"/>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W18  Round cleared</a:t>
            </a:r>
            <a:endParaRPr lang="en-US"/>
          </a:p>
        </p:txBody>
      </p:sp>
      <p:sp>
        <p:nvSpPr>
          <p:cNvPr id="6" name="S10 / success / F3/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S10 / success / F3/F5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Encounter cleared / score / difficulty / mod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Encounter cleared / score / difficulty / mode</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Both scores for Circe and Antinou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Both scores for Circe and Antinous</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What the player achieve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What the player achieved</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Sail to next trial / Practice again / Map"/>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Sail to next trial / Practice again / Map</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Update progress once after a full completed round. The "/>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Update progress once after a full</a:t>
            </a:r>
            <a:endParaRPr lang="en-US"/>
          </a:p>
          <a:p>
            <a:pPr>
              <a:lnSpc>
                <a:spcPct val="130000"/>
              </a:lnSpc>
            </a:pPr>
            <a:r>
              <a:rPr lang="en-US" sz="1950" b="0">
                <a:solidFill>
                  <a:srgbClr val="102E40"/>
                </a:solidFill>
                <a:latin typeface="Arial"/>
              </a:rPr>
              <a:t xml:space="preserve">completed round. The final bow clear</a:t>
            </a:r>
            <a:endParaRPr lang="en-US"/>
          </a:p>
          <a:p>
            <a:pPr>
              <a:lnSpc>
                <a:spcPct val="130000"/>
              </a:lnSpc>
            </a:pPr>
            <a:r>
              <a:rPr lang="en-US" sz="1950" b="0">
                <a:solidFill>
                  <a:srgbClr val="102E40"/>
                </a:solidFill>
                <a:latin typeface="Arial"/>
              </a:rPr>
              <a:t xml:space="preserve">goes to Homecoming.</a:t>
            </a:r>
            <a:endParaRPr lang="en-US"/>
          </a:p>
        </p:txBody>
      </p:sp>
      <p:sp>
        <p:nvSpPr>
          <p:cNvPr id="17" name="Screen S10 Flow F3/F5 State success"/>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S10</a:t>
            </a:r>
            <a:endParaRPr lang="en-US"/>
          </a:p>
          <a:p>
            <a:pPr>
              <a:lnSpc>
                <a:spcPct val="130000"/>
              </a:lnSpc>
            </a:pPr>
            <a:r>
              <a:rPr lang="en-US" sz="1725" b="0">
                <a:solidFill>
                  <a:srgbClr val="526875"/>
                </a:solidFill>
                <a:latin typeface="Arial"/>
              </a:rPr>
              <a:t xml:space="preserve">Flow F3/F5</a:t>
            </a:r>
            <a:endParaRPr lang="en-US"/>
          </a:p>
          <a:p>
            <a:pPr>
              <a:lnSpc>
                <a:spcPct val="130000"/>
              </a:lnSpc>
            </a:pPr>
            <a:r>
              <a:rPr lang="en-US" sz="1725" b="0">
                <a:solidFill>
                  <a:srgbClr val="526875"/>
                </a:solidFill>
                <a:latin typeface="Arial"/>
              </a:rPr>
              <a:t xml:space="preserve">State success</a:t>
            </a:r>
            <a:endParaRPr lang="en-US"/>
          </a:p>
        </p:txBody>
      </p:sp>
      <p:sp>
        <p:nvSpPr>
          <p:cNvPr id="18" name="Farshore / Phase 2 / 40"/>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19: Round lost"/>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W19: Round lost</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19  Round lost"/>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W19  Round lost</a:t>
            </a:r>
            <a:endParaRPr lang="en-US"/>
          </a:p>
        </p:txBody>
      </p:sp>
      <p:sp>
        <p:nvSpPr>
          <p:cNvPr id="6" name="S10 / retry / F3/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S10 / retry / F3/F5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Another chance / score and failure explanation"/>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Another chance / score and failure explanation</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Your earlier clears are kept"/>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Your earlier clears are kept</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Try again / Practice / Map"/>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Try again / Practice / Map</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Use an assisted passage"/>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Use an assisted passage</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Loss keeps a usable path forward. Assisted passage requ"/>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Loss keeps a usable path forward.</a:t>
            </a:r>
            <a:endParaRPr lang="en-US"/>
          </a:p>
          <a:p>
            <a:pPr>
              <a:lnSpc>
                <a:spcPct val="130000"/>
              </a:lnSpc>
            </a:pPr>
            <a:r>
              <a:rPr lang="en-US" sz="1950" b="0">
                <a:solidFill>
                  <a:srgbClr val="102E40"/>
                </a:solidFill>
                <a:latin typeface="Arial"/>
              </a:rPr>
              <a:t xml:space="preserve">Assisted passage requires S15</a:t>
            </a:r>
            <a:endParaRPr lang="en-US"/>
          </a:p>
          <a:p>
            <a:pPr>
              <a:lnSpc>
                <a:spcPct val="130000"/>
              </a:lnSpc>
            </a:pPr>
            <a:r>
              <a:rPr lang="en-US" sz="1950" b="0">
                <a:solidFill>
                  <a:srgbClr val="102E40"/>
                </a:solidFill>
                <a:latin typeface="Arial"/>
              </a:rPr>
              <a:t xml:space="preserve">confirmation.</a:t>
            </a:r>
            <a:endParaRPr lang="en-US"/>
          </a:p>
        </p:txBody>
      </p:sp>
      <p:sp>
        <p:nvSpPr>
          <p:cNvPr id="17" name="Screen S10 Flow F3/F5 State retr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S10</a:t>
            </a:r>
            <a:endParaRPr lang="en-US"/>
          </a:p>
          <a:p>
            <a:pPr>
              <a:lnSpc>
                <a:spcPct val="130000"/>
              </a:lnSpc>
            </a:pPr>
            <a:r>
              <a:rPr lang="en-US" sz="1725" b="0">
                <a:solidFill>
                  <a:srgbClr val="526875"/>
                </a:solidFill>
                <a:latin typeface="Arial"/>
              </a:rPr>
              <a:t xml:space="preserve">Flow F3/F5</a:t>
            </a:r>
            <a:endParaRPr lang="en-US"/>
          </a:p>
          <a:p>
            <a:pPr>
              <a:lnSpc>
                <a:spcPct val="130000"/>
              </a:lnSpc>
            </a:pPr>
            <a:r>
              <a:rPr lang="en-US" sz="1725" b="0">
                <a:solidFill>
                  <a:srgbClr val="526875"/>
                </a:solidFill>
                <a:latin typeface="Arial"/>
              </a:rPr>
              <a:t xml:space="preserve">State retry</a:t>
            </a:r>
            <a:endParaRPr lang="en-US"/>
          </a:p>
        </p:txBody>
      </p:sp>
      <p:sp>
        <p:nvSpPr>
          <p:cNvPr id="18" name="Farshore / Phase 2 / 4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0: Practice result"/>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W20: Practice result</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0  Practice result"/>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W20  Practice result</a:t>
            </a:r>
            <a:endParaRPr lang="en-US"/>
          </a:p>
        </p:txBody>
      </p:sp>
      <p:sp>
        <p:nvSpPr>
          <p:cNvPr id="6" name="S10 / practice complete / F1/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S10 / practice complete / F1/F3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Practice complete / Ready for the full duel?"/>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Practice complete / Ready for the full duel?</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Practice changes no voyage progres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Practice changes no voyage progress</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Back to challenge / Practice again / Map"/>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Back to challenge / Practice again / Map</a:t>
            </a:r>
            <a:endParaRPr lang="en-US"/>
          </a:p>
        </p:txBody>
      </p:sp>
      <p:sp>
        <p:nvSpPr>
          <p:cNvPr id="13"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4" name="Practice has a separate result label and awards no camp"/>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Practice has a separate result label and</a:t>
            </a:r>
            <a:endParaRPr lang="en-US"/>
          </a:p>
          <a:p>
            <a:pPr>
              <a:lnSpc>
                <a:spcPct val="130000"/>
              </a:lnSpc>
            </a:pPr>
            <a:r>
              <a:rPr lang="en-US" sz="1950" b="0">
                <a:solidFill>
                  <a:srgbClr val="102E40"/>
                </a:solidFill>
                <a:latin typeface="Arial"/>
              </a:rPr>
              <a:t xml:space="preserve">awards no campaign clear.</a:t>
            </a:r>
            <a:endParaRPr lang="en-US"/>
          </a:p>
        </p:txBody>
      </p:sp>
      <p:sp>
        <p:nvSpPr>
          <p:cNvPr id="15" name="Screen S10 Flow F1/F3 State practice complete"/>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S10</a:t>
            </a:r>
            <a:endParaRPr lang="en-US"/>
          </a:p>
          <a:p>
            <a:pPr>
              <a:lnSpc>
                <a:spcPct val="130000"/>
              </a:lnSpc>
            </a:pPr>
            <a:r>
              <a:rPr lang="en-US" sz="1725" b="0">
                <a:solidFill>
                  <a:srgbClr val="526875"/>
                </a:solidFill>
                <a:latin typeface="Arial"/>
              </a:rPr>
              <a:t xml:space="preserve">Flow F1/F3</a:t>
            </a:r>
            <a:endParaRPr lang="en-US"/>
          </a:p>
          <a:p>
            <a:pPr>
              <a:lnSpc>
                <a:spcPct val="130000"/>
              </a:lnSpc>
            </a:pPr>
            <a:r>
              <a:rPr lang="en-US" sz="1725" b="0">
                <a:solidFill>
                  <a:srgbClr val="526875"/>
                </a:solidFill>
                <a:latin typeface="Arial"/>
              </a:rPr>
              <a:t xml:space="preserve">State practice complete</a:t>
            </a:r>
            <a:endParaRPr lang="en-US"/>
          </a:p>
        </p:txBody>
      </p:sp>
      <p:sp>
        <p:nvSpPr>
          <p:cNvPr id="16" name="Farshore / Phase 2 / 42"/>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1: Homecoming report"/>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W21: Homecoming report</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1  Homecoming report"/>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W21  Homecoming report</a:t>
            </a:r>
            <a:endParaRPr lang="en-US"/>
          </a:p>
        </p:txBody>
      </p:sp>
      <p:sp>
        <p:nvSpPr>
          <p:cNvPr id="6" name="S11 / campaign complete / 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S11 / campaign complete / F5</a:t>
            </a:r>
            <a:endParaRPr lang="en-US"/>
          </a:p>
        </p:txBody>
      </p:sp>
      <p:sp>
        <p:nvSpPr>
          <p:cNvPr id="7" name="rect"/>
          <p:cNvSpPr txBox="0"/>
          <p:nvPr/>
        </p:nvSpPr>
        <p:spPr>
          <a:xfrm>
            <a:off x="762000" y="2284095"/>
            <a:ext cx="5505450" cy="495300"/>
          </a:xfrm>
          <a:prstGeom prst="rect">
            <a:avLst/>
          </a:prstGeom>
          <a:solidFill>
            <a:srgbClr val="EEEEEE"/>
          </a:solidFill>
          <a:ln w="12700">
            <a:solidFill>
              <a:srgbClr val="AAAAAA"/>
            </a:solidFill>
          </a:ln>
        </p:spPr>
      </p:sp>
      <p:sp>
        <p:nvSpPr>
          <p:cNvPr id="8" name="Odysseus, Penelope and Telemachus placeholders"/>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Odysseus, Penelope and Telemachus placeholders</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Home is more than a shore"/>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Home is more than a shore</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Five-trial report: Cleared or Assiste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Five-trial report: Cleared or Assisted</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Replay a trial / New voyage"/>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Replay a trial / New voyage</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The ending is authored. The report shows each shore's c"/>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The ending is authored. The report</a:t>
            </a:r>
            <a:endParaRPr lang="en-US"/>
          </a:p>
          <a:p>
            <a:pPr>
              <a:lnSpc>
                <a:spcPct val="130000"/>
              </a:lnSpc>
            </a:pPr>
            <a:r>
              <a:rPr lang="en-US" sz="1950" b="0">
                <a:solidFill>
                  <a:srgbClr val="102E40"/>
                </a:solidFill>
                <a:latin typeface="Arial"/>
              </a:rPr>
              <a:t xml:space="preserve">shows each shore's current Cleared or</a:t>
            </a:r>
            <a:endParaRPr lang="en-US"/>
          </a:p>
          <a:p>
            <a:pPr>
              <a:lnSpc>
                <a:spcPct val="130000"/>
              </a:lnSpc>
            </a:pPr>
            <a:r>
              <a:rPr lang="en-US" sz="1950" b="0">
                <a:solidFill>
                  <a:srgbClr val="102E40"/>
                </a:solidFill>
                <a:latin typeface="Arial"/>
              </a:rPr>
              <a:t xml:space="preserve">Assisted status.</a:t>
            </a:r>
            <a:endParaRPr lang="en-US"/>
          </a:p>
        </p:txBody>
      </p:sp>
      <p:sp>
        <p:nvSpPr>
          <p:cNvPr id="17" name="Screen S11 Flow F5 State campaign complete"/>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S11</a:t>
            </a:r>
            <a:endParaRPr lang="en-US"/>
          </a:p>
          <a:p>
            <a:pPr>
              <a:lnSpc>
                <a:spcPct val="130000"/>
              </a:lnSpc>
            </a:pPr>
            <a:r>
              <a:rPr lang="en-US" sz="1725" b="0">
                <a:solidFill>
                  <a:srgbClr val="526875"/>
                </a:solidFill>
                <a:latin typeface="Arial"/>
              </a:rPr>
              <a:t xml:space="preserve">Flow F5</a:t>
            </a:r>
            <a:endParaRPr lang="en-US"/>
          </a:p>
          <a:p>
            <a:pPr>
              <a:lnSpc>
                <a:spcPct val="130000"/>
              </a:lnSpc>
            </a:pPr>
            <a:r>
              <a:rPr lang="en-US" sz="1725" b="0">
                <a:solidFill>
                  <a:srgbClr val="526875"/>
                </a:solidFill>
                <a:latin typeface="Arial"/>
              </a:rPr>
              <a:t xml:space="preserve">State campaign complete</a:t>
            </a:r>
            <a:endParaRPr lang="en-US"/>
          </a:p>
        </p:txBody>
      </p:sp>
      <p:sp>
        <p:nvSpPr>
          <p:cNvPr id="18" name="Farshore / Phase 2 / 43"/>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2: Voyage setting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W22: Voyage settings</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2  Voyage settings"/>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W22  Voyage settings</a:t>
            </a:r>
            <a:endParaRPr lang="en-US"/>
          </a:p>
        </p:txBody>
      </p:sp>
      <p:sp>
        <p:nvSpPr>
          <p:cNvPr id="6" name="S12 / overlay / F1/F4"/>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S12 / overlay / F1/F4</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Music &amp; sounds / Still scenery"/>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Music &amp; sounds / Still scenery</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AI connection: available / unavailable / checking"/>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AI connection: available / unavailable / checking</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Check connection again / Close"/>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Check connection again / Close</a:t>
            </a:r>
            <a:endParaRPr lang="en-US"/>
          </a:p>
        </p:txBody>
      </p:sp>
      <p:sp>
        <p:nvSpPr>
          <p:cNvPr id="13" name="rect"/>
          <p:cNvSpPr txBox="0"/>
          <p:nvPr/>
        </p:nvSpPr>
        <p:spPr>
          <a:xfrm>
            <a:off x="762000" y="3998595"/>
            <a:ext cx="5505450" cy="495300"/>
          </a:xfrm>
          <a:prstGeom prst="rect">
            <a:avLst/>
          </a:prstGeom>
          <a:solidFill>
            <a:srgbClr val="FAFAFA"/>
          </a:solidFill>
          <a:ln w="12700">
            <a:solidFill>
              <a:srgbClr val="AAAAAA"/>
            </a:solidFill>
          </a:ln>
        </p:spPr>
      </p:sp>
      <p:sp>
        <p:nvSpPr>
          <p:cNvPr id="14" name="Both modes work without model preparation"/>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Both modes work without model preparation</a:t>
            </a:r>
            <a:endParaRPr lang="en-US"/>
          </a:p>
        </p:txBody>
      </p:sp>
      <p:sp>
        <p:nvSpPr>
          <p:cNvPr id="15" name="rect"/>
          <p:cNvSpPr txBox="0"/>
          <p:nvPr/>
        </p:nvSpPr>
        <p:spPr>
          <a:xfrm>
            <a:off x="762000" y="4570095"/>
            <a:ext cx="5505450" cy="495300"/>
          </a:xfrm>
          <a:prstGeom prst="rect">
            <a:avLst/>
          </a:prstGeom>
          <a:solidFill>
            <a:srgbClr val="EEEEEE"/>
          </a:solidFill>
          <a:ln w="12700">
            <a:solidFill>
              <a:srgbClr val="AAAAAA"/>
            </a:solidFill>
          </a:ln>
        </p:spPr>
      </p:sp>
      <p:sp>
        <p:nvSpPr>
          <p:cNvPr id="16" name="Earlier mystery or advice mode links"/>
          <p:cNvSpPr txBox="1"/>
          <p:nvPr/>
        </p:nvSpPr>
        <p:spPr>
          <a:xfrm>
            <a:off x="876300" y="4665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Earlier mystery or advice mode links</a:t>
            </a:r>
            <a:endParaRPr lang="en-US"/>
          </a:p>
        </p:txBody>
      </p:sp>
      <p:sp>
        <p:nvSpPr>
          <p:cNvPr id="17"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8" name="A catalog check is separate from generating a strategy."/>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 catalog check is separate from</a:t>
            </a:r>
            <a:endParaRPr lang="en-US"/>
          </a:p>
          <a:p>
            <a:pPr>
              <a:lnSpc>
                <a:spcPct val="130000"/>
              </a:lnSpc>
            </a:pPr>
            <a:r>
              <a:rPr lang="en-US" sz="1950" b="0">
                <a:solidFill>
                  <a:srgbClr val="102E40"/>
                </a:solidFill>
                <a:latin typeface="Arial"/>
              </a:rPr>
              <a:t xml:space="preserve">generating a strategy. Closing returns</a:t>
            </a:r>
            <a:endParaRPr lang="en-US"/>
          </a:p>
          <a:p>
            <a:pPr>
              <a:lnSpc>
                <a:spcPct val="130000"/>
              </a:lnSpc>
            </a:pPr>
            <a:r>
              <a:rPr lang="en-US" sz="1950" b="0">
                <a:solidFill>
                  <a:srgbClr val="102E40"/>
                </a:solidFill>
                <a:latin typeface="Arial"/>
              </a:rPr>
              <a:t xml:space="preserve">focus to the main heading.</a:t>
            </a:r>
            <a:endParaRPr lang="en-US"/>
          </a:p>
        </p:txBody>
      </p:sp>
      <p:sp>
        <p:nvSpPr>
          <p:cNvPr id="19" name="Screen S12 Flow F1/F4 State overlay"/>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S12</a:t>
            </a:r>
            <a:endParaRPr lang="en-US"/>
          </a:p>
          <a:p>
            <a:pPr>
              <a:lnSpc>
                <a:spcPct val="130000"/>
              </a:lnSpc>
            </a:pPr>
            <a:r>
              <a:rPr lang="en-US" sz="1725" b="0">
                <a:solidFill>
                  <a:srgbClr val="526875"/>
                </a:solidFill>
                <a:latin typeface="Arial"/>
              </a:rPr>
              <a:t xml:space="preserve">Flow F1/F4</a:t>
            </a:r>
            <a:endParaRPr lang="en-US"/>
          </a:p>
          <a:p>
            <a:pPr>
              <a:lnSpc>
                <a:spcPct val="130000"/>
              </a:lnSpc>
            </a:pPr>
            <a:r>
              <a:rPr lang="en-US" sz="1725" b="0">
                <a:solidFill>
                  <a:srgbClr val="526875"/>
                </a:solidFill>
                <a:latin typeface="Arial"/>
              </a:rPr>
              <a:t xml:space="preserve">State overlay</a:t>
            </a:r>
            <a:endParaRPr lang="en-US"/>
          </a:p>
        </p:txBody>
      </p:sp>
      <p:sp>
        <p:nvSpPr>
          <p:cNvPr id="20" name="Farshore / Phase 2 / 44"/>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3: Paused round"/>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W23: Paused round</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3  Paused round"/>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W23  Paused round</a:t>
            </a:r>
            <a:endParaRPr lang="en-US"/>
          </a:p>
        </p:txBody>
      </p:sp>
      <p:sp>
        <p:nvSpPr>
          <p:cNvPr id="6" name="S13 / pause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S13 / pause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Paused. Every game clock has stopped."/>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Paused. Every game clock has stopped.</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Current round remains in memory"/>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Current round remains in memory</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Resume / leave roun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Resume / leave round</a:t>
            </a:r>
            <a:endParaRPr lang="en-US"/>
          </a:p>
        </p:txBody>
      </p:sp>
      <p:sp>
        <p:nvSpPr>
          <p:cNvPr id="13" name="rect"/>
          <p:cNvSpPr txBox="0"/>
          <p:nvPr/>
        </p:nvSpPr>
        <p:spPr>
          <a:xfrm>
            <a:off x="762000" y="3998595"/>
            <a:ext cx="5505450" cy="495300"/>
          </a:xfrm>
          <a:prstGeom prst="rect">
            <a:avLst/>
          </a:prstGeom>
          <a:solidFill>
            <a:srgbClr val="FAFAFA"/>
          </a:solidFill>
          <a:ln w="12700">
            <a:solidFill>
              <a:srgbClr val="AAAAAA"/>
            </a:solidFill>
          </a:ln>
        </p:spPr>
      </p:sp>
      <p:sp>
        <p:nvSpPr>
          <p:cNvPr id="14" name="Hidden tab or lost focus also pauses"/>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Hidden tab or lost focus also pauses</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Resuming does not replay held inputs. The round is not "/>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Resuming does not replay held inputs.</a:t>
            </a:r>
            <a:endParaRPr lang="en-US"/>
          </a:p>
          <a:p>
            <a:pPr>
              <a:lnSpc>
                <a:spcPct val="130000"/>
              </a:lnSpc>
            </a:pPr>
            <a:r>
              <a:rPr lang="en-US" sz="1950" b="0">
                <a:solidFill>
                  <a:srgbClr val="102E40"/>
                </a:solidFill>
                <a:latin typeface="Arial"/>
              </a:rPr>
              <a:t xml:space="preserve">The round is not saved across browser</a:t>
            </a:r>
            <a:endParaRPr lang="en-US"/>
          </a:p>
          <a:p>
            <a:pPr>
              <a:lnSpc>
                <a:spcPct val="130000"/>
              </a:lnSpc>
            </a:pPr>
            <a:r>
              <a:rPr lang="en-US" sz="1950" b="0">
                <a:solidFill>
                  <a:srgbClr val="102E40"/>
                </a:solidFill>
                <a:latin typeface="Arial"/>
              </a:rPr>
              <a:t xml:space="preserve">reloads.</a:t>
            </a:r>
            <a:endParaRPr lang="en-US"/>
          </a:p>
        </p:txBody>
      </p:sp>
      <p:sp>
        <p:nvSpPr>
          <p:cNvPr id="17" name="Screen S13 Flow F3 State pause"/>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S13</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pause</a:t>
            </a:r>
            <a:endParaRPr lang="en-US"/>
          </a:p>
        </p:txBody>
      </p:sp>
      <p:sp>
        <p:nvSpPr>
          <p:cNvPr id="18" name="Farshore / Phase 2 / 45"/>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4: Leave round confirmatio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W24: Leave round confirmation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4  Leave round confirmatio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W24  Leave round confirmation</a:t>
            </a:r>
            <a:endParaRPr lang="en-US"/>
          </a:p>
        </p:txBody>
      </p:sp>
      <p:sp>
        <p:nvSpPr>
          <p:cNvPr id="6" name="S13 / leave / F3"/>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S13 / leave / F3</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Leave this round?"/>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Leave this round?</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You will return to the briefing. No clear is awarde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 will return to the briefing. No clear is awarded.</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Keep playing / Leave round"/>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Keep playing / Leave round</a:t>
            </a:r>
            <a:endParaRPr lang="en-US"/>
          </a:p>
        </p:txBody>
      </p:sp>
      <p:sp>
        <p:nvSpPr>
          <p:cNvPr id="13"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4" name="Protect against accidental loss of an in-progress attem"/>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Protect against accidental loss of an</a:t>
            </a:r>
            <a:endParaRPr lang="en-US"/>
          </a:p>
          <a:p>
            <a:pPr>
              <a:lnSpc>
                <a:spcPct val="130000"/>
              </a:lnSpc>
            </a:pPr>
            <a:r>
              <a:rPr lang="en-US" sz="1950" b="0">
                <a:solidFill>
                  <a:srgbClr val="102E40"/>
                </a:solidFill>
                <a:latin typeface="Arial"/>
              </a:rPr>
              <a:t xml:space="preserve">in-progress attempt. Completed voyage</a:t>
            </a:r>
            <a:endParaRPr lang="en-US"/>
          </a:p>
          <a:p>
            <a:pPr>
              <a:lnSpc>
                <a:spcPct val="130000"/>
              </a:lnSpc>
            </a:pPr>
            <a:r>
              <a:rPr lang="en-US" sz="1950" b="0">
                <a:solidFill>
                  <a:srgbClr val="102E40"/>
                </a:solidFill>
                <a:latin typeface="Arial"/>
              </a:rPr>
              <a:t xml:space="preserve">progress remains.</a:t>
            </a:r>
            <a:endParaRPr lang="en-US"/>
          </a:p>
        </p:txBody>
      </p:sp>
      <p:sp>
        <p:nvSpPr>
          <p:cNvPr id="15" name="Screen S13 Flow F3 State leave"/>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S13</a:t>
            </a:r>
            <a:endParaRPr lang="en-US"/>
          </a:p>
          <a:p>
            <a:pPr>
              <a:lnSpc>
                <a:spcPct val="130000"/>
              </a:lnSpc>
            </a:pPr>
            <a:r>
              <a:rPr lang="en-US" sz="1725" b="0">
                <a:solidFill>
                  <a:srgbClr val="526875"/>
                </a:solidFill>
                <a:latin typeface="Arial"/>
              </a:rPr>
              <a:t xml:space="preserve">Flow F3</a:t>
            </a:r>
            <a:endParaRPr lang="en-US"/>
          </a:p>
          <a:p>
            <a:pPr>
              <a:lnSpc>
                <a:spcPct val="130000"/>
              </a:lnSpc>
            </a:pPr>
            <a:r>
              <a:rPr lang="en-US" sz="1725" b="0">
                <a:solidFill>
                  <a:srgbClr val="526875"/>
                </a:solidFill>
                <a:latin typeface="Arial"/>
              </a:rPr>
              <a:t xml:space="preserve">State leave</a:t>
            </a:r>
            <a:endParaRPr lang="en-US"/>
          </a:p>
        </p:txBody>
      </p:sp>
      <p:sp>
        <p:nvSpPr>
          <p:cNvPr id="16" name="Farshore / Phase 2 / 46"/>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5: New voyage confirmatio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W25: New voyage confirmation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5  New voyage confirmatio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W25  New voyage confirmation</a:t>
            </a:r>
            <a:endParaRPr lang="en-US"/>
          </a:p>
        </p:txBody>
      </p:sp>
      <p:sp>
        <p:nvSpPr>
          <p:cNvPr id="6" name="S14 / restart / F1/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S14 / restart / F1/F5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Start a new voyage?"/>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a new voyage?</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This replaces the current voyage progres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This replaces the current voyage progress.</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Keep voyage / Start again"/>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Keep voyage / Start again</a:t>
            </a:r>
            <a:endParaRPr lang="en-US"/>
          </a:p>
        </p:txBody>
      </p:sp>
      <p:sp>
        <p:nvSpPr>
          <p:cNvPr id="13"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4" name="Only Start again replaces the save. Keep voyage returns"/>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Only Start again replaces the save. Keep</a:t>
            </a:r>
            <a:endParaRPr lang="en-US"/>
          </a:p>
          <a:p>
            <a:pPr>
              <a:lnSpc>
                <a:spcPct val="130000"/>
              </a:lnSpc>
            </a:pPr>
            <a:r>
              <a:rPr lang="en-US" sz="1950" b="0">
                <a:solidFill>
                  <a:srgbClr val="102E40"/>
                </a:solidFill>
                <a:latin typeface="Arial"/>
              </a:rPr>
              <a:t xml:space="preserve">voyage returns unchanged.</a:t>
            </a:r>
            <a:endParaRPr lang="en-US"/>
          </a:p>
        </p:txBody>
      </p:sp>
      <p:sp>
        <p:nvSpPr>
          <p:cNvPr id="15" name="Screen S14 Flow F1/F5 State restart"/>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S14</a:t>
            </a:r>
            <a:endParaRPr lang="en-US"/>
          </a:p>
          <a:p>
            <a:pPr>
              <a:lnSpc>
                <a:spcPct val="130000"/>
              </a:lnSpc>
            </a:pPr>
            <a:r>
              <a:rPr lang="en-US" sz="1725" b="0">
                <a:solidFill>
                  <a:srgbClr val="526875"/>
                </a:solidFill>
                <a:latin typeface="Arial"/>
              </a:rPr>
              <a:t xml:space="preserve">Flow F1/F5</a:t>
            </a:r>
            <a:endParaRPr lang="en-US"/>
          </a:p>
          <a:p>
            <a:pPr>
              <a:lnSpc>
                <a:spcPct val="130000"/>
              </a:lnSpc>
            </a:pPr>
            <a:r>
              <a:rPr lang="en-US" sz="1725" b="0">
                <a:solidFill>
                  <a:srgbClr val="526875"/>
                </a:solidFill>
                <a:latin typeface="Arial"/>
              </a:rPr>
              <a:t xml:space="preserve">State restart</a:t>
            </a:r>
            <a:endParaRPr lang="en-US"/>
          </a:p>
        </p:txBody>
      </p:sp>
      <p:sp>
        <p:nvSpPr>
          <p:cNvPr id="16" name="Farshore / Phase 2 / 47"/>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47</a:t>
            </a:r>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6: Assisted passag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W26: Assisted passage</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6  Assisted passage"/>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W26  Assisted passage</a:t>
            </a:r>
            <a:endParaRPr lang="en-US"/>
          </a:p>
        </p:txBody>
      </p:sp>
      <p:sp>
        <p:nvSpPr>
          <p:cNvPr id="6" name="S15 / help decision / 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S15 / help decision / 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A little help from Athena"/>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A little help from Athena</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Continue the story. This shore will say Assisted."/>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Continue the story. This shore will say Assisted.</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Replay later to earn a clear"/>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Replay later to earn a clear</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Keep trying / Continue with help"/>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Keep trying / Continue with help</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Assistance describes exactly how the homecoming report "/>
          <p:cNvSpPr txBox="1"/>
          <p:nvPr/>
        </p:nvSpPr>
        <p:spPr>
          <a:xfrm>
            <a:off x="6953250" y="2667000"/>
            <a:ext cx="4810125" cy="85408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Assistance describes exactly how the</a:t>
            </a:r>
            <a:endParaRPr lang="en-US"/>
          </a:p>
          <a:p>
            <a:pPr>
              <a:lnSpc>
                <a:spcPct val="130000"/>
              </a:lnSpc>
            </a:pPr>
            <a:r>
              <a:rPr lang="en-US" sz="1950" b="0">
                <a:solidFill>
                  <a:srgbClr val="102E40"/>
                </a:solidFill>
                <a:latin typeface="Arial"/>
              </a:rPr>
              <a:t xml:space="preserve">homecoming report changes.</a:t>
            </a:r>
            <a:endParaRPr lang="en-US"/>
          </a:p>
        </p:txBody>
      </p:sp>
      <p:sp>
        <p:nvSpPr>
          <p:cNvPr id="17" name="Screen S15 Flow F5 State help decision"/>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S15</a:t>
            </a:r>
            <a:endParaRPr lang="en-US"/>
          </a:p>
          <a:p>
            <a:pPr>
              <a:lnSpc>
                <a:spcPct val="130000"/>
              </a:lnSpc>
            </a:pPr>
            <a:r>
              <a:rPr lang="en-US" sz="1725" b="0">
                <a:solidFill>
                  <a:srgbClr val="526875"/>
                </a:solidFill>
                <a:latin typeface="Arial"/>
              </a:rPr>
              <a:t xml:space="preserve">Flow F5</a:t>
            </a:r>
            <a:endParaRPr lang="en-US"/>
          </a:p>
          <a:p>
            <a:pPr>
              <a:lnSpc>
                <a:spcPct val="130000"/>
              </a:lnSpc>
            </a:pPr>
            <a:r>
              <a:rPr lang="en-US" sz="1725" b="0">
                <a:solidFill>
                  <a:srgbClr val="526875"/>
                </a:solidFill>
                <a:latin typeface="Arial"/>
              </a:rPr>
              <a:t xml:space="preserve">State help decision</a:t>
            </a:r>
            <a:endParaRPr lang="en-US"/>
          </a:p>
        </p:txBody>
      </p:sp>
      <p:sp>
        <p:nvSpPr>
          <p:cNvPr id="18" name="Farshore / Phase 2 / 48"/>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48</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7: Discard a prepared plan"/>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W27: Discard a prepared plan</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7  Discard a prepared plan"/>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W27  Discard a prepared plan</a:t>
            </a:r>
            <a:endParaRPr lang="en-US"/>
          </a:p>
        </p:txBody>
      </p:sp>
      <p:sp>
        <p:nvSpPr>
          <p:cNvPr id="6" name="S04 / A1 success / undo preparation / F2"/>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S04 / A1 success / undo preparation / F2</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Prepared strategy and explanation"/>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Prepared strategy and explanation</a:t>
            </a:r>
            <a:endParaRPr lang="en-US"/>
          </a:p>
        </p:txBody>
      </p:sp>
      <p:sp>
        <p:nvSpPr>
          <p:cNvPr id="9" name="rect"/>
          <p:cNvSpPr txBox="0"/>
          <p:nvPr/>
        </p:nvSpPr>
        <p:spPr>
          <a:xfrm>
            <a:off x="762000" y="2855595"/>
            <a:ext cx="5505450" cy="495300"/>
          </a:xfrm>
          <a:prstGeom prst="rect">
            <a:avLst/>
          </a:prstGeom>
          <a:solidFill>
            <a:srgbClr val="EEEEEE"/>
          </a:solidFill>
          <a:ln w="12700">
            <a:solidFill>
              <a:srgbClr val="AAAAAA"/>
            </a:solidFill>
          </a:ln>
        </p:spPr>
      </p:sp>
      <p:sp>
        <p:nvSpPr>
          <p:cNvPr id="10" name="Start / Prepare another / Discard strategy"/>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Start / Prepare another / Discard strategy</a:t>
            </a:r>
            <a:endParaRPr lang="en-US"/>
          </a:p>
        </p:txBody>
      </p:sp>
      <p:sp>
        <p:nvSpPr>
          <p:cNvPr id="11" name="rect"/>
          <p:cNvSpPr txBox="0"/>
          <p:nvPr/>
        </p:nvSpPr>
        <p:spPr>
          <a:xfrm>
            <a:off x="762000" y="3427095"/>
            <a:ext cx="5505450" cy="495300"/>
          </a:xfrm>
          <a:prstGeom prst="rect">
            <a:avLst/>
          </a:prstGeom>
          <a:solidFill>
            <a:srgbClr val="FAFAFA"/>
          </a:solidFill>
          <a:ln w="12700">
            <a:solidFill>
              <a:srgbClr val="AAAAAA"/>
            </a:solidFill>
          </a:ln>
        </p:spPr>
      </p:sp>
      <p:sp>
        <p:nvSpPr>
          <p:cNvPr id="12" name="Discard returns to local AI without a match"/>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Discard returns to local AI without a match</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Edit difficulty or mode"/>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Edit difficulty or mode</a:t>
            </a:r>
            <a:endParaRPr lang="en-US"/>
          </a:p>
        </p:txBody>
      </p:sp>
      <p:sp>
        <p:nvSpPr>
          <p:cNvPr id="15" name="Propos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A9884B"/>
                </a:solidFill>
                <a:latin typeface="Arial"/>
              </a:rPr>
              <a:t xml:space="preserve">Proposed</a:t>
            </a:r>
            <a:endParaRPr lang="en-US"/>
          </a:p>
        </p:txBody>
      </p:sp>
      <p:sp>
        <p:nvSpPr>
          <p:cNvPr id="16" name="Proposed Discard is an explicit undo of preparation. It"/>
          <p:cNvSpPr txBox="1"/>
          <p:nvPr/>
        </p:nvSpPr>
        <p:spPr>
          <a:xfrm>
            <a:off x="6953250" y="2667000"/>
            <a:ext cx="4810125" cy="1613878"/>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Proposed Discard is an explicit undo of</a:t>
            </a:r>
            <a:endParaRPr lang="en-US"/>
          </a:p>
          <a:p>
            <a:pPr>
              <a:lnSpc>
                <a:spcPct val="130000"/>
              </a:lnSpc>
            </a:pPr>
            <a:r>
              <a:rPr lang="en-US" sz="1950" b="0">
                <a:solidFill>
                  <a:srgbClr val="102E40"/>
                </a:solidFill>
                <a:latin typeface="Arial"/>
              </a:rPr>
              <a:t xml:space="preserve">preparation. It clears the unplayed plan.</a:t>
            </a:r>
            <a:endParaRPr lang="en-US"/>
          </a:p>
          <a:p>
            <a:pPr>
              <a:lnSpc>
                <a:spcPct val="130000"/>
              </a:lnSpc>
            </a:pPr>
            <a:r>
              <a:rPr lang="en-US" sz="1950" b="0">
                <a:solidFill>
                  <a:srgbClr val="102E40"/>
                </a:solidFill>
                <a:latin typeface="Arial"/>
              </a:rPr>
              <a:t xml:space="preserve">Current edit/mode controls already clear</a:t>
            </a:r>
            <a:endParaRPr lang="en-US"/>
          </a:p>
          <a:p>
            <a:pPr>
              <a:lnSpc>
                <a:spcPct val="130000"/>
              </a:lnSpc>
            </a:pPr>
            <a:r>
              <a:rPr lang="en-US" sz="1950" b="0">
                <a:solidFill>
                  <a:srgbClr val="102E40"/>
                </a:solidFill>
                <a:latin typeface="Arial"/>
              </a:rPr>
              <a:t xml:space="preserve">it.</a:t>
            </a:r>
            <a:endParaRPr lang="en-US"/>
          </a:p>
        </p:txBody>
      </p:sp>
      <p:sp>
        <p:nvSpPr>
          <p:cNvPr id="17" name="Screen S04 Flow F2 State A1 success / undo preparation"/>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S04</a:t>
            </a:r>
            <a:endParaRPr lang="en-US"/>
          </a:p>
          <a:p>
            <a:pPr>
              <a:lnSpc>
                <a:spcPct val="130000"/>
              </a:lnSpc>
            </a:pPr>
            <a:r>
              <a:rPr lang="en-US" sz="1725" b="0">
                <a:solidFill>
                  <a:srgbClr val="526875"/>
                </a:solidFill>
                <a:latin typeface="Arial"/>
              </a:rPr>
              <a:t xml:space="preserve">Flow F2</a:t>
            </a:r>
            <a:endParaRPr lang="en-US"/>
          </a:p>
          <a:p>
            <a:pPr>
              <a:lnSpc>
                <a:spcPct val="130000"/>
              </a:lnSpc>
            </a:pPr>
            <a:r>
              <a:rPr lang="en-US" sz="1725" b="0">
                <a:solidFill>
                  <a:srgbClr val="526875"/>
                </a:solidFill>
                <a:latin typeface="Arial"/>
              </a:rPr>
              <a:t xml:space="preserve">State A1 success / undo preparation</a:t>
            </a:r>
            <a:endParaRPr lang="en-US"/>
          </a:p>
        </p:txBody>
      </p:sp>
      <p:sp>
        <p:nvSpPr>
          <p:cNvPr id="18" name="Farshore / Phase 2 / 49"/>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49</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W28: Saving unavailable"/>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W28: Saving unavailable</a:t>
            </a:r>
            <a:endParaRPr lang="en-US"/>
          </a:p>
        </p:txBody>
      </p:sp>
      <p:sp>
        <p:nvSpPr>
          <p:cNvPr id="3" name="Review appendix / low-fidelity screen and state"/>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low-fidelity screen and state</a:t>
            </a:r>
            <a:endParaRPr lang="en-US"/>
          </a:p>
        </p:txBody>
      </p:sp>
      <p:sp>
        <p:nvSpPr>
          <p:cNvPr id="4" name="rect"/>
          <p:cNvSpPr txBox="0"/>
          <p:nvPr/>
        </p:nvSpPr>
        <p:spPr>
          <a:xfrm>
            <a:off x="609600" y="1428750"/>
            <a:ext cx="5810250" cy="4810125"/>
          </a:xfrm>
          <a:prstGeom prst="rect">
            <a:avLst/>
          </a:prstGeom>
          <a:solidFill>
            <a:srgbClr val="FFFFFF"/>
          </a:solidFill>
          <a:ln w="12700">
            <a:solidFill>
              <a:srgbClr val="555555"/>
            </a:solidFill>
          </a:ln>
        </p:spPr>
      </p:sp>
      <p:sp>
        <p:nvSpPr>
          <p:cNvPr id="5" name="W28  Saving unavailable"/>
          <p:cNvSpPr txBox="1"/>
          <p:nvPr/>
        </p:nvSpPr>
        <p:spPr>
          <a:xfrm>
            <a:off x="762000" y="1562100"/>
            <a:ext cx="5505450" cy="386524"/>
          </a:xfrm>
          <a:prstGeom prst="rect">
            <a:avLst/>
          </a:prstGeom>
          <a:noFill/>
          <a:ln>
            <a:noFill/>
          </a:ln>
        </p:spPr>
        <p:txBody>
          <a:bodyPr wrap="square" lIns="0" rIns="0" tIns="0" bIns="0" anchor="t">
            <a:noAutofit/>
          </a:bodyPr>
          <a:lstStyle/>
          <a:p>
            <a:pPr>
              <a:lnSpc>
                <a:spcPct val="130000"/>
              </a:lnSpc>
            </a:pPr>
            <a:r>
              <a:rPr lang="en-US" sz="1500" b="1">
                <a:solidFill>
                  <a:srgbClr val="222222"/>
                </a:solidFill>
                <a:latin typeface="Arial"/>
              </a:rPr>
              <a:t xml:space="preserve">W28  Saving unavailable</a:t>
            </a:r>
            <a:endParaRPr lang="en-US"/>
          </a:p>
        </p:txBody>
      </p:sp>
      <p:sp>
        <p:nvSpPr>
          <p:cNvPr id="6" name="S03 / storage error / F1/F5"/>
          <p:cNvSpPr txBox="1"/>
          <p:nvPr/>
        </p:nvSpPr>
        <p:spPr>
          <a:xfrm>
            <a:off x="762000" y="1905000"/>
            <a:ext cx="5505450" cy="328079"/>
          </a:xfrm>
          <a:prstGeom prst="rect">
            <a:avLst/>
          </a:prstGeom>
          <a:noFill/>
          <a:ln>
            <a:noFill/>
          </a:ln>
        </p:spPr>
        <p:txBody>
          <a:bodyPr wrap="square" lIns="0" rIns="0" tIns="0" bIns="0" anchor="t">
            <a:noAutofit/>
          </a:bodyPr>
          <a:lstStyle/>
          <a:p>
            <a:pPr>
              <a:lnSpc>
                <a:spcPct val="130000"/>
              </a:lnSpc>
            </a:pPr>
            <a:r>
              <a:rPr lang="en-US" sz="1200" b="0">
                <a:solidFill>
                  <a:srgbClr val="526875"/>
                </a:solidFill>
                <a:latin typeface="Arial"/>
              </a:rPr>
              <a:t xml:space="preserve">S03 / storage error / F1/F5</a:t>
            </a:r>
            <a:endParaRPr lang="en-US"/>
          </a:p>
        </p:txBody>
      </p:sp>
      <p:sp>
        <p:nvSpPr>
          <p:cNvPr id="7" name="rect"/>
          <p:cNvSpPr txBox="0"/>
          <p:nvPr/>
        </p:nvSpPr>
        <p:spPr>
          <a:xfrm>
            <a:off x="762000" y="2284095"/>
            <a:ext cx="5505450" cy="495300"/>
          </a:xfrm>
          <a:prstGeom prst="rect">
            <a:avLst/>
          </a:prstGeom>
          <a:solidFill>
            <a:srgbClr val="FAFAFA"/>
          </a:solidFill>
          <a:ln w="12700">
            <a:solidFill>
              <a:srgbClr val="AAAAAA"/>
            </a:solidFill>
          </a:ln>
        </p:spPr>
      </p:sp>
      <p:sp>
        <p:nvSpPr>
          <p:cNvPr id="8" name="Saving is unavailable on this browser."/>
          <p:cNvSpPr txBox="1"/>
          <p:nvPr/>
        </p:nvSpPr>
        <p:spPr>
          <a:xfrm>
            <a:off x="876300" y="2379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Saving is unavailable on this browser.</a:t>
            </a:r>
            <a:endParaRPr lang="en-US"/>
          </a:p>
        </p:txBody>
      </p:sp>
      <p:sp>
        <p:nvSpPr>
          <p:cNvPr id="9" name="rect"/>
          <p:cNvSpPr txBox="0"/>
          <p:nvPr/>
        </p:nvSpPr>
        <p:spPr>
          <a:xfrm>
            <a:off x="762000" y="2855595"/>
            <a:ext cx="5505450" cy="495300"/>
          </a:xfrm>
          <a:prstGeom prst="rect">
            <a:avLst/>
          </a:prstGeom>
          <a:solidFill>
            <a:srgbClr val="FAFAFA"/>
          </a:solidFill>
          <a:ln w="12700">
            <a:solidFill>
              <a:srgbClr val="AAAAAA"/>
            </a:solidFill>
          </a:ln>
        </p:spPr>
      </p:sp>
      <p:sp>
        <p:nvSpPr>
          <p:cNvPr id="10" name="You can continue, but reload may lose progress."/>
          <p:cNvSpPr txBox="1"/>
          <p:nvPr/>
        </p:nvSpPr>
        <p:spPr>
          <a:xfrm>
            <a:off x="876300" y="2950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You can continue, but reload may lose progress.</a:t>
            </a:r>
            <a:endParaRPr lang="en-US"/>
          </a:p>
        </p:txBody>
      </p:sp>
      <p:sp>
        <p:nvSpPr>
          <p:cNvPr id="11" name="rect"/>
          <p:cNvSpPr txBox="0"/>
          <p:nvPr/>
        </p:nvSpPr>
        <p:spPr>
          <a:xfrm>
            <a:off x="762000" y="3427095"/>
            <a:ext cx="5505450" cy="495300"/>
          </a:xfrm>
          <a:prstGeom prst="rect">
            <a:avLst/>
          </a:prstGeom>
          <a:solidFill>
            <a:srgbClr val="EEEEEE"/>
          </a:solidFill>
          <a:ln w="12700">
            <a:solidFill>
              <a:srgbClr val="AAAAAA"/>
            </a:solidFill>
          </a:ln>
        </p:spPr>
      </p:sp>
      <p:sp>
        <p:nvSpPr>
          <p:cNvPr id="12" name="Current in-memory voyage map"/>
          <p:cNvSpPr txBox="1"/>
          <p:nvPr/>
        </p:nvSpPr>
        <p:spPr>
          <a:xfrm>
            <a:off x="876300" y="35223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Current in-memory voyage map</a:t>
            </a:r>
            <a:endParaRPr lang="en-US"/>
          </a:p>
        </p:txBody>
      </p:sp>
      <p:sp>
        <p:nvSpPr>
          <p:cNvPr id="13" name="rect"/>
          <p:cNvSpPr txBox="0"/>
          <p:nvPr/>
        </p:nvSpPr>
        <p:spPr>
          <a:xfrm>
            <a:off x="762000" y="3998595"/>
            <a:ext cx="5505450" cy="495300"/>
          </a:xfrm>
          <a:prstGeom prst="rect">
            <a:avLst/>
          </a:prstGeom>
          <a:solidFill>
            <a:srgbClr val="EEEEEE"/>
          </a:solidFill>
          <a:ln w="12700">
            <a:solidFill>
              <a:srgbClr val="AAAAAA"/>
            </a:solidFill>
          </a:ln>
        </p:spPr>
      </p:sp>
      <p:sp>
        <p:nvSpPr>
          <p:cNvPr id="14" name="Keep playing / Settings"/>
          <p:cNvSpPr txBox="1"/>
          <p:nvPr/>
        </p:nvSpPr>
        <p:spPr>
          <a:xfrm>
            <a:off x="876300" y="4093845"/>
            <a:ext cx="5276850" cy="357302"/>
          </a:xfrm>
          <a:prstGeom prst="rect">
            <a:avLst/>
          </a:prstGeom>
          <a:noFill/>
          <a:ln>
            <a:noFill/>
          </a:ln>
        </p:spPr>
        <p:txBody>
          <a:bodyPr wrap="square" lIns="0" rIns="0" tIns="0" bIns="0" anchor="t">
            <a:noAutofit/>
          </a:bodyPr>
          <a:lstStyle/>
          <a:p>
            <a:pPr>
              <a:lnSpc>
                <a:spcPct val="130000"/>
              </a:lnSpc>
            </a:pPr>
            <a:r>
              <a:rPr lang="en-US" sz="1350" b="0">
                <a:solidFill>
                  <a:srgbClr val="252525"/>
                </a:solidFill>
                <a:latin typeface="Arial"/>
              </a:rPr>
              <a:t xml:space="preserve">Keep playing / Settings</a:t>
            </a:r>
            <a:endParaRPr lang="en-US"/>
          </a:p>
        </p:txBody>
      </p:sp>
      <p:sp>
        <p:nvSpPr>
          <p:cNvPr id="15" name="Implemented"/>
          <p:cNvSpPr txBox="1"/>
          <p:nvPr/>
        </p:nvSpPr>
        <p:spPr>
          <a:xfrm>
            <a:off x="6953250" y="1638300"/>
            <a:ext cx="4810125" cy="488804"/>
          </a:xfrm>
          <a:prstGeom prst="rect">
            <a:avLst/>
          </a:prstGeom>
          <a:noFill/>
          <a:ln>
            <a:noFill/>
          </a:ln>
        </p:spPr>
        <p:txBody>
          <a:bodyPr wrap="square" lIns="0" rIns="0" tIns="0" bIns="0" anchor="t">
            <a:noAutofit/>
          </a:bodyPr>
          <a:lstStyle/>
          <a:p>
            <a:pPr>
              <a:lnSpc>
                <a:spcPct val="130000"/>
              </a:lnSpc>
            </a:pPr>
            <a:r>
              <a:rPr lang="en-US" sz="2025" b="1">
                <a:solidFill>
                  <a:srgbClr val="126978"/>
                </a:solidFill>
                <a:latin typeface="Arial"/>
              </a:rPr>
              <a:t xml:space="preserve">Implemented</a:t>
            </a:r>
            <a:endParaRPr lang="en-US"/>
          </a:p>
        </p:txBody>
      </p:sp>
      <p:sp>
        <p:nvSpPr>
          <p:cNvPr id="16" name="A persistent warning makes local storage failure visibl"/>
          <p:cNvSpPr txBox="1"/>
          <p:nvPr/>
        </p:nvSpPr>
        <p:spPr>
          <a:xfrm>
            <a:off x="6953250" y="2667000"/>
            <a:ext cx="4810125" cy="1233983"/>
          </a:xfrm>
          <a:prstGeom prst="rect">
            <a:avLst/>
          </a:prstGeom>
          <a:noFill/>
          <a:ln>
            <a:noFill/>
          </a:ln>
        </p:spPr>
        <p:txBody>
          <a:bodyPr wrap="square" lIns="0" rIns="0" tIns="0" bIns="0" anchor="t">
            <a:noAutofit/>
          </a:bodyPr>
          <a:lstStyle/>
          <a:p>
            <a:pPr>
              <a:lnSpc>
                <a:spcPct val="130000"/>
              </a:lnSpc>
            </a:pPr>
            <a:r>
              <a:rPr lang="en-US" sz="1950" b="0">
                <a:solidFill>
                  <a:srgbClr val="102E40"/>
                </a:solidFill>
                <a:latin typeface="Arial"/>
              </a:rPr>
              <a:t xml:space="preserve">A persistent warning makes local storage</a:t>
            </a:r>
            <a:endParaRPr lang="en-US"/>
          </a:p>
          <a:p>
            <a:pPr>
              <a:lnSpc>
                <a:spcPct val="130000"/>
              </a:lnSpc>
            </a:pPr>
            <a:r>
              <a:rPr lang="en-US" sz="1950" b="0">
                <a:solidFill>
                  <a:srgbClr val="102E40"/>
                </a:solidFill>
                <a:latin typeface="Arial"/>
              </a:rPr>
              <a:t xml:space="preserve">failure visible while keeping play</a:t>
            </a:r>
            <a:endParaRPr lang="en-US"/>
          </a:p>
          <a:p>
            <a:pPr>
              <a:lnSpc>
                <a:spcPct val="130000"/>
              </a:lnSpc>
            </a:pPr>
            <a:r>
              <a:rPr lang="en-US" sz="1950" b="0">
                <a:solidFill>
                  <a:srgbClr val="102E40"/>
                </a:solidFill>
                <a:latin typeface="Arial"/>
              </a:rPr>
              <a:t xml:space="preserve">available.</a:t>
            </a:r>
            <a:endParaRPr lang="en-US"/>
          </a:p>
        </p:txBody>
      </p:sp>
      <p:sp>
        <p:nvSpPr>
          <p:cNvPr id="17" name="Screen S03 Flow F1/F5 State storage error"/>
          <p:cNvSpPr txBox="1"/>
          <p:nvPr/>
        </p:nvSpPr>
        <p:spPr>
          <a:xfrm>
            <a:off x="6953250" y="4810125"/>
            <a:ext cx="4572000" cy="1102481"/>
          </a:xfrm>
          <a:prstGeom prst="rect">
            <a:avLst/>
          </a:prstGeom>
          <a:noFill/>
          <a:ln>
            <a:noFill/>
          </a:ln>
        </p:spPr>
        <p:txBody>
          <a:bodyPr wrap="square" lIns="0" rIns="0" tIns="0" bIns="0" anchor="t">
            <a:noAutofit/>
          </a:bodyPr>
          <a:lstStyle/>
          <a:p>
            <a:pPr>
              <a:lnSpc>
                <a:spcPct val="130000"/>
              </a:lnSpc>
            </a:pPr>
            <a:r>
              <a:rPr lang="en-US" sz="1725" b="0">
                <a:solidFill>
                  <a:srgbClr val="526875"/>
                </a:solidFill>
                <a:latin typeface="Arial"/>
              </a:rPr>
              <a:t xml:space="preserve">Screen S03</a:t>
            </a:r>
            <a:endParaRPr lang="en-US"/>
          </a:p>
          <a:p>
            <a:pPr>
              <a:lnSpc>
                <a:spcPct val="130000"/>
              </a:lnSpc>
            </a:pPr>
            <a:r>
              <a:rPr lang="en-US" sz="1725" b="0">
                <a:solidFill>
                  <a:srgbClr val="526875"/>
                </a:solidFill>
                <a:latin typeface="Arial"/>
              </a:rPr>
              <a:t xml:space="preserve">Flow F1/F5</a:t>
            </a:r>
            <a:endParaRPr lang="en-US"/>
          </a:p>
          <a:p>
            <a:pPr>
              <a:lnSpc>
                <a:spcPct val="130000"/>
              </a:lnSpc>
            </a:pPr>
            <a:r>
              <a:rPr lang="en-US" sz="1725" b="0">
                <a:solidFill>
                  <a:srgbClr val="526875"/>
                </a:solidFill>
                <a:latin typeface="Arial"/>
              </a:rPr>
              <a:t xml:space="preserve">State storage error</a:t>
            </a:r>
            <a:endParaRPr lang="en-US"/>
          </a:p>
        </p:txBody>
      </p:sp>
      <p:sp>
        <p:nvSpPr>
          <p:cNvPr id="18" name="Farshore / Phase 2 / 50"/>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50</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xact failure responses"/>
          <p:cNvSpPr txBox="1"/>
          <p:nvPr/>
        </p:nvSpPr>
        <p:spPr>
          <a:xfrm>
            <a:off x="609600" y="400050"/>
            <a:ext cx="10972800" cy="795642"/>
          </a:xfrm>
          <a:prstGeom prst="rect">
            <a:avLst/>
          </a:prstGeom>
          <a:noFill/>
          <a:ln>
            <a:noFill/>
          </a:ln>
        </p:spPr>
        <p:txBody>
          <a:bodyPr wrap="square" lIns="0" rIns="0" tIns="0" bIns="0" anchor="t">
            <a:noAutofit/>
          </a:bodyPr>
          <a:lstStyle/>
          <a:p>
            <a:pPr>
              <a:lnSpc>
                <a:spcPct val="130000"/>
              </a:lnSpc>
            </a:pPr>
            <a:r>
              <a:rPr lang="en-US" sz="3600" b="1">
                <a:solidFill>
                  <a:srgbClr val="102E40"/>
                </a:solidFill>
                <a:latin typeface="Arial"/>
              </a:rPr>
              <a:t xml:space="preserve">Exact failure responses</a:t>
            </a:r>
            <a:endParaRPr lang="en-US"/>
          </a:p>
        </p:txBody>
      </p:sp>
      <p:sp>
        <p:nvSpPr>
          <p:cNvPr id="3" name="Review appendix / two actual provider failures and one "/>
          <p:cNvSpPr txBox="1"/>
          <p:nvPr/>
        </p:nvSpPr>
        <p:spPr>
          <a:xfrm>
            <a:off x="609600" y="1009650"/>
            <a:ext cx="10972800" cy="386524"/>
          </a:xfrm>
          <a:prstGeom prst="rect">
            <a:avLst/>
          </a:prstGeom>
          <a:noFill/>
          <a:ln>
            <a:noFill/>
          </a:ln>
        </p:spPr>
        <p:txBody>
          <a:bodyPr wrap="square" lIns="0" rIns="0" tIns="0" bIns="0" anchor="t">
            <a:noAutofit/>
          </a:bodyPr>
          <a:lstStyle/>
          <a:p>
            <a:pPr>
              <a:lnSpc>
                <a:spcPct val="130000"/>
              </a:lnSpc>
            </a:pPr>
            <a:r>
              <a:rPr lang="en-US" sz="1500" b="0">
                <a:solidFill>
                  <a:srgbClr val="526875"/>
                </a:solidFill>
                <a:latin typeface="Arial"/>
              </a:rPr>
              <a:t xml:space="preserve">Review appendix / two actual provider failures and one app validation failure</a:t>
            </a:r>
            <a:endParaRPr lang="en-US"/>
          </a:p>
        </p:txBody>
      </p:sp>
      <p:sp>
        <p:nvSpPr>
          <p:cNvPr id="4" name="E1 Nonexistent provider model / HTTP 404"/>
          <p:cNvSpPr txBox="1"/>
          <p:nvPr/>
        </p:nvSpPr>
        <p:spPr>
          <a:xfrm>
            <a:off x="609600" y="1600200"/>
            <a:ext cx="10858500" cy="474193"/>
          </a:xfrm>
          <a:prstGeom prst="rect">
            <a:avLst/>
          </a:prstGeom>
          <a:noFill/>
          <a:ln>
            <a:noFill/>
          </a:ln>
        </p:spPr>
        <p:txBody>
          <a:bodyPr wrap="square" lIns="0" rIns="0" tIns="0" bIns="0" anchor="t">
            <a:noAutofit/>
          </a:bodyPr>
          <a:lstStyle/>
          <a:p>
            <a:pPr>
              <a:lnSpc>
                <a:spcPct val="130000"/>
              </a:lnSpc>
            </a:pPr>
            <a:r>
              <a:rPr lang="en-US" sz="1950" b="1">
                <a:solidFill>
                  <a:srgbClr val="102E40"/>
                </a:solidFill>
                <a:latin typeface="Arial"/>
              </a:rPr>
              <a:t xml:space="preserve">E1 Nonexistent provider model / HTTP 404</a:t>
            </a:r>
            <a:endParaRPr lang="en-US"/>
          </a:p>
        </p:txBody>
      </p:sp>
      <p:sp>
        <p:nvSpPr>
          <p:cNvPr id="5" name="{&quot;error&quot;:{&quot;message&quot;:&quot;model 'farshore-phase2-deliberatel"/>
          <p:cNvSpPr txBox="1"/>
          <p:nvPr/>
        </p:nvSpPr>
        <p:spPr>
          <a:xfrm>
            <a:off x="609600" y="203644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102E40"/>
                </a:solidFill>
                <a:latin typeface="Arial"/>
              </a:rPr>
              <a:t xml:space="preserve">{"error":{"message":"model 'farshore-phase2-deliberately-missing' not found","type":"not_found_error","param":null,"code":null}}</a:t>
            </a:r>
            <a:endParaRPr lang="en-US"/>
          </a:p>
        </p:txBody>
      </p:sp>
      <p:sp>
        <p:nvSpPr>
          <p:cNvPr id="6" name="E2 Malformed provider JSON / HTTP 400"/>
          <p:cNvSpPr txBox="1"/>
          <p:nvPr/>
        </p:nvSpPr>
        <p:spPr>
          <a:xfrm>
            <a:off x="609600" y="2503170"/>
            <a:ext cx="10858500" cy="474193"/>
          </a:xfrm>
          <a:prstGeom prst="rect">
            <a:avLst/>
          </a:prstGeom>
          <a:noFill/>
          <a:ln>
            <a:noFill/>
          </a:ln>
        </p:spPr>
        <p:txBody>
          <a:bodyPr wrap="square" lIns="0" rIns="0" tIns="0" bIns="0" anchor="t">
            <a:noAutofit/>
          </a:bodyPr>
          <a:lstStyle/>
          <a:p>
            <a:pPr>
              <a:lnSpc>
                <a:spcPct val="130000"/>
              </a:lnSpc>
            </a:pPr>
            <a:r>
              <a:rPr lang="en-US" sz="1950" b="1">
                <a:solidFill>
                  <a:srgbClr val="102E40"/>
                </a:solidFill>
                <a:latin typeface="Arial"/>
              </a:rPr>
              <a:t xml:space="preserve">E2 Malformed provider JSON / HTTP 400</a:t>
            </a:r>
            <a:endParaRPr lang="en-US"/>
          </a:p>
        </p:txBody>
      </p:sp>
      <p:sp>
        <p:nvSpPr>
          <p:cNvPr id="7" name="{&quot;error&quot;:{&quot;message&quot;:&quot;unexpected EOF&quot;,&quot;type&quot;:&quot;invalid_re"/>
          <p:cNvSpPr txBox="1"/>
          <p:nvPr/>
        </p:nvSpPr>
        <p:spPr>
          <a:xfrm>
            <a:off x="609600" y="293941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102E40"/>
                </a:solidFill>
                <a:latin typeface="Arial"/>
              </a:rPr>
              <a:t xml:space="preserve">{"error":{"message":"unexpected EOF","type":"invalid_request_error","param":null,"code":null}}</a:t>
            </a:r>
            <a:endParaRPr lang="en-US"/>
          </a:p>
        </p:txBody>
      </p:sp>
      <p:sp>
        <p:nvSpPr>
          <p:cNvPr id="8" name="E3 Unsupported difficulty / HTTP 400"/>
          <p:cNvSpPr txBox="1"/>
          <p:nvPr/>
        </p:nvSpPr>
        <p:spPr>
          <a:xfrm>
            <a:off x="609600" y="3406140"/>
            <a:ext cx="10858500" cy="474193"/>
          </a:xfrm>
          <a:prstGeom prst="rect">
            <a:avLst/>
          </a:prstGeom>
          <a:noFill/>
          <a:ln>
            <a:noFill/>
          </a:ln>
        </p:spPr>
        <p:txBody>
          <a:bodyPr wrap="square" lIns="0" rIns="0" tIns="0" bIns="0" anchor="t">
            <a:noAutofit/>
          </a:bodyPr>
          <a:lstStyle/>
          <a:p>
            <a:pPr>
              <a:lnSpc>
                <a:spcPct val="130000"/>
              </a:lnSpc>
            </a:pPr>
            <a:r>
              <a:rPr lang="en-US" sz="1950" b="1">
                <a:solidFill>
                  <a:srgbClr val="102E40"/>
                </a:solidFill>
                <a:latin typeface="Arial"/>
              </a:rPr>
              <a:t xml:space="preserve">E3 Unsupported difficulty / HTTP 400</a:t>
            </a:r>
            <a:endParaRPr lang="en-US"/>
          </a:p>
        </p:txBody>
      </p:sp>
      <p:sp>
        <p:nvSpPr>
          <p:cNvPr id="9" name="{&quot;error&quot;:&quot;Choose a supported encounter and difficulty. "/>
          <p:cNvSpPr txBox="1"/>
          <p:nvPr/>
        </p:nvSpPr>
        <p:spPr>
          <a:xfrm>
            <a:off x="609600" y="3842385"/>
            <a:ext cx="10858500" cy="386524"/>
          </a:xfrm>
          <a:prstGeom prst="rect">
            <a:avLst/>
          </a:prstGeom>
          <a:noFill/>
          <a:ln>
            <a:noFill/>
          </a:ln>
        </p:spPr>
        <p:txBody>
          <a:bodyPr wrap="square" lIns="0" rIns="0" tIns="0" bIns="0" anchor="t">
            <a:noAutofit/>
          </a:bodyPr>
          <a:lstStyle/>
          <a:p>
            <a:pPr>
              <a:lnSpc>
                <a:spcPct val="130000"/>
              </a:lnSpc>
            </a:pPr>
            <a:r>
              <a:rPr lang="en-US" sz="1500" b="0">
                <a:solidFill>
                  <a:srgbClr val="102E40"/>
                </a:solidFill>
                <a:latin typeface="Arial"/>
              </a:rPr>
              <a:t xml:space="preserve">{"error":"Choose a supported encounter and difficulty. At most two attempt summaries are accepted."}</a:t>
            </a:r>
            <a:endParaRPr lang="en-US"/>
          </a:p>
        </p:txBody>
      </p:sp>
      <p:sp>
        <p:nvSpPr>
          <p:cNvPr id="10" name="E1 and E2 contact Ollama directly. E3 stops before mode"/>
          <p:cNvSpPr txBox="1"/>
          <p:nvPr/>
        </p:nvSpPr>
        <p:spPr>
          <a:xfrm>
            <a:off x="609600" y="5857875"/>
            <a:ext cx="10858500" cy="430359"/>
          </a:xfrm>
          <a:prstGeom prst="rect">
            <a:avLst/>
          </a:prstGeom>
          <a:noFill/>
          <a:ln>
            <a:noFill/>
          </a:ln>
        </p:spPr>
        <p:txBody>
          <a:bodyPr wrap="square" lIns="0" rIns="0" tIns="0" bIns="0" anchor="t">
            <a:noAutofit/>
          </a:bodyPr>
          <a:lstStyle/>
          <a:p>
            <a:pPr>
              <a:lnSpc>
                <a:spcPct val="130000"/>
              </a:lnSpc>
            </a:pPr>
            <a:r>
              <a:rPr lang="en-US" sz="1725" b="0">
                <a:solidFill>
                  <a:srgbClr val="126978"/>
                </a:solidFill>
                <a:latin typeface="Arial"/>
              </a:rPr>
              <a:t xml:space="preserve">E1 and E2 contact Ollama directly. E3 stops before model inference.</a:t>
            </a:r>
            <a:endParaRPr lang="en-US"/>
          </a:p>
        </p:txBody>
      </p:sp>
      <p:sp>
        <p:nvSpPr>
          <p:cNvPr id="11" name="Farshore / Phase 2 / 51"/>
          <p:cNvSpPr txBox="1"/>
          <p:nvPr/>
        </p:nvSpPr>
        <p:spPr>
          <a:xfrm>
            <a:off x="609600" y="6343650"/>
            <a:ext cx="10972800" cy="298856"/>
          </a:xfrm>
          <a:prstGeom prst="rect">
            <a:avLst/>
          </a:prstGeom>
          <a:noFill/>
          <a:ln>
            <a:noFill/>
          </a:ln>
        </p:spPr>
        <p:txBody>
          <a:bodyPr wrap="square" lIns="0" rIns="0" tIns="0" bIns="0" anchor="t">
            <a:noAutofit/>
          </a:bodyPr>
          <a:lstStyle/>
          <a:p>
            <a:pPr>
              <a:lnSpc>
                <a:spcPct val="130000"/>
              </a:lnSpc>
            </a:pPr>
            <a:r>
              <a:rPr lang="en-US" sz="1050" b="0">
                <a:solidFill>
                  <a:srgbClr val="526875"/>
                </a:solidFill>
                <a:latin typeface="Arial"/>
              </a:rPr>
              <a:t xml:space="preserve">Farshore / Phase 2 / 51</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