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Types>
</file>

<file path=_rels/.rels><?xml version="1.0" encoding="UTF-8" standalone="yes"?><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Lst>
  <p:notesMasterIdLst>
    <p:notesMasterId r:id="rId2"/>
  </p:notesMasterIdLst>
  <p:sldSz cx="12192000" cy="6858000" type="screen16x9"/>
  <p:notesSz cx="6858000" cy="9144000"/>
  <p:defaultTextStyle/>
</p:presentation>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notesStyle/>
</p:notesMaster>
</file>

<file path=ppt/notesSlides/_rels/notesSlide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p:nvPr>
            <p:ph type="body" idx="1"/>
          </p:nvPr>
        </p:nvSpPr>
        <p:spPr/>
        <p:txBody>
          <a:bodyPr/>
          <a:lstStyle/>
          <a:p>
            <a:pPr>
              <a:lnSpc>
                <a:spcPct val="130000"/>
              </a:lnSpc>
            </a:pPr>
            <a:r>
              <a:rPr lang="en-US" sz="1200" b="0">
                <a:solidFill>
                  <a:srgbClr val="102E40"/>
                </a:solidFill>
                <a:latin typeface="Arial"/>
              </a:rPr>
              <a:t xml:space="preserve">Timing: 30 seconds.</a:t>
            </a:r>
            <a:endParaRPr lang="en-US"/>
          </a:p>
          <a:p>
            <a:pPr>
              <a:lnSpc>
                <a:spcPct val="130000"/>
              </a:lnSpc>
            </a:pPr>
            <a:r>
              <a:rPr lang="en-US" sz="1200" b="0">
                <a:solidFill>
                  <a:srgbClr val="102E40"/>
                </a:solidFill>
                <a:latin typeface="Arial"/>
              </a:rPr>
              <a:t xml:space="preserve"/>
            </a:r>
            <a:endParaRPr lang="en-US"/>
          </a:p>
          <a:p>
            <a:pPr>
              <a:lnSpc>
                <a:spcPct val="130000"/>
              </a:lnSpc>
            </a:pPr>
            <a:r>
              <a:rPr lang="en-US" sz="1200" b="0">
                <a:solidFill>
                  <a:srgbClr val="102E40"/>
                </a:solidFill>
                <a:latin typeface="Arial"/>
              </a:rPr>
              <a:t xml:space="preserve">Farshore turns Odysseus' journey into five distinct arcade trials. Phase 2 focuses on how a player learns a trial, reviews an optional model strategy and recovers from failure. The new direction keeps the Odyssey setting and makes each shore a recognizable game. Source: user arcade design, current src/ArcadeApp.tsx. Original project artwork: public/art/title.png.</a:t>
            </a:r>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p:nvPr>
            <p:ph type="body" idx="1"/>
          </p:nvPr>
        </p:nvSpPr>
        <p:spPr/>
        <p:txBody>
          <a:bodyPr/>
          <a:lstStyle/>
          <a:p>
            <a:pPr>
              <a:lnSpc>
                <a:spcPct val="130000"/>
              </a:lnSpc>
            </a:pPr>
            <a:r>
              <a:rPr lang="en-US" sz="1200" b="0">
                <a:solidFill>
                  <a:srgbClr val="102E40"/>
                </a:solidFill>
                <a:latin typeface="Arial"/>
              </a:rPr>
              <a:t xml:space="preserve">Timing: 50 seconds.</a:t>
            </a:r>
            <a:endParaRPr lang="en-US"/>
          </a:p>
          <a:p>
            <a:pPr>
              <a:lnSpc>
                <a:spcPct val="130000"/>
              </a:lnSpc>
            </a:pPr>
            <a:r>
              <a:rPr lang="en-US" sz="1200" b="0">
                <a:solidFill>
                  <a:srgbClr val="102E40"/>
                </a:solidFill>
                <a:latin typeface="Arial"/>
              </a:rPr>
              <a:t xml:space="preserve"/>
            </a:r>
            <a:endParaRPr lang="en-US"/>
          </a:p>
          <a:p>
            <a:pPr>
              <a:lnSpc>
                <a:spcPct val="130000"/>
              </a:lnSpc>
            </a:pPr>
            <a:r>
              <a:rPr lang="en-US" sz="1200" b="0">
                <a:solidFill>
                  <a:srgbClr val="102E40"/>
                </a:solidFill>
                <a:latin typeface="Arial"/>
              </a:rPr>
              <a:t xml:space="preserve">Explain the variety briefly. The player moves on a grid, solves a puzzle duel, echoes a melody, controls a shield while rowing, then aims through twelve axe rings. Rivals take turns or visibly react. The myth provides context, while the arcade rules are adaptations. Antinous' competitive shots are invented because in Homer he cannot string the bow. Source: src/lib/arcade.ts and src/lib/mythic.ts; Odyssey Books IX, X, XII, XXI.</a:t>
            </a:r>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p:nvPr>
            <p:ph type="body" idx="1"/>
          </p:nvPr>
        </p:nvSpPr>
        <p:spPr/>
        <p:txBody>
          <a:bodyPr/>
          <a:lstStyle/>
          <a:p>
            <a:pPr>
              <a:lnSpc>
                <a:spcPct val="130000"/>
              </a:lnSpc>
            </a:pPr>
            <a:r>
              <a:rPr lang="en-US" sz="1200" b="0">
                <a:solidFill>
                  <a:srgbClr val="102E40"/>
                </a:solidFill>
                <a:latin typeface="Arial"/>
              </a:rPr>
              <a:t xml:space="preserve">Timing: 45 seconds.</a:t>
            </a:r>
            <a:endParaRPr lang="en-US"/>
          </a:p>
          <a:p>
            <a:pPr>
              <a:lnSpc>
                <a:spcPct val="130000"/>
              </a:lnSpc>
            </a:pPr>
            <a:r>
              <a:rPr lang="en-US" sz="1200" b="0">
                <a:solidFill>
                  <a:srgbClr val="102E40"/>
                </a:solidFill>
                <a:latin typeface="Arial"/>
              </a:rPr>
              <a:t xml:space="preserve"/>
            </a:r>
            <a:endParaRPr lang="en-US"/>
          </a:p>
          <a:p>
            <a:pPr>
              <a:lnSpc>
                <a:spcPct val="130000"/>
              </a:lnSpc>
            </a:pPr>
            <a:r>
              <a:rPr lang="en-US" sz="1200" b="0">
                <a:solidFill>
                  <a:srgbClr val="102E40"/>
                </a:solidFill>
                <a:latin typeface="Arial"/>
              </a:rPr>
              <a:t xml:space="preserve">Maya is the gamer concerned about fairness, Daniel is the reader with limited technical comfort, and Rosa is skeptical of AI. Their ages and sketches come from my Phase 1 slide. The arcade needs are design hypotheses, not new interview findings. Each of the five full task flows names the persona it serves. Source: original/Farshore_Phase12nd.pptx, slide 4; design packet persona page.</a:t>
            </a:r>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p:nvPr>
            <p:ph type="body" idx="1"/>
          </p:nvPr>
        </p:nvSpPr>
        <p:spPr/>
        <p:txBody>
          <a:bodyPr/>
          <a:lstStyle/>
          <a:p>
            <a:pPr>
              <a:lnSpc>
                <a:spcPct val="130000"/>
              </a:lnSpc>
            </a:pPr>
            <a:r>
              <a:rPr lang="en-US" sz="1200" b="0">
                <a:solidFill>
                  <a:srgbClr val="102E40"/>
                </a:solidFill>
                <a:latin typeface="Arial"/>
              </a:rPr>
              <a:t xml:space="preserve">Timing: 45 seconds.</a:t>
            </a:r>
            <a:endParaRPr lang="en-US"/>
          </a:p>
          <a:p>
            <a:pPr>
              <a:lnSpc>
                <a:spcPct val="130000"/>
              </a:lnSpc>
            </a:pPr>
            <a:r>
              <a:rPr lang="en-US" sz="1200" b="0">
                <a:solidFill>
                  <a:srgbClr val="102E40"/>
                </a:solidFill>
                <a:latin typeface="Arial"/>
              </a:rPr>
              <a:t xml:space="preserve"/>
            </a:r>
            <a:endParaRPr lang="en-US"/>
          </a:p>
          <a:p>
            <a:pPr>
              <a:lnSpc>
                <a:spcPct val="130000"/>
              </a:lnSpc>
            </a:pPr>
            <a:r>
              <a:rPr lang="en-US" sz="1200" b="0">
                <a:solidFill>
                  <a:srgbClr val="102E40"/>
                </a:solidFill>
                <a:latin typeface="Arial"/>
              </a:rPr>
              <a:t xml:space="preserve">The first path is Title, Introduction, Map and Briefing. A briefing opens one of five games, then a result either retries or unlocks the next shore. The fifth passage reaches Homecoming. Settings, Pause/leave, Restart and Assistance are shared overlays. The full packet inventories all fifteen screens and their content. F1 handles starting and learning. F5 handles progress, assistance and finishing. Source: src/ArcadeApp.tsx, round component and design packet S01-S15.</a:t>
            </a:r>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p:nvPr>
            <p:ph type="body" idx="1"/>
          </p:nvPr>
        </p:nvSpPr>
        <p:spPr/>
        <p:txBody>
          <a:bodyPr/>
          <a:lstStyle/>
          <a:p>
            <a:pPr>
              <a:lnSpc>
                <a:spcPct val="130000"/>
              </a:lnSpc>
            </a:pPr>
            <a:r>
              <a:rPr lang="en-US" sz="1200" b="0">
                <a:solidFill>
                  <a:srgbClr val="102E40"/>
                </a:solidFill>
                <a:latin typeface="Arial"/>
              </a:rPr>
              <a:t xml:space="preserve">Timing: 55 seconds.</a:t>
            </a:r>
            <a:endParaRPr lang="en-US"/>
          </a:p>
          <a:p>
            <a:pPr>
              <a:lnSpc>
                <a:spcPct val="130000"/>
              </a:lnSpc>
            </a:pPr>
            <a:r>
              <a:rPr lang="en-US" sz="1200" b="0">
                <a:solidFill>
                  <a:srgbClr val="102E40"/>
                </a:solidFill>
                <a:latin typeface="Arial"/>
              </a:rPr>
              <a:t xml:space="preserve"/>
            </a:r>
            <a:endParaRPr lang="en-US"/>
          </a:p>
          <a:p>
            <a:pPr>
              <a:lnSpc>
                <a:spcPct val="130000"/>
              </a:lnSpc>
            </a:pPr>
            <a:r>
              <a:rPr lang="en-US" sz="1200" b="0">
                <a:solidFill>
                  <a:srgbClr val="102E40"/>
                </a:solidFill>
                <a:latin typeface="Arial"/>
              </a:rPr>
              <a:t xml:space="preserve">The browser sends a shore ID, difficulty and at most two numeric attempts. The server derives the player observations and gives Llama a finite strategy catalog. It validates planId and focus and supplies an authored description. The player reviews it, then local game logic runs the match. Completed records and preferences stay in browser localStorage. Our measured endpoint is loopback Ollama. No third-party model provider receives these calls. A hosted endpoint would require a changed disclosure. Sources: server/arcade.ts, src/lib/arcade.ts, https://docs.ollama.com/api/openai-compatibility and https://docs.ollama.com/capabilities/structured-outputs, accessed October 8, 2026.</a:t>
            </a:r>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p:nvPr>
            <p:ph type="body" idx="1"/>
          </p:nvPr>
        </p:nvSpPr>
        <p:spPr/>
        <p:txBody>
          <a:bodyPr/>
          <a:lstStyle/>
          <a:p>
            <a:pPr>
              <a:lnSpc>
                <a:spcPct val="130000"/>
              </a:lnSpc>
            </a:pPr>
            <a:r>
              <a:rPr lang="en-US" sz="1200" b="0">
                <a:solidFill>
                  <a:srgbClr val="102E40"/>
                </a:solidFill>
                <a:latin typeface="Arial"/>
              </a:rPr>
              <a:t xml:space="preserve">Timing: 60 seconds.</a:t>
            </a:r>
            <a:endParaRPr lang="en-US"/>
          </a:p>
          <a:p>
            <a:pPr>
              <a:lnSpc>
                <a:spcPct val="130000"/>
              </a:lnSpc>
            </a:pPr>
            <a:r>
              <a:rPr lang="en-US" sz="1200" b="0">
                <a:solidFill>
                  <a:srgbClr val="102E40"/>
                </a:solidFill>
                <a:latin typeface="Arial"/>
              </a:rPr>
              <a:t xml:space="preserve"/>
            </a:r>
            <a:endParaRPr lang="en-US"/>
          </a:p>
          <a:p>
            <a:pPr>
              <a:lnSpc>
                <a:spcPct val="130000"/>
              </a:lnSpc>
            </a:pPr>
            <a:r>
              <a:rPr lang="en-US" sz="1200" b="0">
                <a:solidFill>
                  <a:srgbClr val="102E40"/>
                </a:solidFill>
                <a:latin typeface="Arial"/>
              </a:rPr>
              <a:t xml:space="preserve">After selecting AI Rival Battle, Prepare sends the model request. Loading shows elapsed seconds and Cancel. Server validation must succeed before a strategy can be shown. The player can read its description and start, regenerate, or change input. Changing difficulty or mode discards the plan. A dedicated Discard action is a design proposal for clearer undo of preparation. There is no score undo after a completed round. Source: F2 and W05-W09/W27; src/ArcadeApp.tsx prepare, cancelAi and setDifficulty.</a:t>
            </a:r>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p:nvPr>
            <p:ph type="body" idx="1"/>
          </p:nvPr>
        </p:nvSpPr>
        <p:spPr/>
        <p:txBody>
          <a:bodyPr/>
          <a:lstStyle/>
          <a:p>
            <a:pPr>
              <a:lnSpc>
                <a:spcPct val="130000"/>
              </a:lnSpc>
            </a:pPr>
            <a:r>
              <a:rPr lang="en-US" sz="1200" b="0">
                <a:solidFill>
                  <a:srgbClr val="102E40"/>
                </a:solidFill>
                <a:latin typeface="Arial"/>
              </a:rPr>
              <a:t xml:space="preserve">Timing: 45 seconds.</a:t>
            </a:r>
            <a:endParaRPr lang="en-US"/>
          </a:p>
          <a:p>
            <a:pPr>
              <a:lnSpc>
                <a:spcPct val="130000"/>
              </a:lnSpc>
            </a:pPr>
            <a:r>
              <a:rPr lang="en-US" sz="1200" b="0">
                <a:solidFill>
                  <a:srgbClr val="102E40"/>
                </a:solidFill>
                <a:latin typeface="Arial"/>
              </a:rPr>
              <a:t xml:space="preserve"/>
            </a:r>
            <a:endParaRPr lang="en-US"/>
          </a:p>
          <a:p>
            <a:pPr>
              <a:lnSpc>
                <a:spcPct val="130000"/>
              </a:lnSpc>
            </a:pPr>
            <a:r>
              <a:rPr lang="en-US" sz="1200" b="0">
                <a:solidFill>
                  <a:srgbClr val="102E40"/>
                </a:solidFill>
                <a:latin typeface="Arial"/>
              </a:rPr>
              <a:t xml:space="preserve">Gameplay differs at each shore, but the interaction cycle is shared: enter, act, observe the rival and reach a clear or loss condition. Local simulation owns the physics and scoring, even in a model-planned match. Hidden tabs or lost focus pause and release held controls. Loss offers retry, practice, the map or assistance. Practice changes no campaign progress. The packet includes all five play interfaces and major turns. Sources: F3, W11-W20, src/components/arcade-round.tsx and src/lib/mythic.ts.</a:t>
            </a:r>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p:nvPr>
            <p:ph type="body" idx="1"/>
          </p:nvPr>
        </p:nvSpPr>
        <p:spPr/>
        <p:txBody>
          <a:bodyPr/>
          <a:lstStyle/>
          <a:p>
            <a:pPr>
              <a:lnSpc>
                <a:spcPct val="130000"/>
              </a:lnSpc>
            </a:pPr>
            <a:r>
              <a:rPr lang="en-US" sz="1200" b="0">
                <a:solidFill>
                  <a:srgbClr val="102E40"/>
                </a:solidFill>
                <a:latin typeface="Arial"/>
              </a:rPr>
              <a:t xml:space="preserve">Timing: 45 seconds.</a:t>
            </a:r>
            <a:endParaRPr lang="en-US"/>
          </a:p>
          <a:p>
            <a:pPr>
              <a:lnSpc>
                <a:spcPct val="130000"/>
              </a:lnSpc>
            </a:pPr>
            <a:r>
              <a:rPr lang="en-US" sz="1200" b="0">
                <a:solidFill>
                  <a:srgbClr val="102E40"/>
                </a:solidFill>
                <a:latin typeface="Arial"/>
              </a:rPr>
              <a:t xml:space="preserve"/>
            </a:r>
            <a:endParaRPr lang="en-US"/>
          </a:p>
          <a:p>
            <a:pPr>
              <a:lnSpc>
                <a:spcPct val="130000"/>
              </a:lnSpc>
            </a:pPr>
            <a:r>
              <a:rPr lang="en-US" sz="1200" b="0">
                <a:solidFill>
                  <a:srgbClr val="102E40"/>
                </a:solidFill>
                <a:latin typeface="Arial"/>
              </a:rPr>
              <a:t xml:space="preserve">These grayscale wireframes show information hierarchy rather than game art. Initial makes the optional model action visible. Loading provides real feedback and Cancel. A prepared result names the strategy and explains that the selected difficulty stays fixed. Start is disabled while the request is pending. The measured maximum above ten seconds supports elapsed-time feedback and cancellation. Source: W05-W07 and current prepare states; professor Phase 2 brief page 2.</a:t>
            </a:r>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p:nvPr>
            <p:ph type="body" idx="1"/>
          </p:nvPr>
        </p:nvSpPr>
        <p:spPr/>
        <p:txBody>
          <a:bodyPr/>
          <a:lstStyle/>
          <a:p>
            <a:pPr>
              <a:lnSpc>
                <a:spcPct val="130000"/>
              </a:lnSpc>
            </a:pPr>
            <a:r>
              <a:rPr lang="en-US" sz="1200" b="0">
                <a:solidFill>
                  <a:srgbClr val="102E40"/>
                </a:solidFill>
                <a:latin typeface="Arial"/>
              </a:rPr>
              <a:t xml:space="preserve">Timing: 55 seconds.</a:t>
            </a:r>
            <a:endParaRPr lang="en-US"/>
          </a:p>
          <a:p>
            <a:pPr>
              <a:lnSpc>
                <a:spcPct val="130000"/>
              </a:lnSpc>
            </a:pPr>
            <a:r>
              <a:rPr lang="en-US" sz="1200" b="0">
                <a:solidFill>
                  <a:srgbClr val="102E40"/>
                </a:solidFill>
                <a:latin typeface="Arial"/>
              </a:rPr>
              <a:t xml:space="preserve"/>
            </a:r>
            <a:endParaRPr lang="en-US"/>
          </a:p>
          <a:p>
            <a:pPr>
              <a:lnSpc>
                <a:spcPct val="130000"/>
              </a:lnSpc>
            </a:pPr>
            <a:r>
              <a:rPr lang="en-US" sz="1200" b="0">
                <a:solidFill>
                  <a:srgbClr val="102E40"/>
                </a:solidFill>
                <a:latin typeface="Arial"/>
              </a:rPr>
              <a:t xml:space="preserve">An unsupported or empty model result cannot start a game. Finite allowed IDs and authored descriptions keep arbitrary prose out of the interface. A legal but unwanted strategy can still be regenerated or rejected. Connection failure, timeout and a busy provider preserve progress and provide explicit local play. Unsupported input returns guidance before inference. We show no confidence percentage because this generative model does not supply a calibrated probability. Source: F4, EC1-EC5, W08-W10, server/arcade.ts; professor confidence note on page 2.</a:t>
            </a:r>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p:nvPr>
            <p:ph type="body" idx="1"/>
          </p:nvPr>
        </p:nvSpPr>
        <p:spPr/>
        <p:txBody>
          <a:bodyPr/>
          <a:lstStyle/>
          <a:p>
            <a:pPr>
              <a:lnSpc>
                <a:spcPct val="130000"/>
              </a:lnSpc>
            </a:pPr>
            <a:r>
              <a:rPr lang="en-US" sz="1200" b="0">
                <a:solidFill>
                  <a:srgbClr val="102E40"/>
                </a:solidFill>
                <a:latin typeface="Arial"/>
              </a:rPr>
              <a:t xml:space="preserve">Timing: 65 seconds.</a:t>
            </a:r>
            <a:endParaRPr lang="en-US"/>
          </a:p>
          <a:p>
            <a:pPr>
              <a:lnSpc>
                <a:spcPct val="130000"/>
              </a:lnSpc>
            </a:pPr>
            <a:r>
              <a:rPr lang="en-US" sz="1200" b="0">
                <a:solidFill>
                  <a:srgbClr val="102E40"/>
                </a:solidFill>
                <a:latin typeface="Arial"/>
              </a:rPr>
              <a:t xml:space="preserve"/>
            </a:r>
            <a:endParaRPr lang="en-US"/>
          </a:p>
          <a:p>
            <a:pPr>
              <a:lnSpc>
                <a:spcPct val="130000"/>
              </a:lnSpc>
            </a:pPr>
            <a:r>
              <a:rPr lang="en-US" sz="1200" b="0">
                <a:solidFill>
                  <a:srgbClr val="102E40"/>
                </a:solidFill>
                <a:latin typeface="Arial"/>
              </a:rPr>
              <a:t xml:space="preserve">A standalone script calls the production adapter with six realistic current-use-case inputs and captures raw provider outputs. Temperature is zero, structured schema is strict, output cap is one hundred tokens and streaming is off. Report each latency, then minimum, arithmetic mean and maximum. All outputs are legal. First-time Cyclops and one-loss Strait differ from advisory prompt preferences. That demonstrates why validity is not the same as choosing the best tactics. Siren missed-lane targeting executes locally. This is not an accuracy or enjoyment benchmark. Sources: evidence/phase2-arcade-spike-2026-10-08.json, quality-review.json, scripts/phase2-arcade-spike.mjs.</a:t>
            </a:r>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p:nvPr>
            <p:ph type="body" idx="1"/>
          </p:nvPr>
        </p:nvSpPr>
        <p:spPr/>
        <p:txBody>
          <a:bodyPr/>
          <a:lstStyle/>
          <a:p>
            <a:pPr>
              <a:lnSpc>
                <a:spcPct val="130000"/>
              </a:lnSpc>
            </a:pPr>
            <a:r>
              <a:rPr lang="en-US" sz="1200" b="0">
                <a:solidFill>
                  <a:srgbClr val="102E40"/>
                </a:solidFill>
                <a:latin typeface="Arial"/>
              </a:rPr>
              <a:t xml:space="preserve">Timing: 65 seconds.</a:t>
            </a:r>
            <a:endParaRPr lang="en-US"/>
          </a:p>
          <a:p>
            <a:pPr>
              <a:lnSpc>
                <a:spcPct val="130000"/>
              </a:lnSpc>
            </a:pPr>
            <a:r>
              <a:rPr lang="en-US" sz="1200" b="0">
                <a:solidFill>
                  <a:srgbClr val="102E40"/>
                </a:solidFill>
                <a:latin typeface="Arial"/>
              </a:rPr>
              <a:t xml:space="preserve"/>
            </a:r>
            <a:endParaRPr lang="en-US"/>
          </a:p>
          <a:p>
            <a:pPr>
              <a:lnSpc>
                <a:spcPct val="130000"/>
              </a:lnSpc>
            </a:pPr>
            <a:r>
              <a:rPr lang="en-US" sz="1200" b="0">
                <a:solidFill>
                  <a:srgbClr val="102E40"/>
                </a:solidFill>
                <a:latin typeface="Arial"/>
              </a:rPr>
              <a:t xml:space="preserve">Two probes actually reach the model service: a nonexistent model returns 404 and malformed provider JSON returns 400 with unexpected EOF. Unsupported difficulty stops at the app boundary and returns 400. Exact error bodies are archived. No live rate-limit threshold or sustained load is measured. The adapter has a busy-service path for 429. Local inference produces no billed API fee in this run, but hardware and electricity cost are unmeasured. These results support visible preparation, elapsed time and Cancel, validated plans and retained progress with explicit fallback. Source: raw spike failure records and one-page summary.</a:t>
            </a:r>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p:nvPr>
            <p:ph type="body" idx="1"/>
          </p:nvPr>
        </p:nvSpPr>
        <p:spPr/>
        <p:txBody>
          <a:bodyPr/>
          <a:lstStyle/>
          <a:p>
            <a:pPr>
              <a:lnSpc>
                <a:spcPct val="130000"/>
              </a:lnSpc>
            </a:pPr>
            <a:r>
              <a:rPr lang="en-US" sz="1200" b="0">
                <a:solidFill>
                  <a:srgbClr val="102E40"/>
                </a:solidFill>
                <a:latin typeface="Arial"/>
              </a:rPr>
              <a:t xml:space="preserve">Timing: 40 seconds.</a:t>
            </a:r>
            <a:endParaRPr lang="en-US"/>
          </a:p>
          <a:p>
            <a:pPr>
              <a:lnSpc>
                <a:spcPct val="130000"/>
              </a:lnSpc>
            </a:pPr>
            <a:r>
              <a:rPr lang="en-US" sz="1200" b="0">
                <a:solidFill>
                  <a:srgbClr val="102E40"/>
                </a:solidFill>
                <a:latin typeface="Arial"/>
              </a:rPr>
              <a:t xml:space="preserve"/>
            </a:r>
            <a:endParaRPr lang="en-US"/>
          </a:p>
          <a:p>
            <a:pPr>
              <a:lnSpc>
                <a:spcPct val="130000"/>
              </a:lnSpc>
            </a:pPr>
            <a:r>
              <a:rPr lang="en-US" sz="1200" b="0">
                <a:solidFill>
                  <a:srgbClr val="102E40"/>
                </a:solidFill>
                <a:latin typeface="Arial"/>
              </a:rPr>
              <a:t xml:space="preserve">The prototype implements the core arcade loop and the model controls discussed today. Discard, explicit privacy detail and a persistent storage warning remain design proposals. Actual interviews and class critique require real people and are not invented in this package. The model remains provisional until player evaluation shows whether its strategy choices help. The supporting packet has every screen, five persona-labeled tasks, twenty-eight wireframes and exact technical evidence. Finish at ten minutes and invite the separate three-to-five-minute Q&amp;A. Sources: design packet and peer-critique record.</a:t>
            </a:r>
            <a:endParaRPr lang="en-US"/>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sldLayoutIdLst>
    <p:sldLayoutId id="2147483649" r:id="rId1"/>
  </p:sldLayoutIdLst>
  <p:txStyles>
    <p:titleStyle/>
    <p:bodyStyle/>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6.png"/></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02E40"/>
        </a:solidFill>
        <a:effectLst/>
      </p:bgPr>
    </p:bg>
    <p:spTree>
      <p:nvGrpSpPr>
        <p:cNvPr id="1" name=""/>
        <p:cNvGrpSpPr/>
        <p:nvPr/>
      </p:nvGrpSpPr>
      <p:grpSpPr>
        <a:xfrm>
          <a:off x="0" y="0"/>
          <a:ext cx="0" cy="0"/>
          <a:chOff x="0" y="0"/>
          <a:chExt cx="0" cy="0"/>
        </a:xfrm>
      </p:grpSpPr>
      <p:sp>
        <p:nvSpPr>
          <p:cNvPr id="2" name="FARSHORE"/>
          <p:cNvSpPr txBox="1"/>
          <p:nvPr/>
        </p:nvSpPr>
        <p:spPr>
          <a:xfrm>
            <a:off x="609600" y="1190625"/>
            <a:ext cx="5000625" cy="941756"/>
          </a:xfrm>
          <a:prstGeom prst="rect">
            <a:avLst/>
          </a:prstGeom>
          <a:noFill/>
          <a:ln>
            <a:noFill/>
          </a:ln>
        </p:spPr>
        <p:txBody>
          <a:bodyPr wrap="square" lIns="0" rIns="0" tIns="0" bIns="0" anchor="t">
            <a:noAutofit/>
          </a:bodyPr>
          <a:lstStyle/>
          <a:p>
            <a:pPr>
              <a:lnSpc>
                <a:spcPct val="130000"/>
              </a:lnSpc>
            </a:pPr>
            <a:r>
              <a:rPr lang="en-US" sz="4350" b="1">
                <a:solidFill>
                  <a:srgbClr val="FFFFFF"/>
                </a:solidFill>
                <a:latin typeface="Arial"/>
              </a:rPr>
              <a:t xml:space="preserve">FARSHORE</a:t>
            </a:r>
            <a:endParaRPr lang="en-US"/>
          </a:p>
        </p:txBody>
      </p:sp>
      <p:sp>
        <p:nvSpPr>
          <p:cNvPr id="3" name="The Odyssey: Arcade Trials"/>
          <p:cNvSpPr txBox="1"/>
          <p:nvPr/>
        </p:nvSpPr>
        <p:spPr>
          <a:xfrm>
            <a:off x="609600" y="2047875"/>
            <a:ext cx="5000625" cy="1409319"/>
          </a:xfrm>
          <a:prstGeom prst="rect">
            <a:avLst/>
          </a:prstGeom>
          <a:noFill/>
          <a:ln>
            <a:noFill/>
          </a:ln>
        </p:spPr>
        <p:txBody>
          <a:bodyPr wrap="square" lIns="0" rIns="0" tIns="0" bIns="0" anchor="t">
            <a:noAutofit/>
          </a:bodyPr>
          <a:lstStyle/>
          <a:p>
            <a:pPr>
              <a:lnSpc>
                <a:spcPct val="130000"/>
              </a:lnSpc>
            </a:pPr>
            <a:r>
              <a:rPr lang="en-US" sz="3375" b="0">
                <a:solidFill>
                  <a:srgbClr val="FFFFFF"/>
                </a:solidFill>
                <a:latin typeface="Arial"/>
              </a:rPr>
              <a:t xml:space="preserve">The Odyssey:</a:t>
            </a:r>
            <a:endParaRPr lang="en-US"/>
          </a:p>
          <a:p>
            <a:pPr>
              <a:lnSpc>
                <a:spcPct val="130000"/>
              </a:lnSpc>
            </a:pPr>
            <a:r>
              <a:rPr lang="en-US" sz="3375" b="0">
                <a:solidFill>
                  <a:srgbClr val="FFFFFF"/>
                </a:solidFill>
                <a:latin typeface="Arial"/>
              </a:rPr>
              <a:t xml:space="preserve">Arcade Trials</a:t>
            </a:r>
            <a:endParaRPr lang="en-US"/>
          </a:p>
        </p:txBody>
      </p:sp>
      <p:sp>
        <p:nvSpPr>
          <p:cNvPr id="4" name="Phase 2: Interface structure and AI interaction design"/>
          <p:cNvSpPr txBox="1"/>
          <p:nvPr/>
        </p:nvSpPr>
        <p:spPr>
          <a:xfrm>
            <a:off x="609600" y="3667125"/>
            <a:ext cx="5000625" cy="854088"/>
          </a:xfrm>
          <a:prstGeom prst="rect">
            <a:avLst/>
          </a:prstGeom>
          <a:noFill/>
          <a:ln>
            <a:noFill/>
          </a:ln>
        </p:spPr>
        <p:txBody>
          <a:bodyPr wrap="square" lIns="0" rIns="0" tIns="0" bIns="0" anchor="t">
            <a:noAutofit/>
          </a:bodyPr>
          <a:lstStyle/>
          <a:p>
            <a:pPr>
              <a:lnSpc>
                <a:spcPct val="130000"/>
              </a:lnSpc>
            </a:pPr>
            <a:r>
              <a:rPr lang="en-US" sz="1950" b="0">
                <a:solidFill>
                  <a:srgbClr val="BFD6DE"/>
                </a:solidFill>
                <a:latin typeface="Arial"/>
              </a:rPr>
              <a:t xml:space="preserve">Phase 2: Interface structure</a:t>
            </a:r>
            <a:endParaRPr lang="en-US"/>
          </a:p>
          <a:p>
            <a:pPr>
              <a:lnSpc>
                <a:spcPct val="130000"/>
              </a:lnSpc>
            </a:pPr>
            <a:r>
              <a:rPr lang="en-US" sz="1950" b="0">
                <a:solidFill>
                  <a:srgbClr val="BFD6DE"/>
                </a:solidFill>
                <a:latin typeface="Arial"/>
              </a:rPr>
              <a:t xml:space="preserve">and AI interaction design</a:t>
            </a:r>
            <a:endParaRPr lang="en-US"/>
          </a:p>
        </p:txBody>
      </p:sp>
      <p:sp>
        <p:nvSpPr>
          <p:cNvPr id="5" name="Bibek Pathak CMPS 4200 HCI / October 8, 2026"/>
          <p:cNvSpPr txBox="1"/>
          <p:nvPr/>
        </p:nvSpPr>
        <p:spPr>
          <a:xfrm>
            <a:off x="609600" y="5143500"/>
            <a:ext cx="5000625" cy="766420"/>
          </a:xfrm>
          <a:prstGeom prst="rect">
            <a:avLst/>
          </a:prstGeom>
          <a:noFill/>
          <a:ln>
            <a:noFill/>
          </a:ln>
        </p:spPr>
        <p:txBody>
          <a:bodyPr wrap="square" lIns="0" rIns="0" tIns="0" bIns="0" anchor="t">
            <a:noAutofit/>
          </a:bodyPr>
          <a:lstStyle/>
          <a:p>
            <a:pPr>
              <a:lnSpc>
                <a:spcPct val="130000"/>
              </a:lnSpc>
            </a:pPr>
            <a:r>
              <a:rPr lang="en-US" sz="1725" b="0">
                <a:solidFill>
                  <a:srgbClr val="BFD6DE"/>
                </a:solidFill>
                <a:latin typeface="Arial"/>
              </a:rPr>
              <a:t xml:space="preserve">Bibek Pathak</a:t>
            </a:r>
            <a:endParaRPr lang="en-US"/>
          </a:p>
          <a:p>
            <a:pPr>
              <a:lnSpc>
                <a:spcPct val="130000"/>
              </a:lnSpc>
            </a:pPr>
            <a:r>
              <a:rPr lang="en-US" sz="1725" b="0">
                <a:solidFill>
                  <a:srgbClr val="BFD6DE"/>
                </a:solidFill>
                <a:latin typeface="Arial"/>
              </a:rPr>
              <a:t xml:space="preserve">CMPS 4200 HCI / October 8, 2026</a:t>
            </a:r>
            <a:endParaRPr lang="en-US"/>
          </a:p>
        </p:txBody>
      </p:sp>
      <p:pic>
        <p:nvPicPr>
          <p:cNvPr id="6" name="Original title art"/>
          <p:cNvPicPr>
            <a:picLocks noChangeAspect="1"/>
          </p:cNvPicPr>
          <p:nvPr/>
        </p:nvPicPr>
        <p:blipFill>
          <a:blip r:embed="rId3"/>
          <a:stretch>
            <a:fillRect/>
          </a:stretch>
        </p:blipFill>
        <p:spPr>
          <a:xfrm>
            <a:off x="6191250" y="1524000"/>
            <a:ext cx="5381625" cy="3028773"/>
          </a:xfrm>
          <a:prstGeom prst="rect">
            <a:avLst/>
          </a:prstGeom>
        </p:spPr>
      </p:pic>
      <p:sp>
        <p:nvSpPr>
          <p:cNvPr id="7" name="Farshore / Phase 2 / 1"/>
          <p:cNvSpPr txBox="1"/>
          <p:nvPr/>
        </p:nvSpPr>
        <p:spPr>
          <a:xfrm>
            <a:off x="609600" y="6343650"/>
            <a:ext cx="10972800" cy="298856"/>
          </a:xfrm>
          <a:prstGeom prst="rect">
            <a:avLst/>
          </a:prstGeom>
          <a:noFill/>
          <a:ln>
            <a:noFill/>
          </a:ln>
        </p:spPr>
        <p:txBody>
          <a:bodyPr wrap="square" lIns="0" rIns="0" tIns="0" bIns="0" anchor="t">
            <a:noAutofit/>
          </a:bodyPr>
          <a:lstStyle/>
          <a:p>
            <a:pPr>
              <a:lnSpc>
                <a:spcPct val="130000"/>
              </a:lnSpc>
            </a:pPr>
            <a:r>
              <a:rPr lang="en-US" sz="1050" b="0">
                <a:solidFill>
                  <a:srgbClr val="9EB9C5"/>
                </a:solidFill>
                <a:latin typeface="Arial"/>
              </a:rPr>
              <a:t xml:space="preserve">Farshore / Phase 2 / 1</a:t>
            </a:r>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he five arcade trials"/>
          <p:cNvSpPr txBox="1"/>
          <p:nvPr/>
        </p:nvSpPr>
        <p:spPr>
          <a:xfrm>
            <a:off x="609600" y="400050"/>
            <a:ext cx="10972800" cy="795642"/>
          </a:xfrm>
          <a:prstGeom prst="rect">
            <a:avLst/>
          </a:prstGeom>
          <a:noFill/>
          <a:ln>
            <a:noFill/>
          </a:ln>
        </p:spPr>
        <p:txBody>
          <a:bodyPr wrap="square" lIns="0" rIns="0" tIns="0" bIns="0" anchor="t">
            <a:noAutofit/>
          </a:bodyPr>
          <a:lstStyle/>
          <a:p>
            <a:pPr>
              <a:lnSpc>
                <a:spcPct val="130000"/>
              </a:lnSpc>
            </a:pPr>
            <a:r>
              <a:rPr lang="en-US" sz="3600" b="1">
                <a:solidFill>
                  <a:srgbClr val="102E40"/>
                </a:solidFill>
                <a:latin typeface="Arial"/>
              </a:rPr>
              <a:t xml:space="preserve">The five arcade trials</a:t>
            </a:r>
            <a:endParaRPr lang="en-US"/>
          </a:p>
        </p:txBody>
      </p:sp>
      <p:sp>
        <p:nvSpPr>
          <p:cNvPr id="3" name="Each shore uses different controls and shows an active "/>
          <p:cNvSpPr txBox="1"/>
          <p:nvPr/>
        </p:nvSpPr>
        <p:spPr>
          <a:xfrm>
            <a:off x="609600" y="1009650"/>
            <a:ext cx="10972800" cy="386524"/>
          </a:xfrm>
          <a:prstGeom prst="rect">
            <a:avLst/>
          </a:prstGeom>
          <a:noFill/>
          <a:ln>
            <a:noFill/>
          </a:ln>
        </p:spPr>
        <p:txBody>
          <a:bodyPr wrap="square" lIns="0" rIns="0" tIns="0" bIns="0" anchor="t">
            <a:noAutofit/>
          </a:bodyPr>
          <a:lstStyle/>
          <a:p>
            <a:pPr>
              <a:lnSpc>
                <a:spcPct val="130000"/>
              </a:lnSpc>
            </a:pPr>
            <a:r>
              <a:rPr lang="en-US" sz="1500" b="0">
                <a:solidFill>
                  <a:srgbClr val="526875"/>
                </a:solidFill>
                <a:latin typeface="Arial"/>
              </a:rPr>
              <a:t xml:space="preserve">Each shore uses different controls and shows an active rival</a:t>
            </a:r>
            <a:endParaRPr lang="en-US"/>
          </a:p>
        </p:txBody>
      </p:sp>
      <p:graphicFrame>
        <p:nvGraphicFramePr>
          <p:cNvPr id="4" name="Editable evidence table"/>
          <p:cNvGraphicFramePr/>
          <p:nvPr/>
        </p:nvGraphicFramePr>
        <p:xfrm>
          <a:off x="609600" y="1714500"/>
          <a:ext cx="10953750" cy="3228975"/>
        </p:xfrm>
        <a:graphic>
          <a:graphicData uri="http://schemas.openxmlformats.org/drawingml/2006/table">
            <a:tbl>
              <a:tblPr firstRow="1" bandRow="0"/>
              <a:tblGrid>
                <a:gridCol w="2857500"/>
                <a:gridCol w="3476625"/>
                <a:gridCol w="4619625"/>
              </a:tblGrid>
              <a:tr h="538162">
                <a:tc>
                  <a:txBody>
                    <a:bodyPr lIns="114300" rIns="114300" tIns="76200" bIns="0"/>
                    <a:lstStyle/>
                    <a:p>
                      <a:pPr>
                        <a:lnSpc>
                          <a:spcPct val="130000"/>
                        </a:lnSpc>
                      </a:pPr>
                      <a:r>
                        <a:rPr lang="en-US" sz="1875" b="1">
                          <a:solidFill>
                            <a:srgbClr val="102E40"/>
                          </a:solidFill>
                          <a:latin typeface="Arial"/>
                        </a:rPr>
                        <a:t xml:space="preserve">Shore</a:t>
                      </a:r>
                      <a:endParaRPr lang="en-US"/>
                    </a:p>
                  </a:txBody>
                  <a:tcPr>
                    <a:solidFill>
                      <a:srgbClr val="DCE8EE"/>
                    </a:solidFill>
                  </a:tcPr>
                </a:tc>
                <a:tc>
                  <a:txBody>
                    <a:bodyPr lIns="114300" rIns="114300" tIns="76200" bIns="0"/>
                    <a:lstStyle/>
                    <a:p>
                      <a:pPr>
                        <a:lnSpc>
                          <a:spcPct val="130000"/>
                        </a:lnSpc>
                      </a:pPr>
                      <a:r>
                        <a:rPr lang="en-US" sz="1875" b="1">
                          <a:solidFill>
                            <a:srgbClr val="102E40"/>
                          </a:solidFill>
                          <a:latin typeface="Arial"/>
                        </a:rPr>
                        <a:t xml:space="preserve">Player interaction</a:t>
                      </a:r>
                      <a:endParaRPr lang="en-US"/>
                    </a:p>
                  </a:txBody>
                  <a:tcPr>
                    <a:solidFill>
                      <a:srgbClr val="DCE8EE"/>
                    </a:solidFill>
                  </a:tcPr>
                </a:tc>
                <a:tc>
                  <a:txBody>
                    <a:bodyPr lIns="114300" rIns="114300" tIns="76200" bIns="0"/>
                    <a:lstStyle/>
                    <a:p>
                      <a:pPr>
                        <a:lnSpc>
                          <a:spcPct val="130000"/>
                        </a:lnSpc>
                      </a:pPr>
                      <a:r>
                        <a:rPr lang="en-US" sz="1875" b="1">
                          <a:solidFill>
                            <a:srgbClr val="102E40"/>
                          </a:solidFill>
                          <a:latin typeface="Arial"/>
                        </a:rPr>
                        <a:t xml:space="preserve">Visible rival action</a:t>
                      </a:r>
                      <a:endParaRPr lang="en-US"/>
                    </a:p>
                  </a:txBody>
                  <a:tcPr>
                    <a:solidFill>
                      <a:srgbClr val="DCE8EE"/>
                    </a:solidFill>
                  </a:tcPr>
                </a:tc>
              </a:tr>
              <a:tr h="538162">
                <a:tc>
                  <a:txBody>
                    <a:bodyPr lIns="114300" rIns="114300" tIns="76200" bIns="0"/>
                    <a:lstStyle/>
                    <a:p>
                      <a:pPr>
                        <a:lnSpc>
                          <a:spcPct val="130000"/>
                        </a:lnSpc>
                      </a:pPr>
                      <a:r>
                        <a:rPr lang="en-US" sz="1875" b="0">
                          <a:solidFill>
                            <a:srgbClr val="102E40"/>
                          </a:solidFill>
                          <a:latin typeface="Arial"/>
                        </a:rPr>
                        <a:t xml:space="preserve">Cyclops</a:t>
                      </a:r>
                      <a:endParaRPr lang="en-US"/>
                    </a:p>
                  </a:txBody>
                  <a:tcPr>
                    <a:solidFill>
                      <a:srgbClr val="FFFFFF"/>
                    </a:solidFill>
                  </a:tcPr>
                </a:tc>
                <a:tc>
                  <a:txBody>
                    <a:bodyPr lIns="114300" rIns="114300" tIns="76200" bIns="0"/>
                    <a:lstStyle/>
                    <a:p>
                      <a:pPr>
                        <a:lnSpc>
                          <a:spcPct val="130000"/>
                        </a:lnSpc>
                      </a:pPr>
                      <a:r>
                        <a:rPr lang="en-US" sz="1875" b="0">
                          <a:solidFill>
                            <a:srgbClr val="102E40"/>
                          </a:solidFill>
                          <a:latin typeface="Arial"/>
                        </a:rPr>
                        <a:t xml:space="preserve">Grid stealth</a:t>
                      </a:r>
                      <a:endParaRPr lang="en-US"/>
                    </a:p>
                  </a:txBody>
                  <a:tcPr>
                    <a:solidFill>
                      <a:srgbClr val="FFFFFF"/>
                    </a:solidFill>
                  </a:tcPr>
                </a:tc>
                <a:tc>
                  <a:txBody>
                    <a:bodyPr lIns="114300" rIns="114300" tIns="76200" bIns="0"/>
                    <a:lstStyle/>
                    <a:p>
                      <a:pPr>
                        <a:lnSpc>
                          <a:spcPct val="130000"/>
                        </a:lnSpc>
                      </a:pPr>
                      <a:r>
                        <a:rPr lang="en-US" sz="1875" b="0">
                          <a:solidFill>
                            <a:srgbClr val="102E40"/>
                          </a:solidFill>
                          <a:latin typeface="Arial"/>
                        </a:rPr>
                        <a:t xml:space="preserve">Blind smash from noise clues</a:t>
                      </a:r>
                      <a:endParaRPr lang="en-US"/>
                    </a:p>
                  </a:txBody>
                  <a:tcPr>
                    <a:solidFill>
                      <a:srgbClr val="FFFFFF"/>
                    </a:solidFill>
                  </a:tcPr>
                </a:tc>
              </a:tr>
              <a:tr h="538162">
                <a:tc>
                  <a:txBody>
                    <a:bodyPr lIns="114300" rIns="114300" tIns="76200" bIns="0"/>
                    <a:lstStyle/>
                    <a:p>
                      <a:pPr>
                        <a:lnSpc>
                          <a:spcPct val="130000"/>
                        </a:lnSpc>
                      </a:pPr>
                      <a:r>
                        <a:rPr lang="en-US" sz="1875" b="0">
                          <a:solidFill>
                            <a:srgbClr val="102E40"/>
                          </a:solidFill>
                          <a:latin typeface="Arial"/>
                        </a:rPr>
                        <a:t xml:space="preserve">Circe</a:t>
                      </a:r>
                      <a:endParaRPr lang="en-US"/>
                    </a:p>
                  </a:txBody>
                  <a:tcPr>
                    <a:solidFill>
                      <a:srgbClr val="FFFFFF"/>
                    </a:solidFill>
                  </a:tcPr>
                </a:tc>
                <a:tc>
                  <a:txBody>
                    <a:bodyPr lIns="114300" rIns="114300" tIns="76200" bIns="0"/>
                    <a:lstStyle/>
                    <a:p>
                      <a:pPr>
                        <a:lnSpc>
                          <a:spcPct val="130000"/>
                        </a:lnSpc>
                      </a:pPr>
                      <a:r>
                        <a:rPr lang="en-US" sz="1875" b="0">
                          <a:solidFill>
                            <a:srgbClr val="102E40"/>
                          </a:solidFill>
                          <a:latin typeface="Arial"/>
                        </a:rPr>
                        <a:t xml:space="preserve">Falling-potion match-3</a:t>
                      </a:r>
                      <a:endParaRPr lang="en-US"/>
                    </a:p>
                  </a:txBody>
                  <a:tcPr>
                    <a:solidFill>
                      <a:srgbClr val="FFFFFF"/>
                    </a:solidFill>
                  </a:tcPr>
                </a:tc>
                <a:tc>
                  <a:txBody>
                    <a:bodyPr lIns="114300" rIns="114300" tIns="76200" bIns="0"/>
                    <a:lstStyle/>
                    <a:p>
                      <a:pPr>
                        <a:lnSpc>
                          <a:spcPct val="130000"/>
                        </a:lnSpc>
                      </a:pPr>
                      <a:r>
                        <a:rPr lang="en-US" sz="1875" b="0">
                          <a:solidFill>
                            <a:srgbClr val="102E40"/>
                          </a:solidFill>
                          <a:latin typeface="Arial"/>
                        </a:rPr>
                        <a:t xml:space="preserve">Own board, chains and curses</a:t>
                      </a:r>
                      <a:endParaRPr lang="en-US"/>
                    </a:p>
                  </a:txBody>
                  <a:tcPr>
                    <a:solidFill>
                      <a:srgbClr val="FFFFFF"/>
                    </a:solidFill>
                  </a:tcPr>
                </a:tc>
              </a:tr>
              <a:tr h="538162">
                <a:tc>
                  <a:txBody>
                    <a:bodyPr lIns="114300" rIns="114300" tIns="76200" bIns="0"/>
                    <a:lstStyle/>
                    <a:p>
                      <a:pPr>
                        <a:lnSpc>
                          <a:spcPct val="130000"/>
                        </a:lnSpc>
                      </a:pPr>
                      <a:r>
                        <a:rPr lang="en-US" sz="1875" b="0">
                          <a:solidFill>
                            <a:srgbClr val="102E40"/>
                          </a:solidFill>
                          <a:latin typeface="Arial"/>
                        </a:rPr>
                        <a:t xml:space="preserve">Sirens</a:t>
                      </a:r>
                      <a:endParaRPr lang="en-US"/>
                    </a:p>
                  </a:txBody>
                  <a:tcPr>
                    <a:solidFill>
                      <a:srgbClr val="FFFFFF"/>
                    </a:solidFill>
                  </a:tcPr>
                </a:tc>
                <a:tc>
                  <a:txBody>
                    <a:bodyPr lIns="114300" rIns="114300" tIns="76200" bIns="0"/>
                    <a:lstStyle/>
                    <a:p>
                      <a:pPr>
                        <a:lnSpc>
                          <a:spcPct val="130000"/>
                        </a:lnSpc>
                      </a:pPr>
                      <a:r>
                        <a:rPr lang="en-US" sz="1875" b="0">
                          <a:solidFill>
                            <a:srgbClr val="102E40"/>
                          </a:solidFill>
                          <a:latin typeface="Arial"/>
                        </a:rPr>
                        <a:t xml:space="preserve">Four-lane melody memory</a:t>
                      </a:r>
                      <a:endParaRPr lang="en-US"/>
                    </a:p>
                  </a:txBody>
                  <a:tcPr>
                    <a:solidFill>
                      <a:srgbClr val="FFFFFF"/>
                    </a:solidFill>
                  </a:tcPr>
                </a:tc>
                <a:tc>
                  <a:txBody>
                    <a:bodyPr lIns="114300" rIns="114300" tIns="76200" bIns="0"/>
                    <a:lstStyle/>
                    <a:p>
                      <a:pPr>
                        <a:lnSpc>
                          <a:spcPct val="130000"/>
                        </a:lnSpc>
                      </a:pPr>
                      <a:r>
                        <a:rPr lang="en-US" sz="1875" b="0">
                          <a:solidFill>
                            <a:srgbClr val="102E40"/>
                          </a:solidFill>
                          <a:latin typeface="Arial"/>
                        </a:rPr>
                        <a:t xml:space="preserve">Composes and targets missed lanes</a:t>
                      </a:r>
                      <a:endParaRPr lang="en-US"/>
                    </a:p>
                  </a:txBody>
                  <a:tcPr>
                    <a:solidFill>
                      <a:srgbClr val="FFFFFF"/>
                    </a:solidFill>
                  </a:tcPr>
                </a:tc>
              </a:tr>
              <a:tr h="538162">
                <a:tc>
                  <a:txBody>
                    <a:bodyPr lIns="114300" rIns="114300" tIns="76200" bIns="0"/>
                    <a:lstStyle/>
                    <a:p>
                      <a:pPr>
                        <a:lnSpc>
                          <a:spcPct val="130000"/>
                        </a:lnSpc>
                      </a:pPr>
                      <a:r>
                        <a:rPr lang="en-US" sz="1875" b="0">
                          <a:solidFill>
                            <a:srgbClr val="102E40"/>
                          </a:solidFill>
                          <a:latin typeface="Arial"/>
                        </a:rPr>
                        <a:t xml:space="preserve">Scylla &amp; Charybdis</a:t>
                      </a:r>
                      <a:endParaRPr lang="en-US"/>
                    </a:p>
                  </a:txBody>
                  <a:tcPr>
                    <a:solidFill>
                      <a:srgbClr val="FFFFFF"/>
                    </a:solidFill>
                  </a:tcPr>
                </a:tc>
                <a:tc>
                  <a:txBody>
                    <a:bodyPr lIns="114300" rIns="114300" tIns="76200" bIns="0"/>
                    <a:lstStyle/>
                    <a:p>
                      <a:pPr>
                        <a:lnSpc>
                          <a:spcPct val="130000"/>
                        </a:lnSpc>
                      </a:pPr>
                      <a:r>
                        <a:rPr lang="en-US" sz="1875" b="0">
                          <a:solidFill>
                            <a:srgbClr val="102E40"/>
                          </a:solidFill>
                          <a:latin typeface="Arial"/>
                        </a:rPr>
                        <a:t xml:space="preserve">Shield paddle and rowing</a:t>
                      </a:r>
                      <a:endParaRPr lang="en-US"/>
                    </a:p>
                  </a:txBody>
                  <a:tcPr>
                    <a:solidFill>
                      <a:srgbClr val="FFFFFF"/>
                    </a:solidFill>
                  </a:tcPr>
                </a:tc>
                <a:tc>
                  <a:txBody>
                    <a:bodyPr lIns="114300" rIns="114300" tIns="76200" bIns="0"/>
                    <a:lstStyle/>
                    <a:p>
                      <a:pPr>
                        <a:lnSpc>
                          <a:spcPct val="130000"/>
                        </a:lnSpc>
                      </a:pPr>
                      <a:r>
                        <a:rPr lang="en-US" sz="1875" b="0">
                          <a:solidFill>
                            <a:srgbClr val="102E40"/>
                          </a:solidFill>
                          <a:latin typeface="Arial"/>
                        </a:rPr>
                        <a:t xml:space="preserve">Six heads with pulsing vortex</a:t>
                      </a:r>
                      <a:endParaRPr lang="en-US"/>
                    </a:p>
                  </a:txBody>
                  <a:tcPr>
                    <a:solidFill>
                      <a:srgbClr val="FFFFFF"/>
                    </a:solidFill>
                  </a:tcPr>
                </a:tc>
              </a:tr>
              <a:tr h="538162">
                <a:tc>
                  <a:txBody>
                    <a:bodyPr lIns="114300" rIns="114300" tIns="76200" bIns="0"/>
                    <a:lstStyle/>
                    <a:p>
                      <a:pPr>
                        <a:lnSpc>
                          <a:spcPct val="130000"/>
                        </a:lnSpc>
                      </a:pPr>
                      <a:r>
                        <a:rPr lang="en-US" sz="1875" b="0">
                          <a:solidFill>
                            <a:srgbClr val="102E40"/>
                          </a:solidFill>
                          <a:latin typeface="Arial"/>
                        </a:rPr>
                        <a:t xml:space="preserve">Ithaca</a:t>
                      </a:r>
                      <a:endParaRPr lang="en-US"/>
                    </a:p>
                  </a:txBody>
                  <a:tcPr>
                    <a:solidFill>
                      <a:srgbClr val="FFFFFF"/>
                    </a:solidFill>
                  </a:tcPr>
                </a:tc>
                <a:tc>
                  <a:txBody>
                    <a:bodyPr lIns="114300" rIns="114300" tIns="76200" bIns="0"/>
                    <a:lstStyle/>
                    <a:p>
                      <a:pPr>
                        <a:lnSpc>
                          <a:spcPct val="130000"/>
                        </a:lnSpc>
                      </a:pPr>
                      <a:r>
                        <a:rPr lang="en-US" sz="1875" b="0">
                          <a:solidFill>
                            <a:srgbClr val="102E40"/>
                          </a:solidFill>
                          <a:latin typeface="Arial"/>
                        </a:rPr>
                        <a:t xml:space="preserve">Turn-based archery</a:t>
                      </a:r>
                      <a:endParaRPr lang="en-US"/>
                    </a:p>
                  </a:txBody>
                  <a:tcPr>
                    <a:solidFill>
                      <a:srgbClr val="FFFFFF"/>
                    </a:solidFill>
                  </a:tcPr>
                </a:tc>
                <a:tc>
                  <a:txBody>
                    <a:bodyPr lIns="114300" rIns="114300" tIns="76200" bIns="0"/>
                    <a:lstStyle/>
                    <a:p>
                      <a:pPr>
                        <a:lnSpc>
                          <a:spcPct val="130000"/>
                        </a:lnSpc>
                      </a:pPr>
                      <a:r>
                        <a:rPr lang="en-US" sz="1875" b="0">
                          <a:solidFill>
                            <a:srgbClr val="102E40"/>
                          </a:solidFill>
                          <a:latin typeface="Arial"/>
                        </a:rPr>
                        <a:t xml:space="preserve">Own scored shot or ring block</a:t>
                      </a:r>
                      <a:endParaRPr lang="en-US"/>
                    </a:p>
                  </a:txBody>
                  <a:tcPr>
                    <a:solidFill>
                      <a:srgbClr val="FFFFFF"/>
                    </a:solidFill>
                  </a:tcPr>
                </a:tc>
              </a:tr>
            </a:tbl>
          </a:graphicData>
        </a:graphic>
      </p:graphicFrame>
      <p:sp>
        <p:nvSpPr>
          <p:cNvPr id="5" name="Farshore / Phase 2 / 2"/>
          <p:cNvSpPr txBox="1"/>
          <p:nvPr/>
        </p:nvSpPr>
        <p:spPr>
          <a:xfrm>
            <a:off x="609600" y="6343650"/>
            <a:ext cx="10972800" cy="298856"/>
          </a:xfrm>
          <a:prstGeom prst="rect">
            <a:avLst/>
          </a:prstGeom>
          <a:noFill/>
          <a:ln>
            <a:noFill/>
          </a:ln>
        </p:spPr>
        <p:txBody>
          <a:bodyPr wrap="square" lIns="0" rIns="0" tIns="0" bIns="0" anchor="t">
            <a:noAutofit/>
          </a:bodyPr>
          <a:lstStyle/>
          <a:p>
            <a:pPr>
              <a:lnSpc>
                <a:spcPct val="130000"/>
              </a:lnSpc>
            </a:pPr>
            <a:r>
              <a:rPr lang="en-US" sz="1050" b="0">
                <a:solidFill>
                  <a:srgbClr val="526875"/>
                </a:solidFill>
                <a:latin typeface="Arial"/>
              </a:rPr>
              <a:t xml:space="preserve">Farshore / Phase 2 / 2</a:t>
            </a:r>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Players and design needs"/>
          <p:cNvSpPr txBox="1"/>
          <p:nvPr/>
        </p:nvSpPr>
        <p:spPr>
          <a:xfrm>
            <a:off x="609600" y="400050"/>
            <a:ext cx="10972800" cy="795642"/>
          </a:xfrm>
          <a:prstGeom prst="rect">
            <a:avLst/>
          </a:prstGeom>
          <a:noFill/>
          <a:ln>
            <a:noFill/>
          </a:ln>
        </p:spPr>
        <p:txBody>
          <a:bodyPr wrap="square" lIns="0" rIns="0" tIns="0" bIns="0" anchor="t">
            <a:noAutofit/>
          </a:bodyPr>
          <a:lstStyle/>
          <a:p>
            <a:pPr>
              <a:lnSpc>
                <a:spcPct val="130000"/>
              </a:lnSpc>
            </a:pPr>
            <a:r>
              <a:rPr lang="en-US" sz="3600" b="1">
                <a:solidFill>
                  <a:srgbClr val="102E40"/>
                </a:solidFill>
                <a:latin typeface="Arial"/>
              </a:rPr>
              <a:t xml:space="preserve">Players and design needs</a:t>
            </a:r>
            <a:endParaRPr lang="en-US"/>
          </a:p>
        </p:txBody>
      </p:sp>
      <p:sp>
        <p:nvSpPr>
          <p:cNvPr id="3" name="Phase 1 persona sketches guide the flows"/>
          <p:cNvSpPr txBox="1"/>
          <p:nvPr/>
        </p:nvSpPr>
        <p:spPr>
          <a:xfrm>
            <a:off x="609600" y="1009650"/>
            <a:ext cx="10972800" cy="386524"/>
          </a:xfrm>
          <a:prstGeom prst="rect">
            <a:avLst/>
          </a:prstGeom>
          <a:noFill/>
          <a:ln>
            <a:noFill/>
          </a:ln>
        </p:spPr>
        <p:txBody>
          <a:bodyPr wrap="square" lIns="0" rIns="0" tIns="0" bIns="0" anchor="t">
            <a:noAutofit/>
          </a:bodyPr>
          <a:lstStyle/>
          <a:p>
            <a:pPr>
              <a:lnSpc>
                <a:spcPct val="130000"/>
              </a:lnSpc>
            </a:pPr>
            <a:r>
              <a:rPr lang="en-US" sz="1500" b="0">
                <a:solidFill>
                  <a:srgbClr val="526875"/>
                </a:solidFill>
                <a:latin typeface="Arial"/>
              </a:rPr>
              <a:t xml:space="preserve">Phase 1 persona sketches guide the flows</a:t>
            </a:r>
            <a:endParaRPr lang="en-US"/>
          </a:p>
        </p:txBody>
      </p:sp>
      <p:sp>
        <p:nvSpPr>
          <p:cNvPr id="4" name="Maya, 21"/>
          <p:cNvSpPr txBox="1"/>
          <p:nvPr/>
        </p:nvSpPr>
        <p:spPr>
          <a:xfrm>
            <a:off x="609600" y="1809750"/>
            <a:ext cx="3333750" cy="576472"/>
          </a:xfrm>
          <a:prstGeom prst="rect">
            <a:avLst/>
          </a:prstGeom>
          <a:noFill/>
          <a:ln>
            <a:noFill/>
          </a:ln>
        </p:spPr>
        <p:txBody>
          <a:bodyPr wrap="square" lIns="0" rIns="0" tIns="0" bIns="0" anchor="t">
            <a:noAutofit/>
          </a:bodyPr>
          <a:lstStyle/>
          <a:p>
            <a:pPr>
              <a:lnSpc>
                <a:spcPct val="130000"/>
              </a:lnSpc>
            </a:pPr>
            <a:r>
              <a:rPr lang="en-US" sz="2475" b="1">
                <a:solidFill>
                  <a:srgbClr val="102E40"/>
                </a:solidFill>
                <a:latin typeface="Arial"/>
              </a:rPr>
              <a:t xml:space="preserve">Maya, 21</a:t>
            </a:r>
            <a:endParaRPr lang="en-US"/>
          </a:p>
        </p:txBody>
      </p:sp>
      <p:sp>
        <p:nvSpPr>
          <p:cNvPr id="5" name="Win through skill and understand why the rival behaves "/>
          <p:cNvSpPr txBox="1"/>
          <p:nvPr/>
        </p:nvSpPr>
        <p:spPr>
          <a:xfrm>
            <a:off x="609600" y="2476500"/>
            <a:ext cx="3333750" cy="1233983"/>
          </a:xfrm>
          <a:prstGeom prst="rect">
            <a:avLst/>
          </a:prstGeom>
          <a:noFill/>
          <a:ln>
            <a:noFill/>
          </a:ln>
        </p:spPr>
        <p:txBody>
          <a:bodyPr wrap="square" lIns="0" rIns="0" tIns="0" bIns="0" anchor="t">
            <a:noAutofit/>
          </a:bodyPr>
          <a:lstStyle/>
          <a:p>
            <a:pPr>
              <a:lnSpc>
                <a:spcPct val="130000"/>
              </a:lnSpc>
            </a:pPr>
            <a:r>
              <a:rPr lang="en-US" sz="1950" b="0">
                <a:solidFill>
                  <a:srgbClr val="102E40"/>
                </a:solidFill>
                <a:latin typeface="Arial"/>
              </a:rPr>
              <a:t xml:space="preserve">Win through skill and understand why the rival behaves differently.</a:t>
            </a:r>
            <a:endParaRPr lang="en-US"/>
          </a:p>
        </p:txBody>
      </p:sp>
      <p:sp>
        <p:nvSpPr>
          <p:cNvPr id="6" name="Fixed rules and visible rival warnings."/>
          <p:cNvSpPr txBox="1"/>
          <p:nvPr/>
        </p:nvSpPr>
        <p:spPr>
          <a:xfrm>
            <a:off x="609600" y="4048125"/>
            <a:ext cx="3333750" cy="854088"/>
          </a:xfrm>
          <a:prstGeom prst="rect">
            <a:avLst/>
          </a:prstGeom>
          <a:noFill/>
          <a:ln>
            <a:noFill/>
          </a:ln>
        </p:spPr>
        <p:txBody>
          <a:bodyPr wrap="square" lIns="0" rIns="0" tIns="0" bIns="0" anchor="t">
            <a:noAutofit/>
          </a:bodyPr>
          <a:lstStyle/>
          <a:p>
            <a:pPr>
              <a:lnSpc>
                <a:spcPct val="130000"/>
              </a:lnSpc>
            </a:pPr>
            <a:r>
              <a:rPr lang="en-US" sz="1950" b="0">
                <a:solidFill>
                  <a:srgbClr val="126978"/>
                </a:solidFill>
                <a:latin typeface="Arial"/>
              </a:rPr>
              <a:t xml:space="preserve">Fixed rules and visible rival warnings.</a:t>
            </a:r>
            <a:endParaRPr lang="en-US"/>
          </a:p>
        </p:txBody>
      </p:sp>
      <p:sp>
        <p:nvSpPr>
          <p:cNvPr id="7" name="Daniel, 19"/>
          <p:cNvSpPr txBox="1"/>
          <p:nvPr/>
        </p:nvSpPr>
        <p:spPr>
          <a:xfrm>
            <a:off x="4419600" y="1809750"/>
            <a:ext cx="3333750" cy="576472"/>
          </a:xfrm>
          <a:prstGeom prst="rect">
            <a:avLst/>
          </a:prstGeom>
          <a:noFill/>
          <a:ln>
            <a:noFill/>
          </a:ln>
        </p:spPr>
        <p:txBody>
          <a:bodyPr wrap="square" lIns="0" rIns="0" tIns="0" bIns="0" anchor="t">
            <a:noAutofit/>
          </a:bodyPr>
          <a:lstStyle/>
          <a:p>
            <a:pPr>
              <a:lnSpc>
                <a:spcPct val="130000"/>
              </a:lnSpc>
            </a:pPr>
            <a:r>
              <a:rPr lang="en-US" sz="2475" b="1">
                <a:solidFill>
                  <a:srgbClr val="102E40"/>
                </a:solidFill>
                <a:latin typeface="Arial"/>
              </a:rPr>
              <a:t xml:space="preserve">Daniel, 19</a:t>
            </a:r>
            <a:endParaRPr lang="en-US"/>
          </a:p>
        </p:txBody>
      </p:sp>
      <p:sp>
        <p:nvSpPr>
          <p:cNvPr id="8" name="Experience the Odyssey without a confusing first encoun"/>
          <p:cNvSpPr txBox="1"/>
          <p:nvPr/>
        </p:nvSpPr>
        <p:spPr>
          <a:xfrm>
            <a:off x="4419600" y="2476500"/>
            <a:ext cx="3333750" cy="1233983"/>
          </a:xfrm>
          <a:prstGeom prst="rect">
            <a:avLst/>
          </a:prstGeom>
          <a:noFill/>
          <a:ln>
            <a:noFill/>
          </a:ln>
        </p:spPr>
        <p:txBody>
          <a:bodyPr wrap="square" lIns="0" rIns="0" tIns="0" bIns="0" anchor="t">
            <a:noAutofit/>
          </a:bodyPr>
          <a:lstStyle/>
          <a:p>
            <a:pPr>
              <a:lnSpc>
                <a:spcPct val="130000"/>
              </a:lnSpc>
            </a:pPr>
            <a:r>
              <a:rPr lang="en-US" sz="1950" b="0">
                <a:solidFill>
                  <a:srgbClr val="102E40"/>
                </a:solidFill>
                <a:latin typeface="Arial"/>
              </a:rPr>
              <a:t xml:space="preserve">Experience the Odyssey without a confusing first encounter.</a:t>
            </a:r>
            <a:endParaRPr lang="en-US"/>
          </a:p>
        </p:txBody>
      </p:sp>
      <p:sp>
        <p:nvSpPr>
          <p:cNvPr id="9" name="Short practice and one clear objective per shore."/>
          <p:cNvSpPr txBox="1"/>
          <p:nvPr/>
        </p:nvSpPr>
        <p:spPr>
          <a:xfrm>
            <a:off x="4419600" y="4048125"/>
            <a:ext cx="3333750" cy="854088"/>
          </a:xfrm>
          <a:prstGeom prst="rect">
            <a:avLst/>
          </a:prstGeom>
          <a:noFill/>
          <a:ln>
            <a:noFill/>
          </a:ln>
        </p:spPr>
        <p:txBody>
          <a:bodyPr wrap="square" lIns="0" rIns="0" tIns="0" bIns="0" anchor="t">
            <a:noAutofit/>
          </a:bodyPr>
          <a:lstStyle/>
          <a:p>
            <a:pPr>
              <a:lnSpc>
                <a:spcPct val="130000"/>
              </a:lnSpc>
            </a:pPr>
            <a:r>
              <a:rPr lang="en-US" sz="1950" b="0">
                <a:solidFill>
                  <a:srgbClr val="126978"/>
                </a:solidFill>
                <a:latin typeface="Arial"/>
              </a:rPr>
              <a:t xml:space="preserve">Short practice and one clear objective per shore.</a:t>
            </a:r>
            <a:endParaRPr lang="en-US"/>
          </a:p>
        </p:txBody>
      </p:sp>
      <p:sp>
        <p:nvSpPr>
          <p:cNvPr id="10" name="Rosa, 34"/>
          <p:cNvSpPr txBox="1"/>
          <p:nvPr/>
        </p:nvSpPr>
        <p:spPr>
          <a:xfrm>
            <a:off x="8229600" y="1809750"/>
            <a:ext cx="3333750" cy="576472"/>
          </a:xfrm>
          <a:prstGeom prst="rect">
            <a:avLst/>
          </a:prstGeom>
          <a:noFill/>
          <a:ln>
            <a:noFill/>
          </a:ln>
        </p:spPr>
        <p:txBody>
          <a:bodyPr wrap="square" lIns="0" rIns="0" tIns="0" bIns="0" anchor="t">
            <a:noAutofit/>
          </a:bodyPr>
          <a:lstStyle/>
          <a:p>
            <a:pPr>
              <a:lnSpc>
                <a:spcPct val="130000"/>
              </a:lnSpc>
            </a:pPr>
            <a:r>
              <a:rPr lang="en-US" sz="2475" b="1">
                <a:solidFill>
                  <a:srgbClr val="102E40"/>
                </a:solidFill>
                <a:latin typeface="Arial"/>
              </a:rPr>
              <a:t xml:space="preserve">Rosa, 34</a:t>
            </a:r>
            <a:endParaRPr lang="en-US"/>
          </a:p>
        </p:txBody>
      </p:sp>
      <p:sp>
        <p:nvSpPr>
          <p:cNvPr id="11" name="Know what the model changes and keep control over its r"/>
          <p:cNvSpPr txBox="1"/>
          <p:nvPr/>
        </p:nvSpPr>
        <p:spPr>
          <a:xfrm>
            <a:off x="8229600" y="2476500"/>
            <a:ext cx="3333750" cy="1233983"/>
          </a:xfrm>
          <a:prstGeom prst="rect">
            <a:avLst/>
          </a:prstGeom>
          <a:noFill/>
          <a:ln>
            <a:noFill/>
          </a:ln>
        </p:spPr>
        <p:txBody>
          <a:bodyPr wrap="square" lIns="0" rIns="0" tIns="0" bIns="0" anchor="t">
            <a:noAutofit/>
          </a:bodyPr>
          <a:lstStyle/>
          <a:p>
            <a:pPr>
              <a:lnSpc>
                <a:spcPct val="130000"/>
              </a:lnSpc>
            </a:pPr>
            <a:r>
              <a:rPr lang="en-US" sz="1950" b="0">
                <a:solidFill>
                  <a:srgbClr val="102E40"/>
                </a:solidFill>
                <a:latin typeface="Arial"/>
              </a:rPr>
              <a:t xml:space="preserve">Know what the model changes and keep control over its result.</a:t>
            </a:r>
            <a:endParaRPr lang="en-US"/>
          </a:p>
        </p:txBody>
      </p:sp>
      <p:sp>
        <p:nvSpPr>
          <p:cNvPr id="12" name="Model labels, strategy review and a usable fallback."/>
          <p:cNvSpPr txBox="1"/>
          <p:nvPr/>
        </p:nvSpPr>
        <p:spPr>
          <a:xfrm>
            <a:off x="8229600" y="4048125"/>
            <a:ext cx="3333750" cy="854088"/>
          </a:xfrm>
          <a:prstGeom prst="rect">
            <a:avLst/>
          </a:prstGeom>
          <a:noFill/>
          <a:ln>
            <a:noFill/>
          </a:ln>
        </p:spPr>
        <p:txBody>
          <a:bodyPr wrap="square" lIns="0" rIns="0" tIns="0" bIns="0" anchor="t">
            <a:noAutofit/>
          </a:bodyPr>
          <a:lstStyle/>
          <a:p>
            <a:pPr>
              <a:lnSpc>
                <a:spcPct val="130000"/>
              </a:lnSpc>
            </a:pPr>
            <a:r>
              <a:rPr lang="en-US" sz="1950" b="0">
                <a:solidFill>
                  <a:srgbClr val="126978"/>
                </a:solidFill>
                <a:latin typeface="Arial"/>
              </a:rPr>
              <a:t xml:space="preserve">Model labels, strategy review and a usable fallback.</a:t>
            </a:r>
            <a:endParaRPr lang="en-US"/>
          </a:p>
        </p:txBody>
      </p:sp>
      <p:sp>
        <p:nvSpPr>
          <p:cNvPr id="13" name="Provisional design references. Interview evidence has n"/>
          <p:cNvSpPr txBox="1"/>
          <p:nvPr/>
        </p:nvSpPr>
        <p:spPr>
          <a:xfrm>
            <a:off x="609600" y="5876925"/>
            <a:ext cx="10858500" cy="430359"/>
          </a:xfrm>
          <a:prstGeom prst="rect">
            <a:avLst/>
          </a:prstGeom>
          <a:noFill/>
          <a:ln>
            <a:noFill/>
          </a:ln>
        </p:spPr>
        <p:txBody>
          <a:bodyPr wrap="square" lIns="0" rIns="0" tIns="0" bIns="0" anchor="t">
            <a:noAutofit/>
          </a:bodyPr>
          <a:lstStyle/>
          <a:p>
            <a:pPr>
              <a:lnSpc>
                <a:spcPct val="130000"/>
              </a:lnSpc>
            </a:pPr>
            <a:r>
              <a:rPr lang="en-US" sz="1725" b="0">
                <a:solidFill>
                  <a:srgbClr val="526875"/>
                </a:solidFill>
                <a:latin typeface="Arial"/>
              </a:rPr>
              <a:t xml:space="preserve">Provisional design references. Interview evidence has not been supplied.</a:t>
            </a:r>
            <a:endParaRPr lang="en-US"/>
          </a:p>
        </p:txBody>
      </p:sp>
      <p:sp>
        <p:nvSpPr>
          <p:cNvPr id="14" name="Farshore / Phase 2 / 3"/>
          <p:cNvSpPr txBox="1"/>
          <p:nvPr/>
        </p:nvSpPr>
        <p:spPr>
          <a:xfrm>
            <a:off x="609600" y="6343650"/>
            <a:ext cx="10972800" cy="298856"/>
          </a:xfrm>
          <a:prstGeom prst="rect">
            <a:avLst/>
          </a:prstGeom>
          <a:noFill/>
          <a:ln>
            <a:noFill/>
          </a:ln>
        </p:spPr>
        <p:txBody>
          <a:bodyPr wrap="square" lIns="0" rIns="0" tIns="0" bIns="0" anchor="t">
            <a:noAutofit/>
          </a:bodyPr>
          <a:lstStyle/>
          <a:p>
            <a:pPr>
              <a:lnSpc>
                <a:spcPct val="130000"/>
              </a:lnSpc>
            </a:pPr>
            <a:r>
              <a:rPr lang="en-US" sz="1050" b="0">
                <a:solidFill>
                  <a:srgbClr val="526875"/>
                </a:solidFill>
                <a:latin typeface="Arial"/>
              </a:rPr>
              <a:t xml:space="preserve">Farshore / Phase 2 / 3</a:t>
            </a:r>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creen hierarchy"/>
          <p:cNvSpPr txBox="1"/>
          <p:nvPr/>
        </p:nvSpPr>
        <p:spPr>
          <a:xfrm>
            <a:off x="609600" y="400050"/>
            <a:ext cx="10972800" cy="795642"/>
          </a:xfrm>
          <a:prstGeom prst="rect">
            <a:avLst/>
          </a:prstGeom>
          <a:noFill/>
          <a:ln>
            <a:noFill/>
          </a:ln>
        </p:spPr>
        <p:txBody>
          <a:bodyPr wrap="square" lIns="0" rIns="0" tIns="0" bIns="0" anchor="t">
            <a:noAutofit/>
          </a:bodyPr>
          <a:lstStyle/>
          <a:p>
            <a:pPr>
              <a:lnSpc>
                <a:spcPct val="130000"/>
              </a:lnSpc>
            </a:pPr>
            <a:r>
              <a:rPr lang="en-US" sz="3600" b="1">
                <a:solidFill>
                  <a:srgbClr val="102E40"/>
                </a:solidFill>
                <a:latin typeface="Arial"/>
              </a:rPr>
              <a:t xml:space="preserve">Screen hierarchy</a:t>
            </a:r>
            <a:endParaRPr lang="en-US"/>
          </a:p>
        </p:txBody>
      </p:sp>
      <p:sp>
        <p:nvSpPr>
          <p:cNvPr id="3" name="A1 in the briefing is the only pretrained-model feature"/>
          <p:cNvSpPr txBox="1"/>
          <p:nvPr/>
        </p:nvSpPr>
        <p:spPr>
          <a:xfrm>
            <a:off x="609600" y="1009650"/>
            <a:ext cx="10972800" cy="386524"/>
          </a:xfrm>
          <a:prstGeom prst="rect">
            <a:avLst/>
          </a:prstGeom>
          <a:noFill/>
          <a:ln>
            <a:noFill/>
          </a:ln>
        </p:spPr>
        <p:txBody>
          <a:bodyPr wrap="square" lIns="0" rIns="0" tIns="0" bIns="0" anchor="t">
            <a:noAutofit/>
          </a:bodyPr>
          <a:lstStyle/>
          <a:p>
            <a:pPr>
              <a:lnSpc>
                <a:spcPct val="130000"/>
              </a:lnSpc>
            </a:pPr>
            <a:r>
              <a:rPr lang="en-US" sz="1500" b="0">
                <a:solidFill>
                  <a:srgbClr val="526875"/>
                </a:solidFill>
                <a:latin typeface="Arial"/>
              </a:rPr>
              <a:t xml:space="preserve">A1 in the briefing is the only pretrained-model feature</a:t>
            </a:r>
            <a:endParaRPr lang="en-US"/>
          </a:p>
        </p:txBody>
      </p:sp>
      <p:sp>
        <p:nvSpPr>
          <p:cNvPr id="4" name="rect"/>
          <p:cNvSpPr txBox="0"/>
          <p:nvPr/>
        </p:nvSpPr>
        <p:spPr>
          <a:xfrm>
            <a:off x="609600" y="1666875"/>
            <a:ext cx="1888435" cy="516007"/>
          </a:xfrm>
          <a:prstGeom prst="rect">
            <a:avLst/>
          </a:prstGeom>
          <a:solidFill>
            <a:srgbClr val="F7FAFB"/>
          </a:solidFill>
          <a:ln w="12700">
            <a:solidFill>
              <a:srgbClr val="79909B"/>
            </a:solidFill>
          </a:ln>
        </p:spPr>
      </p:sp>
      <p:sp>
        <p:nvSpPr>
          <p:cNvPr id="5" name="S01 Title"/>
          <p:cNvSpPr txBox="1"/>
          <p:nvPr/>
        </p:nvSpPr>
        <p:spPr>
          <a:xfrm>
            <a:off x="704022" y="1759019"/>
            <a:ext cx="1699591" cy="398468"/>
          </a:xfrm>
          <a:prstGeom prst="rect">
            <a:avLst/>
          </a:prstGeom>
          <a:noFill/>
          <a:ln>
            <a:noFill/>
          </a:ln>
        </p:spPr>
        <p:txBody>
          <a:bodyPr wrap="square" lIns="0" rIns="0" tIns="0" bIns="0" anchor="t">
            <a:noAutofit/>
          </a:bodyPr>
          <a:lstStyle/>
          <a:p>
            <a:pPr>
              <a:lnSpc>
                <a:spcPct val="130000"/>
              </a:lnSpc>
            </a:pPr>
            <a:r>
              <a:rPr lang="en-US" sz="1561" b="1">
                <a:solidFill>
                  <a:srgbClr val="102E40"/>
                </a:solidFill>
                <a:latin typeface="Arial"/>
              </a:rPr>
              <a:t xml:space="preserve">S01 Title</a:t>
            </a:r>
            <a:endParaRPr lang="en-US"/>
          </a:p>
        </p:txBody>
      </p:sp>
      <p:sp>
        <p:nvSpPr>
          <p:cNvPr id="6" name="rect"/>
          <p:cNvSpPr txBox="0"/>
          <p:nvPr/>
        </p:nvSpPr>
        <p:spPr>
          <a:xfrm>
            <a:off x="3064565" y="1666875"/>
            <a:ext cx="1982857" cy="516007"/>
          </a:xfrm>
          <a:prstGeom prst="rect">
            <a:avLst/>
          </a:prstGeom>
          <a:solidFill>
            <a:srgbClr val="F7FAFB"/>
          </a:solidFill>
          <a:ln w="12700">
            <a:solidFill>
              <a:srgbClr val="79909B"/>
            </a:solidFill>
          </a:ln>
        </p:spPr>
      </p:sp>
      <p:sp>
        <p:nvSpPr>
          <p:cNvPr id="7" name="S02 Intro"/>
          <p:cNvSpPr txBox="1"/>
          <p:nvPr/>
        </p:nvSpPr>
        <p:spPr>
          <a:xfrm>
            <a:off x="3158987" y="1759019"/>
            <a:ext cx="1794013" cy="398468"/>
          </a:xfrm>
          <a:prstGeom prst="rect">
            <a:avLst/>
          </a:prstGeom>
          <a:noFill/>
          <a:ln>
            <a:noFill/>
          </a:ln>
        </p:spPr>
        <p:txBody>
          <a:bodyPr wrap="square" lIns="0" rIns="0" tIns="0" bIns="0" anchor="t">
            <a:noAutofit/>
          </a:bodyPr>
          <a:lstStyle/>
          <a:p>
            <a:pPr>
              <a:lnSpc>
                <a:spcPct val="130000"/>
              </a:lnSpc>
            </a:pPr>
            <a:r>
              <a:rPr lang="en-US" sz="1561" b="1">
                <a:solidFill>
                  <a:srgbClr val="102E40"/>
                </a:solidFill>
                <a:latin typeface="Arial"/>
              </a:rPr>
              <a:t xml:space="preserve">S02 Intro</a:t>
            </a:r>
            <a:endParaRPr lang="en-US"/>
          </a:p>
        </p:txBody>
      </p:sp>
      <p:sp>
        <p:nvSpPr>
          <p:cNvPr id="8" name="rect"/>
          <p:cNvSpPr txBox="0"/>
          <p:nvPr/>
        </p:nvSpPr>
        <p:spPr>
          <a:xfrm>
            <a:off x="5613952" y="1666875"/>
            <a:ext cx="2077278" cy="516007"/>
          </a:xfrm>
          <a:prstGeom prst="rect">
            <a:avLst/>
          </a:prstGeom>
          <a:solidFill>
            <a:srgbClr val="F7FAFB"/>
          </a:solidFill>
          <a:ln w="12700">
            <a:solidFill>
              <a:srgbClr val="79909B"/>
            </a:solidFill>
          </a:ln>
        </p:spPr>
      </p:sp>
      <p:sp>
        <p:nvSpPr>
          <p:cNvPr id="9" name="S03 Map"/>
          <p:cNvSpPr txBox="1"/>
          <p:nvPr/>
        </p:nvSpPr>
        <p:spPr>
          <a:xfrm>
            <a:off x="5708374" y="1759019"/>
            <a:ext cx="1888435" cy="398468"/>
          </a:xfrm>
          <a:prstGeom prst="rect">
            <a:avLst/>
          </a:prstGeom>
          <a:noFill/>
          <a:ln>
            <a:noFill/>
          </a:ln>
        </p:spPr>
        <p:txBody>
          <a:bodyPr wrap="square" lIns="0" rIns="0" tIns="0" bIns="0" anchor="t">
            <a:noAutofit/>
          </a:bodyPr>
          <a:lstStyle/>
          <a:p>
            <a:pPr>
              <a:lnSpc>
                <a:spcPct val="130000"/>
              </a:lnSpc>
            </a:pPr>
            <a:r>
              <a:rPr lang="en-US" sz="1561" b="1">
                <a:solidFill>
                  <a:srgbClr val="102E40"/>
                </a:solidFill>
                <a:latin typeface="Arial"/>
              </a:rPr>
              <a:t xml:space="preserve">S03 Map</a:t>
            </a:r>
            <a:endParaRPr lang="en-US"/>
          </a:p>
        </p:txBody>
      </p:sp>
      <p:sp>
        <p:nvSpPr>
          <p:cNvPr id="10" name="rect"/>
          <p:cNvSpPr txBox="0"/>
          <p:nvPr/>
        </p:nvSpPr>
        <p:spPr>
          <a:xfrm>
            <a:off x="8257761" y="1666875"/>
            <a:ext cx="3115917" cy="516007"/>
          </a:xfrm>
          <a:prstGeom prst="rect">
            <a:avLst/>
          </a:prstGeom>
          <a:solidFill>
            <a:srgbClr val="F7FAFB"/>
          </a:solidFill>
          <a:ln w="12700">
            <a:solidFill>
              <a:srgbClr val="79909B"/>
            </a:solidFill>
          </a:ln>
        </p:spPr>
      </p:sp>
      <p:sp>
        <p:nvSpPr>
          <p:cNvPr id="11" name="S04 Briefing [A1]"/>
          <p:cNvSpPr txBox="1"/>
          <p:nvPr/>
        </p:nvSpPr>
        <p:spPr>
          <a:xfrm>
            <a:off x="8352183" y="1759019"/>
            <a:ext cx="2927074" cy="398468"/>
          </a:xfrm>
          <a:prstGeom prst="rect">
            <a:avLst/>
          </a:prstGeom>
          <a:noFill/>
          <a:ln>
            <a:noFill/>
          </a:ln>
        </p:spPr>
        <p:txBody>
          <a:bodyPr wrap="square" lIns="0" rIns="0" tIns="0" bIns="0" anchor="t">
            <a:noAutofit/>
          </a:bodyPr>
          <a:lstStyle/>
          <a:p>
            <a:pPr>
              <a:lnSpc>
                <a:spcPct val="130000"/>
              </a:lnSpc>
            </a:pPr>
            <a:r>
              <a:rPr lang="en-US" sz="1561" b="1">
                <a:solidFill>
                  <a:srgbClr val="102E40"/>
                </a:solidFill>
                <a:latin typeface="Arial"/>
              </a:rPr>
              <a:t xml:space="preserve">S04 Briefing [A1]</a:t>
            </a:r>
            <a:endParaRPr lang="en-US"/>
          </a:p>
        </p:txBody>
      </p:sp>
      <p:cxnSp>
        <p:nvCxnSpPr>
          <p:cNvPr id="12" name="Connector 12"/>
          <p:cNvCxnSpPr/>
          <p:nvPr/>
        </p:nvCxnSpPr>
        <p:spPr>
          <a:xfrm>
            <a:off x="2498035" y="1924878"/>
            <a:ext cx="566530" cy="0"/>
          </a:xfrm>
          <a:prstGeom prst="line">
            <a:avLst/>
          </a:prstGeom>
          <a:ln w="19050">
            <a:solidFill>
              <a:srgbClr val="526875"/>
            </a:solidFill>
            <a:tailEnd type="triangle"/>
          </a:ln>
        </p:spPr>
      </p:cxnSp>
      <p:cxnSp>
        <p:nvCxnSpPr>
          <p:cNvPr id="13" name="Connector 13"/>
          <p:cNvCxnSpPr/>
          <p:nvPr/>
        </p:nvCxnSpPr>
        <p:spPr>
          <a:xfrm>
            <a:off x="5047422" y="1924878"/>
            <a:ext cx="566530" cy="0"/>
          </a:xfrm>
          <a:prstGeom prst="line">
            <a:avLst/>
          </a:prstGeom>
          <a:ln w="19050">
            <a:solidFill>
              <a:srgbClr val="526875"/>
            </a:solidFill>
            <a:tailEnd type="triangle"/>
          </a:ln>
        </p:spPr>
      </p:cxnSp>
      <p:cxnSp>
        <p:nvCxnSpPr>
          <p:cNvPr id="14" name="Connector 14"/>
          <p:cNvCxnSpPr/>
          <p:nvPr/>
        </p:nvCxnSpPr>
        <p:spPr>
          <a:xfrm>
            <a:off x="7691230" y="1924878"/>
            <a:ext cx="566530" cy="0"/>
          </a:xfrm>
          <a:prstGeom prst="line">
            <a:avLst/>
          </a:prstGeom>
          <a:ln w="19050">
            <a:solidFill>
              <a:srgbClr val="526875"/>
            </a:solidFill>
            <a:tailEnd type="triangle"/>
          </a:ln>
        </p:spPr>
      </p:cxnSp>
      <p:sp>
        <p:nvSpPr>
          <p:cNvPr id="15" name="rect"/>
          <p:cNvSpPr txBox="0"/>
          <p:nvPr/>
        </p:nvSpPr>
        <p:spPr>
          <a:xfrm>
            <a:off x="609600" y="3002963"/>
            <a:ext cx="1982857" cy="783224"/>
          </a:xfrm>
          <a:prstGeom prst="rect">
            <a:avLst/>
          </a:prstGeom>
          <a:solidFill>
            <a:srgbClr val="F7FAFB"/>
          </a:solidFill>
          <a:ln w="12700">
            <a:solidFill>
              <a:srgbClr val="79909B"/>
            </a:solidFill>
          </a:ln>
        </p:spPr>
      </p:sp>
      <p:sp>
        <p:nvSpPr>
          <p:cNvPr id="16" name="S05 Cyclops Grid stealth"/>
          <p:cNvSpPr txBox="1"/>
          <p:nvPr/>
        </p:nvSpPr>
        <p:spPr>
          <a:xfrm>
            <a:off x="704022" y="3095107"/>
            <a:ext cx="1794013" cy="702638"/>
          </a:xfrm>
          <a:prstGeom prst="rect">
            <a:avLst/>
          </a:prstGeom>
          <a:noFill/>
          <a:ln>
            <a:noFill/>
          </a:ln>
        </p:spPr>
        <p:txBody>
          <a:bodyPr wrap="square" lIns="0" rIns="0" tIns="0" bIns="0" anchor="t">
            <a:noAutofit/>
          </a:bodyPr>
          <a:lstStyle/>
          <a:p>
            <a:pPr>
              <a:lnSpc>
                <a:spcPct val="130000"/>
              </a:lnSpc>
            </a:pPr>
            <a:r>
              <a:rPr lang="en-US" sz="1561" b="1">
                <a:solidFill>
                  <a:srgbClr val="102E40"/>
                </a:solidFill>
                <a:latin typeface="Arial"/>
              </a:rPr>
              <a:t xml:space="preserve">S05 Cyclops</a:t>
            </a:r>
            <a:endParaRPr lang="en-US"/>
          </a:p>
          <a:p>
            <a:pPr>
              <a:lnSpc>
                <a:spcPct val="130000"/>
              </a:lnSpc>
            </a:pPr>
            <a:r>
              <a:rPr lang="en-US" sz="1561" b="1">
                <a:solidFill>
                  <a:srgbClr val="102E40"/>
                </a:solidFill>
                <a:latin typeface="Arial"/>
              </a:rPr>
              <a:t xml:space="preserve">Grid stealth</a:t>
            </a:r>
            <a:endParaRPr lang="en-US"/>
          </a:p>
        </p:txBody>
      </p:sp>
      <p:cxnSp>
        <p:nvCxnSpPr>
          <p:cNvPr id="17" name="Connector 17"/>
          <p:cNvCxnSpPr/>
          <p:nvPr/>
        </p:nvCxnSpPr>
        <p:spPr>
          <a:xfrm flipH="1">
            <a:off x="1601028" y="2182882"/>
            <a:ext cx="8214691" cy="820082"/>
          </a:xfrm>
          <a:prstGeom prst="line">
            <a:avLst/>
          </a:prstGeom>
          <a:ln w="19050">
            <a:solidFill>
              <a:srgbClr val="526875"/>
            </a:solidFill>
            <a:tailEnd type="triangle"/>
          </a:ln>
        </p:spPr>
      </p:cxnSp>
      <p:cxnSp>
        <p:nvCxnSpPr>
          <p:cNvPr id="18" name="Connector 18"/>
          <p:cNvCxnSpPr/>
          <p:nvPr/>
        </p:nvCxnSpPr>
        <p:spPr>
          <a:xfrm>
            <a:off x="1601028" y="3786188"/>
            <a:ext cx="3163128" cy="737152"/>
          </a:xfrm>
          <a:prstGeom prst="line">
            <a:avLst/>
          </a:prstGeom>
          <a:ln w="19050">
            <a:solidFill>
              <a:srgbClr val="526875"/>
            </a:solidFill>
            <a:tailEnd type="triangle"/>
          </a:ln>
        </p:spPr>
      </p:cxnSp>
      <p:sp>
        <p:nvSpPr>
          <p:cNvPr id="19" name="rect"/>
          <p:cNvSpPr txBox="0"/>
          <p:nvPr/>
        </p:nvSpPr>
        <p:spPr>
          <a:xfrm>
            <a:off x="2781300" y="3002963"/>
            <a:ext cx="1982857" cy="783224"/>
          </a:xfrm>
          <a:prstGeom prst="rect">
            <a:avLst/>
          </a:prstGeom>
          <a:solidFill>
            <a:srgbClr val="F7FAFB"/>
          </a:solidFill>
          <a:ln w="12700">
            <a:solidFill>
              <a:srgbClr val="79909B"/>
            </a:solidFill>
          </a:ln>
        </p:spPr>
      </p:sp>
      <p:sp>
        <p:nvSpPr>
          <p:cNvPr id="20" name="S06 Circe Puzzle duel"/>
          <p:cNvSpPr txBox="1"/>
          <p:nvPr/>
        </p:nvSpPr>
        <p:spPr>
          <a:xfrm>
            <a:off x="2875722" y="3095107"/>
            <a:ext cx="1794013" cy="702638"/>
          </a:xfrm>
          <a:prstGeom prst="rect">
            <a:avLst/>
          </a:prstGeom>
          <a:noFill/>
          <a:ln>
            <a:noFill/>
          </a:ln>
        </p:spPr>
        <p:txBody>
          <a:bodyPr wrap="square" lIns="0" rIns="0" tIns="0" bIns="0" anchor="t">
            <a:noAutofit/>
          </a:bodyPr>
          <a:lstStyle/>
          <a:p>
            <a:pPr>
              <a:lnSpc>
                <a:spcPct val="130000"/>
              </a:lnSpc>
            </a:pPr>
            <a:r>
              <a:rPr lang="en-US" sz="1561" b="1">
                <a:solidFill>
                  <a:srgbClr val="102E40"/>
                </a:solidFill>
                <a:latin typeface="Arial"/>
              </a:rPr>
              <a:t xml:space="preserve">S06 Circe</a:t>
            </a:r>
            <a:endParaRPr lang="en-US"/>
          </a:p>
          <a:p>
            <a:pPr>
              <a:lnSpc>
                <a:spcPct val="130000"/>
              </a:lnSpc>
            </a:pPr>
            <a:r>
              <a:rPr lang="en-US" sz="1561" b="1">
                <a:solidFill>
                  <a:srgbClr val="102E40"/>
                </a:solidFill>
                <a:latin typeface="Arial"/>
              </a:rPr>
              <a:t xml:space="preserve">Puzzle duel</a:t>
            </a:r>
            <a:endParaRPr lang="en-US"/>
          </a:p>
        </p:txBody>
      </p:sp>
      <p:cxnSp>
        <p:nvCxnSpPr>
          <p:cNvPr id="21" name="Connector 21"/>
          <p:cNvCxnSpPr/>
          <p:nvPr/>
        </p:nvCxnSpPr>
        <p:spPr>
          <a:xfrm flipH="1">
            <a:off x="3772728" y="2182882"/>
            <a:ext cx="6042991" cy="820082"/>
          </a:xfrm>
          <a:prstGeom prst="line">
            <a:avLst/>
          </a:prstGeom>
          <a:ln w="19050">
            <a:solidFill>
              <a:srgbClr val="526875"/>
            </a:solidFill>
            <a:tailEnd type="triangle"/>
          </a:ln>
        </p:spPr>
      </p:cxnSp>
      <p:cxnSp>
        <p:nvCxnSpPr>
          <p:cNvPr id="22" name="Connector 22"/>
          <p:cNvCxnSpPr/>
          <p:nvPr/>
        </p:nvCxnSpPr>
        <p:spPr>
          <a:xfrm>
            <a:off x="3772728" y="3786188"/>
            <a:ext cx="991428" cy="737152"/>
          </a:xfrm>
          <a:prstGeom prst="line">
            <a:avLst/>
          </a:prstGeom>
          <a:ln w="19050">
            <a:solidFill>
              <a:srgbClr val="526875"/>
            </a:solidFill>
            <a:tailEnd type="triangle"/>
          </a:ln>
        </p:spPr>
      </p:cxnSp>
      <p:sp>
        <p:nvSpPr>
          <p:cNvPr id="23" name="rect"/>
          <p:cNvSpPr txBox="0"/>
          <p:nvPr/>
        </p:nvSpPr>
        <p:spPr>
          <a:xfrm>
            <a:off x="4953000" y="3002963"/>
            <a:ext cx="1982857" cy="783224"/>
          </a:xfrm>
          <a:prstGeom prst="rect">
            <a:avLst/>
          </a:prstGeom>
          <a:solidFill>
            <a:srgbClr val="F7FAFB"/>
          </a:solidFill>
          <a:ln w="12700">
            <a:solidFill>
              <a:srgbClr val="79909B"/>
            </a:solidFill>
          </a:ln>
        </p:spPr>
      </p:sp>
      <p:sp>
        <p:nvSpPr>
          <p:cNvPr id="24" name="S07 Sirens Melody memory"/>
          <p:cNvSpPr txBox="1"/>
          <p:nvPr/>
        </p:nvSpPr>
        <p:spPr>
          <a:xfrm>
            <a:off x="5047422" y="3095107"/>
            <a:ext cx="1794013" cy="702638"/>
          </a:xfrm>
          <a:prstGeom prst="rect">
            <a:avLst/>
          </a:prstGeom>
          <a:noFill/>
          <a:ln>
            <a:noFill/>
          </a:ln>
        </p:spPr>
        <p:txBody>
          <a:bodyPr wrap="square" lIns="0" rIns="0" tIns="0" bIns="0" anchor="t">
            <a:noAutofit/>
          </a:bodyPr>
          <a:lstStyle/>
          <a:p>
            <a:pPr>
              <a:lnSpc>
                <a:spcPct val="130000"/>
              </a:lnSpc>
            </a:pPr>
            <a:r>
              <a:rPr lang="en-US" sz="1561" b="1">
                <a:solidFill>
                  <a:srgbClr val="102E40"/>
                </a:solidFill>
                <a:latin typeface="Arial"/>
              </a:rPr>
              <a:t xml:space="preserve">S07 Sirens</a:t>
            </a:r>
            <a:endParaRPr lang="en-US"/>
          </a:p>
          <a:p>
            <a:pPr>
              <a:lnSpc>
                <a:spcPct val="130000"/>
              </a:lnSpc>
            </a:pPr>
            <a:r>
              <a:rPr lang="en-US" sz="1561" b="1">
                <a:solidFill>
                  <a:srgbClr val="102E40"/>
                </a:solidFill>
                <a:latin typeface="Arial"/>
              </a:rPr>
              <a:t xml:space="preserve">Melody memory</a:t>
            </a:r>
            <a:endParaRPr lang="en-US"/>
          </a:p>
        </p:txBody>
      </p:sp>
      <p:cxnSp>
        <p:nvCxnSpPr>
          <p:cNvPr id="25" name="Connector 25"/>
          <p:cNvCxnSpPr/>
          <p:nvPr/>
        </p:nvCxnSpPr>
        <p:spPr>
          <a:xfrm flipH="1">
            <a:off x="5944428" y="2182882"/>
            <a:ext cx="3871291" cy="820082"/>
          </a:xfrm>
          <a:prstGeom prst="line">
            <a:avLst/>
          </a:prstGeom>
          <a:ln w="19050">
            <a:solidFill>
              <a:srgbClr val="526875"/>
            </a:solidFill>
            <a:tailEnd type="triangle"/>
          </a:ln>
        </p:spPr>
      </p:cxnSp>
      <p:cxnSp>
        <p:nvCxnSpPr>
          <p:cNvPr id="26" name="Connector 26"/>
          <p:cNvCxnSpPr/>
          <p:nvPr/>
        </p:nvCxnSpPr>
        <p:spPr>
          <a:xfrm flipH="1">
            <a:off x="4764157" y="3786188"/>
            <a:ext cx="1180272" cy="737152"/>
          </a:xfrm>
          <a:prstGeom prst="line">
            <a:avLst/>
          </a:prstGeom>
          <a:ln w="19050">
            <a:solidFill>
              <a:srgbClr val="526875"/>
            </a:solidFill>
            <a:tailEnd type="triangle"/>
          </a:ln>
        </p:spPr>
      </p:cxnSp>
      <p:sp>
        <p:nvSpPr>
          <p:cNvPr id="27" name="rect"/>
          <p:cNvSpPr txBox="0"/>
          <p:nvPr/>
        </p:nvSpPr>
        <p:spPr>
          <a:xfrm>
            <a:off x="7124700" y="3002963"/>
            <a:ext cx="1982857" cy="783224"/>
          </a:xfrm>
          <a:prstGeom prst="rect">
            <a:avLst/>
          </a:prstGeom>
          <a:solidFill>
            <a:srgbClr val="F7FAFB"/>
          </a:solidFill>
          <a:ln w="12700">
            <a:solidFill>
              <a:srgbClr val="79909B"/>
            </a:solidFill>
          </a:ln>
        </p:spPr>
      </p:sp>
      <p:sp>
        <p:nvSpPr>
          <p:cNvPr id="28" name="S08 Strait Paddle deflector"/>
          <p:cNvSpPr txBox="1"/>
          <p:nvPr/>
        </p:nvSpPr>
        <p:spPr>
          <a:xfrm>
            <a:off x="7219122" y="3095107"/>
            <a:ext cx="1794013" cy="702638"/>
          </a:xfrm>
          <a:prstGeom prst="rect">
            <a:avLst/>
          </a:prstGeom>
          <a:noFill/>
          <a:ln>
            <a:noFill/>
          </a:ln>
        </p:spPr>
        <p:txBody>
          <a:bodyPr wrap="square" lIns="0" rIns="0" tIns="0" bIns="0" anchor="t">
            <a:noAutofit/>
          </a:bodyPr>
          <a:lstStyle/>
          <a:p>
            <a:pPr>
              <a:lnSpc>
                <a:spcPct val="130000"/>
              </a:lnSpc>
            </a:pPr>
            <a:r>
              <a:rPr lang="en-US" sz="1561" b="1">
                <a:solidFill>
                  <a:srgbClr val="102E40"/>
                </a:solidFill>
                <a:latin typeface="Arial"/>
              </a:rPr>
              <a:t xml:space="preserve">S08 Strait</a:t>
            </a:r>
            <a:endParaRPr lang="en-US"/>
          </a:p>
          <a:p>
            <a:pPr>
              <a:lnSpc>
                <a:spcPct val="130000"/>
              </a:lnSpc>
            </a:pPr>
            <a:r>
              <a:rPr lang="en-US" sz="1561" b="1">
                <a:solidFill>
                  <a:srgbClr val="102E40"/>
                </a:solidFill>
                <a:latin typeface="Arial"/>
              </a:rPr>
              <a:t xml:space="preserve">Paddle deflector</a:t>
            </a:r>
            <a:endParaRPr lang="en-US"/>
          </a:p>
        </p:txBody>
      </p:sp>
      <p:cxnSp>
        <p:nvCxnSpPr>
          <p:cNvPr id="29" name="Connector 29"/>
          <p:cNvCxnSpPr/>
          <p:nvPr/>
        </p:nvCxnSpPr>
        <p:spPr>
          <a:xfrm flipH="1">
            <a:off x="8116128" y="2182882"/>
            <a:ext cx="1699591" cy="820082"/>
          </a:xfrm>
          <a:prstGeom prst="line">
            <a:avLst/>
          </a:prstGeom>
          <a:ln w="19050">
            <a:solidFill>
              <a:srgbClr val="526875"/>
            </a:solidFill>
            <a:tailEnd type="triangle"/>
          </a:ln>
        </p:spPr>
      </p:cxnSp>
      <p:cxnSp>
        <p:nvCxnSpPr>
          <p:cNvPr id="30" name="Connector 30"/>
          <p:cNvCxnSpPr/>
          <p:nvPr/>
        </p:nvCxnSpPr>
        <p:spPr>
          <a:xfrm flipH="1">
            <a:off x="4764157" y="3786188"/>
            <a:ext cx="3351972" cy="737152"/>
          </a:xfrm>
          <a:prstGeom prst="line">
            <a:avLst/>
          </a:prstGeom>
          <a:ln w="19050">
            <a:solidFill>
              <a:srgbClr val="526875"/>
            </a:solidFill>
            <a:tailEnd type="triangle"/>
          </a:ln>
        </p:spPr>
      </p:cxnSp>
      <p:sp>
        <p:nvSpPr>
          <p:cNvPr id="31" name="rect"/>
          <p:cNvSpPr txBox="0"/>
          <p:nvPr/>
        </p:nvSpPr>
        <p:spPr>
          <a:xfrm>
            <a:off x="9296400" y="3002963"/>
            <a:ext cx="1982857" cy="783224"/>
          </a:xfrm>
          <a:prstGeom prst="rect">
            <a:avLst/>
          </a:prstGeom>
          <a:solidFill>
            <a:srgbClr val="F7FAFB"/>
          </a:solidFill>
          <a:ln w="12700">
            <a:solidFill>
              <a:srgbClr val="79909B"/>
            </a:solidFill>
          </a:ln>
        </p:spPr>
      </p:sp>
      <p:sp>
        <p:nvSpPr>
          <p:cNvPr id="32" name="S09 Bow Turn-based shots"/>
          <p:cNvSpPr txBox="1"/>
          <p:nvPr/>
        </p:nvSpPr>
        <p:spPr>
          <a:xfrm>
            <a:off x="9390822" y="3095107"/>
            <a:ext cx="1794013" cy="702638"/>
          </a:xfrm>
          <a:prstGeom prst="rect">
            <a:avLst/>
          </a:prstGeom>
          <a:noFill/>
          <a:ln>
            <a:noFill/>
          </a:ln>
        </p:spPr>
        <p:txBody>
          <a:bodyPr wrap="square" lIns="0" rIns="0" tIns="0" bIns="0" anchor="t">
            <a:noAutofit/>
          </a:bodyPr>
          <a:lstStyle/>
          <a:p>
            <a:pPr>
              <a:lnSpc>
                <a:spcPct val="130000"/>
              </a:lnSpc>
            </a:pPr>
            <a:r>
              <a:rPr lang="en-US" sz="1561" b="1">
                <a:solidFill>
                  <a:srgbClr val="102E40"/>
                </a:solidFill>
                <a:latin typeface="Arial"/>
              </a:rPr>
              <a:t xml:space="preserve">S09 Bow</a:t>
            </a:r>
            <a:endParaRPr lang="en-US"/>
          </a:p>
          <a:p>
            <a:pPr>
              <a:lnSpc>
                <a:spcPct val="130000"/>
              </a:lnSpc>
            </a:pPr>
            <a:r>
              <a:rPr lang="en-US" sz="1561" b="1">
                <a:solidFill>
                  <a:srgbClr val="102E40"/>
                </a:solidFill>
                <a:latin typeface="Arial"/>
              </a:rPr>
              <a:t xml:space="preserve">Turn-based shots</a:t>
            </a:r>
            <a:endParaRPr lang="en-US"/>
          </a:p>
        </p:txBody>
      </p:sp>
      <p:cxnSp>
        <p:nvCxnSpPr>
          <p:cNvPr id="33" name="Connector 33"/>
          <p:cNvCxnSpPr/>
          <p:nvPr/>
        </p:nvCxnSpPr>
        <p:spPr>
          <a:xfrm>
            <a:off x="9815720" y="2182882"/>
            <a:ext cx="472109" cy="820082"/>
          </a:xfrm>
          <a:prstGeom prst="line">
            <a:avLst/>
          </a:prstGeom>
          <a:ln w="19050">
            <a:solidFill>
              <a:srgbClr val="526875"/>
            </a:solidFill>
            <a:tailEnd type="triangle"/>
          </a:ln>
        </p:spPr>
      </p:cxnSp>
      <p:cxnSp>
        <p:nvCxnSpPr>
          <p:cNvPr id="34" name="Connector 34"/>
          <p:cNvCxnSpPr/>
          <p:nvPr/>
        </p:nvCxnSpPr>
        <p:spPr>
          <a:xfrm flipH="1">
            <a:off x="4764157" y="3786188"/>
            <a:ext cx="5523672" cy="737152"/>
          </a:xfrm>
          <a:prstGeom prst="line">
            <a:avLst/>
          </a:prstGeom>
          <a:ln w="19050">
            <a:solidFill>
              <a:srgbClr val="526875"/>
            </a:solidFill>
            <a:tailEnd type="triangle"/>
          </a:ln>
        </p:spPr>
      </p:cxnSp>
      <p:sp>
        <p:nvSpPr>
          <p:cNvPr id="35" name="rect"/>
          <p:cNvSpPr txBox="0"/>
          <p:nvPr/>
        </p:nvSpPr>
        <p:spPr>
          <a:xfrm>
            <a:off x="3300620" y="4523340"/>
            <a:ext cx="2927074" cy="516007"/>
          </a:xfrm>
          <a:prstGeom prst="rect">
            <a:avLst/>
          </a:prstGeom>
          <a:solidFill>
            <a:srgbClr val="F7FAFB"/>
          </a:solidFill>
          <a:ln w="12700">
            <a:solidFill>
              <a:srgbClr val="79909B"/>
            </a:solidFill>
          </a:ln>
        </p:spPr>
      </p:sp>
      <p:sp>
        <p:nvSpPr>
          <p:cNvPr id="36" name="S10 Round result"/>
          <p:cNvSpPr txBox="1"/>
          <p:nvPr/>
        </p:nvSpPr>
        <p:spPr>
          <a:xfrm>
            <a:off x="3395041" y="4615484"/>
            <a:ext cx="2738230" cy="398468"/>
          </a:xfrm>
          <a:prstGeom prst="rect">
            <a:avLst/>
          </a:prstGeom>
          <a:noFill/>
          <a:ln>
            <a:noFill/>
          </a:ln>
        </p:spPr>
        <p:txBody>
          <a:bodyPr wrap="square" lIns="0" rIns="0" tIns="0" bIns="0" anchor="t">
            <a:noAutofit/>
          </a:bodyPr>
          <a:lstStyle/>
          <a:p>
            <a:pPr>
              <a:lnSpc>
                <a:spcPct val="130000"/>
              </a:lnSpc>
            </a:pPr>
            <a:r>
              <a:rPr lang="en-US" sz="1561" b="1">
                <a:solidFill>
                  <a:srgbClr val="102E40"/>
                </a:solidFill>
                <a:latin typeface="Arial"/>
              </a:rPr>
              <a:t xml:space="preserve">S10 Round result</a:t>
            </a:r>
            <a:endParaRPr lang="en-US"/>
          </a:p>
        </p:txBody>
      </p:sp>
      <p:sp>
        <p:nvSpPr>
          <p:cNvPr id="37" name="rect"/>
          <p:cNvSpPr txBox="0"/>
          <p:nvPr/>
        </p:nvSpPr>
        <p:spPr>
          <a:xfrm>
            <a:off x="7880074" y="4523340"/>
            <a:ext cx="3304761" cy="516007"/>
          </a:xfrm>
          <a:prstGeom prst="rect">
            <a:avLst/>
          </a:prstGeom>
          <a:solidFill>
            <a:srgbClr val="F7FAFB"/>
          </a:solidFill>
          <a:ln w="12700">
            <a:solidFill>
              <a:srgbClr val="79909B"/>
            </a:solidFill>
          </a:ln>
        </p:spPr>
      </p:sp>
      <p:sp>
        <p:nvSpPr>
          <p:cNvPr id="38" name="S11 Homecoming"/>
          <p:cNvSpPr txBox="1"/>
          <p:nvPr/>
        </p:nvSpPr>
        <p:spPr>
          <a:xfrm>
            <a:off x="7974496" y="4615484"/>
            <a:ext cx="3115917" cy="398468"/>
          </a:xfrm>
          <a:prstGeom prst="rect">
            <a:avLst/>
          </a:prstGeom>
          <a:noFill/>
          <a:ln>
            <a:noFill/>
          </a:ln>
        </p:spPr>
        <p:txBody>
          <a:bodyPr wrap="square" lIns="0" rIns="0" tIns="0" bIns="0" anchor="t">
            <a:noAutofit/>
          </a:bodyPr>
          <a:lstStyle/>
          <a:p>
            <a:pPr>
              <a:lnSpc>
                <a:spcPct val="130000"/>
              </a:lnSpc>
            </a:pPr>
            <a:r>
              <a:rPr lang="en-US" sz="1561" b="1">
                <a:solidFill>
                  <a:srgbClr val="102E40"/>
                </a:solidFill>
                <a:latin typeface="Arial"/>
              </a:rPr>
              <a:t xml:space="preserve">S11 Homecoming</a:t>
            </a:r>
            <a:endParaRPr lang="en-US"/>
          </a:p>
        </p:txBody>
      </p:sp>
      <p:cxnSp>
        <p:nvCxnSpPr>
          <p:cNvPr id="39" name="Connector 39"/>
          <p:cNvCxnSpPr/>
          <p:nvPr/>
        </p:nvCxnSpPr>
        <p:spPr>
          <a:xfrm>
            <a:off x="6227693" y="4781343"/>
            <a:ext cx="1652380" cy="0"/>
          </a:xfrm>
          <a:prstGeom prst="line">
            <a:avLst/>
          </a:prstGeom>
          <a:ln w="19050">
            <a:solidFill>
              <a:srgbClr val="526875"/>
            </a:solidFill>
            <a:tailEnd type="triangle"/>
          </a:ln>
        </p:spPr>
      </p:cxnSp>
      <p:sp>
        <p:nvSpPr>
          <p:cNvPr id="40" name="Clear or assist returns to Map for the next shore. The "/>
          <p:cNvSpPr txBox="1"/>
          <p:nvPr/>
        </p:nvSpPr>
        <p:spPr>
          <a:xfrm>
            <a:off x="609600" y="5251277"/>
            <a:ext cx="10858500" cy="383983"/>
          </a:xfrm>
          <a:prstGeom prst="rect">
            <a:avLst/>
          </a:prstGeom>
          <a:noFill/>
          <a:ln>
            <a:noFill/>
          </a:ln>
        </p:spPr>
        <p:txBody>
          <a:bodyPr wrap="square" lIns="0" rIns="0" tIns="0" bIns="0" anchor="t">
            <a:noAutofit/>
          </a:bodyPr>
          <a:lstStyle/>
          <a:p>
            <a:pPr>
              <a:lnSpc>
                <a:spcPct val="130000"/>
              </a:lnSpc>
            </a:pPr>
            <a:r>
              <a:rPr lang="en-US" sz="1487" b="0">
                <a:solidFill>
                  <a:srgbClr val="526875"/>
                </a:solidFill>
                <a:latin typeface="Arial"/>
              </a:rPr>
              <a:t xml:space="preserve">Clear or assist returns to Map for the next shore. The fifth passage opens Homecoming.</a:t>
            </a:r>
            <a:endParaRPr lang="en-US"/>
          </a:p>
        </p:txBody>
      </p:sp>
      <p:sp>
        <p:nvSpPr>
          <p:cNvPr id="41" name="Shared overlays: S12 Settings, S13 Pause/leave, S14 Res"/>
          <p:cNvSpPr txBox="1"/>
          <p:nvPr/>
        </p:nvSpPr>
        <p:spPr>
          <a:xfrm>
            <a:off x="609600" y="5610639"/>
            <a:ext cx="10858500" cy="383983"/>
          </a:xfrm>
          <a:prstGeom prst="rect">
            <a:avLst/>
          </a:prstGeom>
          <a:noFill/>
          <a:ln>
            <a:noFill/>
          </a:ln>
        </p:spPr>
        <p:txBody>
          <a:bodyPr wrap="square" lIns="0" rIns="0" tIns="0" bIns="0" anchor="t">
            <a:noAutofit/>
          </a:bodyPr>
          <a:lstStyle/>
          <a:p>
            <a:pPr>
              <a:lnSpc>
                <a:spcPct val="130000"/>
              </a:lnSpc>
            </a:pPr>
            <a:r>
              <a:rPr lang="en-US" sz="1487" b="0">
                <a:solidFill>
                  <a:srgbClr val="526875"/>
                </a:solidFill>
                <a:latin typeface="Arial"/>
              </a:rPr>
              <a:t xml:space="preserve">Shared overlays: S12 Settings, S13 Pause/leave, S14 Restart, S15 Assisted passage</a:t>
            </a:r>
            <a:endParaRPr lang="en-US"/>
          </a:p>
        </p:txBody>
      </p:sp>
      <p:sp>
        <p:nvSpPr>
          <p:cNvPr id="42" name="Farshore / Phase 2 / 4"/>
          <p:cNvSpPr txBox="1"/>
          <p:nvPr/>
        </p:nvSpPr>
        <p:spPr>
          <a:xfrm>
            <a:off x="609600" y="6343650"/>
            <a:ext cx="10972800" cy="298856"/>
          </a:xfrm>
          <a:prstGeom prst="rect">
            <a:avLst/>
          </a:prstGeom>
          <a:noFill/>
          <a:ln>
            <a:noFill/>
          </a:ln>
        </p:spPr>
        <p:txBody>
          <a:bodyPr wrap="square" lIns="0" rIns="0" tIns="0" bIns="0" anchor="t">
            <a:noAutofit/>
          </a:bodyPr>
          <a:lstStyle/>
          <a:p>
            <a:pPr>
              <a:lnSpc>
                <a:spcPct val="130000"/>
              </a:lnSpc>
            </a:pPr>
            <a:r>
              <a:rPr lang="en-US" sz="1050" b="0">
                <a:solidFill>
                  <a:srgbClr val="526875"/>
                </a:solidFill>
                <a:latin typeface="Arial"/>
              </a:rPr>
              <a:t xml:space="preserve">Farshore / Phase 2 / 4</a:t>
            </a:r>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Model data flow and privacy"/>
          <p:cNvSpPr txBox="1"/>
          <p:nvPr/>
        </p:nvSpPr>
        <p:spPr>
          <a:xfrm>
            <a:off x="609600" y="400050"/>
            <a:ext cx="10972800" cy="795642"/>
          </a:xfrm>
          <a:prstGeom prst="rect">
            <a:avLst/>
          </a:prstGeom>
          <a:noFill/>
          <a:ln>
            <a:noFill/>
          </a:ln>
        </p:spPr>
        <p:txBody>
          <a:bodyPr wrap="square" lIns="0" rIns="0" tIns="0" bIns="0" anchor="t">
            <a:noAutofit/>
          </a:bodyPr>
          <a:lstStyle/>
          <a:p>
            <a:pPr>
              <a:lnSpc>
                <a:spcPct val="130000"/>
              </a:lnSpc>
            </a:pPr>
            <a:r>
              <a:rPr lang="en-US" sz="3600" b="1">
                <a:solidFill>
                  <a:srgbClr val="102E40"/>
                </a:solidFill>
                <a:latin typeface="Arial"/>
              </a:rPr>
              <a:t xml:space="preserve">Model data flow and privacy</a:t>
            </a:r>
            <a:endParaRPr lang="en-US"/>
          </a:p>
        </p:txBody>
      </p:sp>
      <p:sp>
        <p:nvSpPr>
          <p:cNvPr id="3" name="Numeric summaries prepare a strategy before the round"/>
          <p:cNvSpPr txBox="1"/>
          <p:nvPr/>
        </p:nvSpPr>
        <p:spPr>
          <a:xfrm>
            <a:off x="609600" y="1009650"/>
            <a:ext cx="10972800" cy="386524"/>
          </a:xfrm>
          <a:prstGeom prst="rect">
            <a:avLst/>
          </a:prstGeom>
          <a:noFill/>
          <a:ln>
            <a:noFill/>
          </a:ln>
        </p:spPr>
        <p:txBody>
          <a:bodyPr wrap="square" lIns="0" rIns="0" tIns="0" bIns="0" anchor="t">
            <a:noAutofit/>
          </a:bodyPr>
          <a:lstStyle/>
          <a:p>
            <a:pPr>
              <a:lnSpc>
                <a:spcPct val="130000"/>
              </a:lnSpc>
            </a:pPr>
            <a:r>
              <a:rPr lang="en-US" sz="1500" b="0">
                <a:solidFill>
                  <a:srgbClr val="526875"/>
                </a:solidFill>
                <a:latin typeface="Arial"/>
              </a:rPr>
              <a:t xml:space="preserve">Numeric summaries prepare a strategy before the round</a:t>
            </a:r>
            <a:endParaRPr lang="en-US"/>
          </a:p>
        </p:txBody>
      </p:sp>
      <p:sp>
        <p:nvSpPr>
          <p:cNvPr id="4" name="rect"/>
          <p:cNvSpPr txBox="0"/>
          <p:nvPr/>
        </p:nvSpPr>
        <p:spPr>
          <a:xfrm>
            <a:off x="609600" y="1666875"/>
            <a:ext cx="3068707" cy="775173"/>
          </a:xfrm>
          <a:prstGeom prst="rect">
            <a:avLst/>
          </a:prstGeom>
          <a:solidFill>
            <a:srgbClr val="F7FAFB"/>
          </a:solidFill>
          <a:ln w="12700">
            <a:solidFill>
              <a:srgbClr val="79909B"/>
            </a:solidFill>
          </a:ln>
        </p:spPr>
      </p:sp>
      <p:sp>
        <p:nvSpPr>
          <p:cNvPr id="5" name="Selected shore, difficulty, up to 2 numeric summaries"/>
          <p:cNvSpPr txBox="1"/>
          <p:nvPr/>
        </p:nvSpPr>
        <p:spPr>
          <a:xfrm>
            <a:off x="722906" y="1794551"/>
            <a:ext cx="2842094" cy="731606"/>
          </a:xfrm>
          <a:prstGeom prst="rect">
            <a:avLst/>
          </a:prstGeom>
          <a:noFill/>
          <a:ln>
            <a:noFill/>
          </a:ln>
        </p:spPr>
        <p:txBody>
          <a:bodyPr wrap="square" lIns="0" rIns="0" tIns="0" bIns="0" anchor="t">
            <a:noAutofit/>
          </a:bodyPr>
          <a:lstStyle/>
          <a:p>
            <a:pPr>
              <a:lnSpc>
                <a:spcPct val="130000"/>
              </a:lnSpc>
            </a:pPr>
            <a:r>
              <a:rPr lang="en-US" sz="1636" b="1">
                <a:solidFill>
                  <a:srgbClr val="102E40"/>
                </a:solidFill>
                <a:latin typeface="Arial"/>
              </a:rPr>
              <a:t xml:space="preserve">Selected shore, difficulty,</a:t>
            </a:r>
            <a:endParaRPr lang="en-US"/>
          </a:p>
          <a:p>
            <a:pPr>
              <a:lnSpc>
                <a:spcPct val="130000"/>
              </a:lnSpc>
            </a:pPr>
            <a:r>
              <a:rPr lang="en-US" sz="1636" b="1">
                <a:solidFill>
                  <a:srgbClr val="102E40"/>
                </a:solidFill>
                <a:latin typeface="Arial"/>
              </a:rPr>
              <a:t xml:space="preserve">up to 2 numeric summaries</a:t>
            </a:r>
            <a:endParaRPr lang="en-US"/>
          </a:p>
        </p:txBody>
      </p:sp>
      <p:sp>
        <p:nvSpPr>
          <p:cNvPr id="6" name="rect"/>
          <p:cNvSpPr txBox="0"/>
          <p:nvPr/>
        </p:nvSpPr>
        <p:spPr>
          <a:xfrm>
            <a:off x="4669735" y="1666875"/>
            <a:ext cx="2549387" cy="775173"/>
          </a:xfrm>
          <a:prstGeom prst="rect">
            <a:avLst/>
          </a:prstGeom>
          <a:solidFill>
            <a:srgbClr val="F7FAFB"/>
          </a:solidFill>
          <a:ln w="12700">
            <a:solidFill>
              <a:srgbClr val="79909B"/>
            </a:solidFill>
          </a:ln>
        </p:spPr>
      </p:sp>
      <p:sp>
        <p:nvSpPr>
          <p:cNvPr id="7" name="React preparation Request + Cancel"/>
          <p:cNvSpPr txBox="1"/>
          <p:nvPr/>
        </p:nvSpPr>
        <p:spPr>
          <a:xfrm>
            <a:off x="4783041" y="1794551"/>
            <a:ext cx="2322775" cy="731606"/>
          </a:xfrm>
          <a:prstGeom prst="rect">
            <a:avLst/>
          </a:prstGeom>
          <a:noFill/>
          <a:ln>
            <a:noFill/>
          </a:ln>
        </p:spPr>
        <p:txBody>
          <a:bodyPr wrap="square" lIns="0" rIns="0" tIns="0" bIns="0" anchor="t">
            <a:noAutofit/>
          </a:bodyPr>
          <a:lstStyle/>
          <a:p>
            <a:pPr>
              <a:lnSpc>
                <a:spcPct val="130000"/>
              </a:lnSpc>
            </a:pPr>
            <a:r>
              <a:rPr lang="en-US" sz="1636" b="1">
                <a:solidFill>
                  <a:srgbClr val="102E40"/>
                </a:solidFill>
                <a:latin typeface="Arial"/>
              </a:rPr>
              <a:t xml:space="preserve">React preparation</a:t>
            </a:r>
            <a:endParaRPr lang="en-US"/>
          </a:p>
          <a:p>
            <a:pPr>
              <a:lnSpc>
                <a:spcPct val="130000"/>
              </a:lnSpc>
            </a:pPr>
            <a:r>
              <a:rPr lang="en-US" sz="1636" b="1">
                <a:solidFill>
                  <a:srgbClr val="102E40"/>
                </a:solidFill>
                <a:latin typeface="Arial"/>
              </a:rPr>
              <a:t xml:space="preserve">Request + Cancel</a:t>
            </a:r>
            <a:endParaRPr lang="en-US"/>
          </a:p>
        </p:txBody>
      </p:sp>
      <p:sp>
        <p:nvSpPr>
          <p:cNvPr id="8" name="rect"/>
          <p:cNvSpPr txBox="0"/>
          <p:nvPr/>
        </p:nvSpPr>
        <p:spPr>
          <a:xfrm>
            <a:off x="8210550" y="1666875"/>
            <a:ext cx="3210339" cy="775173"/>
          </a:xfrm>
          <a:prstGeom prst="rect">
            <a:avLst/>
          </a:prstGeom>
          <a:solidFill>
            <a:srgbClr val="F7FAFB"/>
          </a:solidFill>
          <a:ln w="12700">
            <a:solidFill>
              <a:srgbClr val="79909B"/>
            </a:solidFill>
          </a:ln>
        </p:spPr>
      </p:sp>
      <p:sp>
        <p:nvSpPr>
          <p:cNvPr id="9" name="POST /api/arcade Derive observations"/>
          <p:cNvSpPr txBox="1"/>
          <p:nvPr/>
        </p:nvSpPr>
        <p:spPr>
          <a:xfrm>
            <a:off x="8323856" y="1794551"/>
            <a:ext cx="2983727" cy="731606"/>
          </a:xfrm>
          <a:prstGeom prst="rect">
            <a:avLst/>
          </a:prstGeom>
          <a:noFill/>
          <a:ln>
            <a:noFill/>
          </a:ln>
        </p:spPr>
        <p:txBody>
          <a:bodyPr wrap="square" lIns="0" rIns="0" tIns="0" bIns="0" anchor="t">
            <a:noAutofit/>
          </a:bodyPr>
          <a:lstStyle/>
          <a:p>
            <a:pPr>
              <a:lnSpc>
                <a:spcPct val="130000"/>
              </a:lnSpc>
            </a:pPr>
            <a:r>
              <a:rPr lang="en-US" sz="1636" b="1">
                <a:solidFill>
                  <a:srgbClr val="102E40"/>
                </a:solidFill>
                <a:latin typeface="Arial"/>
              </a:rPr>
              <a:t xml:space="preserve">POST /api/arcade</a:t>
            </a:r>
            <a:endParaRPr lang="en-US"/>
          </a:p>
          <a:p>
            <a:pPr>
              <a:lnSpc>
                <a:spcPct val="130000"/>
              </a:lnSpc>
            </a:pPr>
            <a:r>
              <a:rPr lang="en-US" sz="1636" b="1">
                <a:solidFill>
                  <a:srgbClr val="102E40"/>
                </a:solidFill>
                <a:latin typeface="Arial"/>
              </a:rPr>
              <a:t xml:space="preserve">Derive observations</a:t>
            </a:r>
            <a:endParaRPr lang="en-US"/>
          </a:p>
        </p:txBody>
      </p:sp>
      <p:sp>
        <p:nvSpPr>
          <p:cNvPr id="10" name="rect"/>
          <p:cNvSpPr txBox="0"/>
          <p:nvPr/>
        </p:nvSpPr>
        <p:spPr>
          <a:xfrm>
            <a:off x="8210550" y="3399614"/>
            <a:ext cx="3210339" cy="775173"/>
          </a:xfrm>
          <a:prstGeom prst="rect">
            <a:avLst/>
          </a:prstGeom>
          <a:solidFill>
            <a:srgbClr val="F7FAFB"/>
          </a:solidFill>
          <a:ln w="12700">
            <a:solidFill>
              <a:srgbClr val="79909B"/>
            </a:solidFill>
          </a:ln>
        </p:spPr>
      </p:sp>
      <p:sp>
        <p:nvSpPr>
          <p:cNvPr id="11" name="Local Ollama Llama 3.2 3B"/>
          <p:cNvSpPr txBox="1"/>
          <p:nvPr/>
        </p:nvSpPr>
        <p:spPr>
          <a:xfrm>
            <a:off x="8323856" y="3527290"/>
            <a:ext cx="2983727" cy="731606"/>
          </a:xfrm>
          <a:prstGeom prst="rect">
            <a:avLst/>
          </a:prstGeom>
          <a:noFill/>
          <a:ln>
            <a:noFill/>
          </a:ln>
        </p:spPr>
        <p:txBody>
          <a:bodyPr wrap="square" lIns="0" rIns="0" tIns="0" bIns="0" anchor="t">
            <a:noAutofit/>
          </a:bodyPr>
          <a:lstStyle/>
          <a:p>
            <a:pPr>
              <a:lnSpc>
                <a:spcPct val="130000"/>
              </a:lnSpc>
            </a:pPr>
            <a:r>
              <a:rPr lang="en-US" sz="1636" b="1">
                <a:solidFill>
                  <a:srgbClr val="102E40"/>
                </a:solidFill>
                <a:latin typeface="Arial"/>
              </a:rPr>
              <a:t xml:space="preserve">Local Ollama</a:t>
            </a:r>
            <a:endParaRPr lang="en-US"/>
          </a:p>
          <a:p>
            <a:pPr>
              <a:lnSpc>
                <a:spcPct val="130000"/>
              </a:lnSpc>
            </a:pPr>
            <a:r>
              <a:rPr lang="en-US" sz="1636" b="1">
                <a:solidFill>
                  <a:srgbClr val="102E40"/>
                </a:solidFill>
                <a:latin typeface="Arial"/>
              </a:rPr>
              <a:t xml:space="preserve">Llama 3.2 3B</a:t>
            </a:r>
            <a:endParaRPr lang="en-US"/>
          </a:p>
        </p:txBody>
      </p:sp>
      <p:sp>
        <p:nvSpPr>
          <p:cNvPr id="12" name="rect"/>
          <p:cNvSpPr txBox="0"/>
          <p:nvPr/>
        </p:nvSpPr>
        <p:spPr>
          <a:xfrm>
            <a:off x="4669735" y="3399614"/>
            <a:ext cx="2832652" cy="775173"/>
          </a:xfrm>
          <a:prstGeom prst="rect">
            <a:avLst/>
          </a:prstGeom>
          <a:solidFill>
            <a:srgbClr val="F7FAFB"/>
          </a:solidFill>
          <a:ln w="12700">
            <a:solidFill>
              <a:srgbClr val="79909B"/>
            </a:solidFill>
          </a:ln>
        </p:spPr>
      </p:sp>
      <p:sp>
        <p:nvSpPr>
          <p:cNvPr id="13" name="Validate planId + focus Authored description"/>
          <p:cNvSpPr txBox="1"/>
          <p:nvPr/>
        </p:nvSpPr>
        <p:spPr>
          <a:xfrm>
            <a:off x="4783041" y="3527290"/>
            <a:ext cx="2606040" cy="731606"/>
          </a:xfrm>
          <a:prstGeom prst="rect">
            <a:avLst/>
          </a:prstGeom>
          <a:noFill/>
          <a:ln>
            <a:noFill/>
          </a:ln>
        </p:spPr>
        <p:txBody>
          <a:bodyPr wrap="square" lIns="0" rIns="0" tIns="0" bIns="0" anchor="t">
            <a:noAutofit/>
          </a:bodyPr>
          <a:lstStyle/>
          <a:p>
            <a:pPr>
              <a:lnSpc>
                <a:spcPct val="130000"/>
              </a:lnSpc>
            </a:pPr>
            <a:r>
              <a:rPr lang="en-US" sz="1636" b="1">
                <a:solidFill>
                  <a:srgbClr val="102E40"/>
                </a:solidFill>
                <a:latin typeface="Arial"/>
              </a:rPr>
              <a:t xml:space="preserve">Validate planId + focus</a:t>
            </a:r>
            <a:endParaRPr lang="en-US"/>
          </a:p>
          <a:p>
            <a:pPr>
              <a:lnSpc>
                <a:spcPct val="130000"/>
              </a:lnSpc>
            </a:pPr>
            <a:r>
              <a:rPr lang="en-US" sz="1636" b="1">
                <a:solidFill>
                  <a:srgbClr val="102E40"/>
                </a:solidFill>
                <a:latin typeface="Arial"/>
              </a:rPr>
              <a:t xml:space="preserve">Authored description</a:t>
            </a:r>
            <a:endParaRPr lang="en-US"/>
          </a:p>
        </p:txBody>
      </p:sp>
      <p:sp>
        <p:nvSpPr>
          <p:cNvPr id="14" name="rect"/>
          <p:cNvSpPr txBox="0"/>
          <p:nvPr/>
        </p:nvSpPr>
        <p:spPr>
          <a:xfrm>
            <a:off x="609600" y="3399614"/>
            <a:ext cx="3068707" cy="775173"/>
          </a:xfrm>
          <a:prstGeom prst="rect">
            <a:avLst/>
          </a:prstGeom>
          <a:solidFill>
            <a:srgbClr val="F7FAFB"/>
          </a:solidFill>
          <a:ln w="12700">
            <a:solidFill>
              <a:srgbClr val="79909B"/>
            </a:solidFill>
          </a:ln>
        </p:spPr>
      </p:sp>
      <p:sp>
        <p:nvSpPr>
          <p:cNvPr id="15" name="Review, then start Local rival simulation"/>
          <p:cNvSpPr txBox="1"/>
          <p:nvPr/>
        </p:nvSpPr>
        <p:spPr>
          <a:xfrm>
            <a:off x="722906" y="3527290"/>
            <a:ext cx="2842094" cy="731606"/>
          </a:xfrm>
          <a:prstGeom prst="rect">
            <a:avLst/>
          </a:prstGeom>
          <a:noFill/>
          <a:ln>
            <a:noFill/>
          </a:ln>
        </p:spPr>
        <p:txBody>
          <a:bodyPr wrap="square" lIns="0" rIns="0" tIns="0" bIns="0" anchor="t">
            <a:noAutofit/>
          </a:bodyPr>
          <a:lstStyle/>
          <a:p>
            <a:pPr>
              <a:lnSpc>
                <a:spcPct val="130000"/>
              </a:lnSpc>
            </a:pPr>
            <a:r>
              <a:rPr lang="en-US" sz="1636" b="1">
                <a:solidFill>
                  <a:srgbClr val="102E40"/>
                </a:solidFill>
                <a:latin typeface="Arial"/>
              </a:rPr>
              <a:t xml:space="preserve">Review, then start</a:t>
            </a:r>
            <a:endParaRPr lang="en-US"/>
          </a:p>
          <a:p>
            <a:pPr>
              <a:lnSpc>
                <a:spcPct val="130000"/>
              </a:lnSpc>
            </a:pPr>
            <a:r>
              <a:rPr lang="en-US" sz="1636" b="1">
                <a:solidFill>
                  <a:srgbClr val="102E40"/>
                </a:solidFill>
                <a:latin typeface="Arial"/>
              </a:rPr>
              <a:t xml:space="preserve">Local rival simulation</a:t>
            </a:r>
            <a:endParaRPr lang="en-US"/>
          </a:p>
        </p:txBody>
      </p:sp>
      <p:cxnSp>
        <p:nvCxnSpPr>
          <p:cNvPr id="16" name="Connector 16"/>
          <p:cNvCxnSpPr/>
          <p:nvPr/>
        </p:nvCxnSpPr>
        <p:spPr>
          <a:xfrm>
            <a:off x="3678307" y="2049902"/>
            <a:ext cx="991428" cy="0"/>
          </a:xfrm>
          <a:prstGeom prst="line">
            <a:avLst/>
          </a:prstGeom>
          <a:ln w="19050">
            <a:solidFill>
              <a:srgbClr val="526875"/>
            </a:solidFill>
            <a:tailEnd type="triangle"/>
          </a:ln>
        </p:spPr>
      </p:cxnSp>
      <p:cxnSp>
        <p:nvCxnSpPr>
          <p:cNvPr id="17" name="Connector 17"/>
          <p:cNvCxnSpPr/>
          <p:nvPr/>
        </p:nvCxnSpPr>
        <p:spPr>
          <a:xfrm>
            <a:off x="7219122" y="2049902"/>
            <a:ext cx="991428" cy="0"/>
          </a:xfrm>
          <a:prstGeom prst="line">
            <a:avLst/>
          </a:prstGeom>
          <a:ln w="19050">
            <a:solidFill>
              <a:srgbClr val="526875"/>
            </a:solidFill>
            <a:tailEnd type="triangle"/>
          </a:ln>
        </p:spPr>
      </p:cxnSp>
      <p:cxnSp>
        <p:nvCxnSpPr>
          <p:cNvPr id="18" name="Connector 18"/>
          <p:cNvCxnSpPr/>
          <p:nvPr/>
        </p:nvCxnSpPr>
        <p:spPr>
          <a:xfrm>
            <a:off x="9815720" y="2442048"/>
            <a:ext cx="0" cy="957566"/>
          </a:xfrm>
          <a:prstGeom prst="line">
            <a:avLst/>
          </a:prstGeom>
          <a:ln w="19050">
            <a:solidFill>
              <a:srgbClr val="526875"/>
            </a:solidFill>
            <a:tailEnd type="triangle"/>
          </a:ln>
        </p:spPr>
      </p:cxnSp>
      <p:cxnSp>
        <p:nvCxnSpPr>
          <p:cNvPr id="19" name="Connector 19"/>
          <p:cNvCxnSpPr/>
          <p:nvPr/>
        </p:nvCxnSpPr>
        <p:spPr>
          <a:xfrm flipH="1">
            <a:off x="7502387" y="3782641"/>
            <a:ext cx="708163" cy="0"/>
          </a:xfrm>
          <a:prstGeom prst="line">
            <a:avLst/>
          </a:prstGeom>
          <a:ln w="19050">
            <a:solidFill>
              <a:srgbClr val="526875"/>
            </a:solidFill>
            <a:tailEnd type="triangle"/>
          </a:ln>
        </p:spPr>
      </p:cxnSp>
      <p:cxnSp>
        <p:nvCxnSpPr>
          <p:cNvPr id="20" name="Connector 20"/>
          <p:cNvCxnSpPr/>
          <p:nvPr/>
        </p:nvCxnSpPr>
        <p:spPr>
          <a:xfrm flipH="1">
            <a:off x="3678307" y="3782641"/>
            <a:ext cx="991428" cy="0"/>
          </a:xfrm>
          <a:prstGeom prst="line">
            <a:avLst/>
          </a:prstGeom>
          <a:ln w="19050">
            <a:solidFill>
              <a:srgbClr val="526875"/>
            </a:solidFill>
            <a:tailEnd type="triangle"/>
          </a:ln>
        </p:spPr>
      </p:cxnSp>
      <p:sp>
        <p:nvSpPr>
          <p:cNvPr id="21" name="rect"/>
          <p:cNvSpPr txBox="0"/>
          <p:nvPr/>
        </p:nvSpPr>
        <p:spPr>
          <a:xfrm>
            <a:off x="609600" y="4813165"/>
            <a:ext cx="5382039" cy="729574"/>
          </a:xfrm>
          <a:prstGeom prst="rect">
            <a:avLst/>
          </a:prstGeom>
          <a:solidFill>
            <a:srgbClr val="F7FAFB"/>
          </a:solidFill>
          <a:ln w="12700">
            <a:solidFill>
              <a:srgbClr val="79909B"/>
            </a:solidFill>
          </a:ln>
        </p:spPr>
      </p:sp>
      <p:sp>
        <p:nvSpPr>
          <p:cNvPr id="22" name="Browser localStorage: campaign records, recent summarie"/>
          <p:cNvSpPr txBox="1"/>
          <p:nvPr/>
        </p:nvSpPr>
        <p:spPr>
          <a:xfrm>
            <a:off x="722906" y="4940840"/>
            <a:ext cx="5098774" cy="731606"/>
          </a:xfrm>
          <a:prstGeom prst="rect">
            <a:avLst/>
          </a:prstGeom>
          <a:noFill/>
          <a:ln>
            <a:noFill/>
          </a:ln>
        </p:spPr>
        <p:txBody>
          <a:bodyPr wrap="square" lIns="0" rIns="0" tIns="0" bIns="0" anchor="t">
            <a:noAutofit/>
          </a:bodyPr>
          <a:lstStyle/>
          <a:p>
            <a:pPr>
              <a:lnSpc>
                <a:spcPct val="130000"/>
              </a:lnSpc>
            </a:pPr>
            <a:r>
              <a:rPr lang="en-US" sz="1636" b="0">
                <a:solidFill>
                  <a:srgbClr val="102E40"/>
                </a:solidFill>
                <a:latin typeface="Arial"/>
              </a:rPr>
              <a:t xml:space="preserve">Browser localStorage: campaign records, recent summaries and preferences</a:t>
            </a:r>
            <a:endParaRPr lang="en-US"/>
          </a:p>
        </p:txBody>
      </p:sp>
      <p:cxnSp>
        <p:nvCxnSpPr>
          <p:cNvPr id="23" name="Connector 23"/>
          <p:cNvCxnSpPr/>
          <p:nvPr/>
        </p:nvCxnSpPr>
        <p:spPr>
          <a:xfrm>
            <a:off x="2148674" y="4174787"/>
            <a:ext cx="0" cy="638378"/>
          </a:xfrm>
          <a:prstGeom prst="line">
            <a:avLst/>
          </a:prstGeom>
          <a:ln w="19050">
            <a:solidFill>
              <a:srgbClr val="526875"/>
            </a:solidFill>
            <a:tailEnd type="triangle"/>
          </a:ln>
        </p:spPr>
      </p:cxnSp>
      <p:sp>
        <p:nvSpPr>
          <p:cNvPr id="24" name="After completed play only"/>
          <p:cNvSpPr txBox="1"/>
          <p:nvPr/>
        </p:nvSpPr>
        <p:spPr>
          <a:xfrm>
            <a:off x="2422497" y="4384540"/>
            <a:ext cx="3115917" cy="355015"/>
          </a:xfrm>
          <a:prstGeom prst="rect">
            <a:avLst/>
          </a:prstGeom>
          <a:noFill/>
          <a:ln>
            <a:noFill/>
          </a:ln>
        </p:spPr>
        <p:txBody>
          <a:bodyPr wrap="square" lIns="0" rIns="0" tIns="0" bIns="0" anchor="t">
            <a:noAutofit/>
          </a:bodyPr>
          <a:lstStyle/>
          <a:p>
            <a:pPr>
              <a:lnSpc>
                <a:spcPct val="130000"/>
              </a:lnSpc>
            </a:pPr>
            <a:r>
              <a:rPr lang="en-US" sz="1338" b="0">
                <a:solidFill>
                  <a:srgbClr val="526875"/>
                </a:solidFill>
                <a:latin typeface="Arial"/>
              </a:rPr>
              <a:t xml:space="preserve">After completed play only</a:t>
            </a:r>
            <a:endParaRPr lang="en-US"/>
          </a:p>
        </p:txBody>
      </p:sp>
      <p:sp>
        <p:nvSpPr>
          <p:cNvPr id="25" name="Measured boundary: loopback inference. No third-party A"/>
          <p:cNvSpPr txBox="1"/>
          <p:nvPr/>
        </p:nvSpPr>
        <p:spPr>
          <a:xfrm>
            <a:off x="6747013" y="4813165"/>
            <a:ext cx="4626665" cy="1006808"/>
          </a:xfrm>
          <a:prstGeom prst="rect">
            <a:avLst/>
          </a:prstGeom>
          <a:noFill/>
          <a:ln>
            <a:noFill/>
          </a:ln>
        </p:spPr>
        <p:txBody>
          <a:bodyPr wrap="square" lIns="0" rIns="0" tIns="0" bIns="0" anchor="t">
            <a:noAutofit/>
          </a:bodyPr>
          <a:lstStyle/>
          <a:p>
            <a:pPr>
              <a:lnSpc>
                <a:spcPct val="130000"/>
              </a:lnSpc>
            </a:pPr>
            <a:r>
              <a:rPr lang="en-US" sz="1561" b="0">
                <a:solidFill>
                  <a:srgbClr val="126978"/>
                </a:solidFill>
                <a:latin typeface="Arial"/>
              </a:rPr>
              <a:t xml:space="preserve">Measured boundary: loopback inference. No third-party AI provider. A future hosted endpoint would receive these summaries.</a:t>
            </a:r>
            <a:endParaRPr lang="en-US"/>
          </a:p>
        </p:txBody>
      </p:sp>
      <p:sp>
        <p:nvSpPr>
          <p:cNvPr id="26" name="Farshore / Phase 2 / 5"/>
          <p:cNvSpPr txBox="1"/>
          <p:nvPr/>
        </p:nvSpPr>
        <p:spPr>
          <a:xfrm>
            <a:off x="609600" y="6343650"/>
            <a:ext cx="10972800" cy="298856"/>
          </a:xfrm>
          <a:prstGeom prst="rect">
            <a:avLst/>
          </a:prstGeom>
          <a:noFill/>
          <a:ln>
            <a:noFill/>
          </a:ln>
        </p:spPr>
        <p:txBody>
          <a:bodyPr wrap="square" lIns="0" rIns="0" tIns="0" bIns="0" anchor="t">
            <a:noAutofit/>
          </a:bodyPr>
          <a:lstStyle/>
          <a:p>
            <a:pPr>
              <a:lnSpc>
                <a:spcPct val="130000"/>
              </a:lnSpc>
            </a:pPr>
            <a:r>
              <a:rPr lang="en-US" sz="1050" b="0">
                <a:solidFill>
                  <a:srgbClr val="526875"/>
                </a:solidFill>
                <a:latin typeface="Arial"/>
              </a:rPr>
              <a:t xml:space="preserve">Farshore / Phase 2 / 5</a:t>
            </a:r>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F2: Strategy preparation and review"/>
          <p:cNvSpPr txBox="1"/>
          <p:nvPr/>
        </p:nvSpPr>
        <p:spPr>
          <a:xfrm>
            <a:off x="609600" y="400050"/>
            <a:ext cx="10972800" cy="795642"/>
          </a:xfrm>
          <a:prstGeom prst="rect">
            <a:avLst/>
          </a:prstGeom>
          <a:noFill/>
          <a:ln>
            <a:noFill/>
          </a:ln>
        </p:spPr>
        <p:txBody>
          <a:bodyPr wrap="square" lIns="0" rIns="0" tIns="0" bIns="0" anchor="t">
            <a:noAutofit/>
          </a:bodyPr>
          <a:lstStyle/>
          <a:p>
            <a:pPr>
              <a:lnSpc>
                <a:spcPct val="130000"/>
              </a:lnSpc>
            </a:pPr>
            <a:r>
              <a:rPr lang="en-US" sz="3600" b="1">
                <a:solidFill>
                  <a:srgbClr val="102E40"/>
                </a:solidFill>
                <a:latin typeface="Arial"/>
              </a:rPr>
              <a:t xml:space="preserve">F2: Strategy preparation and review</a:t>
            </a:r>
            <a:endParaRPr lang="en-US"/>
          </a:p>
        </p:txBody>
      </p:sp>
      <p:sp>
        <p:nvSpPr>
          <p:cNvPr id="3" name="Maya and Rosa / player control before a match"/>
          <p:cNvSpPr txBox="1"/>
          <p:nvPr/>
        </p:nvSpPr>
        <p:spPr>
          <a:xfrm>
            <a:off x="609600" y="1009650"/>
            <a:ext cx="10972800" cy="386524"/>
          </a:xfrm>
          <a:prstGeom prst="rect">
            <a:avLst/>
          </a:prstGeom>
          <a:noFill/>
          <a:ln>
            <a:noFill/>
          </a:ln>
        </p:spPr>
        <p:txBody>
          <a:bodyPr wrap="square" lIns="0" rIns="0" tIns="0" bIns="0" anchor="t">
            <a:noAutofit/>
          </a:bodyPr>
          <a:lstStyle/>
          <a:p>
            <a:pPr>
              <a:lnSpc>
                <a:spcPct val="130000"/>
              </a:lnSpc>
            </a:pPr>
            <a:r>
              <a:rPr lang="en-US" sz="1500" b="0">
                <a:solidFill>
                  <a:srgbClr val="526875"/>
                </a:solidFill>
                <a:latin typeface="Arial"/>
              </a:rPr>
              <a:t xml:space="preserve">Maya and Rosa / player control before a match</a:t>
            </a:r>
            <a:endParaRPr lang="en-US"/>
          </a:p>
        </p:txBody>
      </p:sp>
      <p:sp>
        <p:nvSpPr>
          <p:cNvPr id="4" name="rect"/>
          <p:cNvSpPr txBox="0"/>
          <p:nvPr/>
        </p:nvSpPr>
        <p:spPr>
          <a:xfrm>
            <a:off x="609600" y="1666875"/>
            <a:ext cx="6143625" cy="536893"/>
          </a:xfrm>
          <a:prstGeom prst="rect">
            <a:avLst/>
          </a:prstGeom>
          <a:solidFill>
            <a:srgbClr val="F7FAFB"/>
          </a:solidFill>
          <a:ln w="12700">
            <a:solidFill>
              <a:srgbClr val="79909B"/>
            </a:solidFill>
          </a:ln>
        </p:spPr>
      </p:sp>
      <p:sp>
        <p:nvSpPr>
          <p:cNvPr id="5" name="1. Choose a shore, difficulty and AI Rival Battle"/>
          <p:cNvSpPr txBox="1"/>
          <p:nvPr/>
        </p:nvSpPr>
        <p:spPr>
          <a:xfrm>
            <a:off x="762000" y="1762125"/>
            <a:ext cx="5838825" cy="415747"/>
          </a:xfrm>
          <a:prstGeom prst="rect">
            <a:avLst/>
          </a:prstGeom>
          <a:noFill/>
          <a:ln>
            <a:noFill/>
          </a:ln>
        </p:spPr>
        <p:txBody>
          <a:bodyPr wrap="square" lIns="0" rIns="0" tIns="0" bIns="0" anchor="t">
            <a:noAutofit/>
          </a:bodyPr>
          <a:lstStyle/>
          <a:p>
            <a:pPr>
              <a:lnSpc>
                <a:spcPct val="130000"/>
              </a:lnSpc>
            </a:pPr>
            <a:r>
              <a:rPr lang="en-US" sz="1650" b="0">
                <a:solidFill>
                  <a:srgbClr val="102E40"/>
                </a:solidFill>
                <a:latin typeface="Arial"/>
              </a:rPr>
              <a:t xml:space="preserve">1. Choose a shore, difficulty and AI Rival Battle</a:t>
            </a:r>
            <a:endParaRPr lang="en-US"/>
          </a:p>
        </p:txBody>
      </p:sp>
      <p:cxnSp>
        <p:nvCxnSpPr>
          <p:cNvPr id="6" name="Connector 6"/>
          <p:cNvCxnSpPr/>
          <p:nvPr/>
        </p:nvCxnSpPr>
        <p:spPr>
          <a:xfrm>
            <a:off x="3681412" y="2203768"/>
            <a:ext cx="0" cy="169545"/>
          </a:xfrm>
          <a:prstGeom prst="line">
            <a:avLst/>
          </a:prstGeom>
          <a:ln w="19050">
            <a:solidFill>
              <a:srgbClr val="526875"/>
            </a:solidFill>
            <a:tailEnd type="triangle"/>
          </a:ln>
        </p:spPr>
      </p:cxnSp>
      <p:sp>
        <p:nvSpPr>
          <p:cNvPr id="7" name="rect"/>
          <p:cNvSpPr txBox="0"/>
          <p:nvPr/>
        </p:nvSpPr>
        <p:spPr>
          <a:xfrm>
            <a:off x="609600" y="2373312"/>
            <a:ext cx="6143625" cy="536893"/>
          </a:xfrm>
          <a:prstGeom prst="rect">
            <a:avLst/>
          </a:prstGeom>
          <a:solidFill>
            <a:srgbClr val="F7FAFB"/>
          </a:solidFill>
          <a:ln w="12700">
            <a:solidFill>
              <a:srgbClr val="79909B"/>
            </a:solidFill>
          </a:ln>
        </p:spPr>
      </p:sp>
      <p:sp>
        <p:nvSpPr>
          <p:cNvPr id="8" name="2. Press Prepare with connected model"/>
          <p:cNvSpPr txBox="1"/>
          <p:nvPr/>
        </p:nvSpPr>
        <p:spPr>
          <a:xfrm>
            <a:off x="762000" y="2468562"/>
            <a:ext cx="5838825" cy="415747"/>
          </a:xfrm>
          <a:prstGeom prst="rect">
            <a:avLst/>
          </a:prstGeom>
          <a:noFill/>
          <a:ln>
            <a:noFill/>
          </a:ln>
        </p:spPr>
        <p:txBody>
          <a:bodyPr wrap="square" lIns="0" rIns="0" tIns="0" bIns="0" anchor="t">
            <a:noAutofit/>
          </a:bodyPr>
          <a:lstStyle/>
          <a:p>
            <a:pPr>
              <a:lnSpc>
                <a:spcPct val="130000"/>
              </a:lnSpc>
            </a:pPr>
            <a:r>
              <a:rPr lang="en-US" sz="1650" b="0">
                <a:solidFill>
                  <a:srgbClr val="102E40"/>
                </a:solidFill>
                <a:latin typeface="Arial"/>
              </a:rPr>
              <a:t xml:space="preserve">2. Press Prepare with connected model</a:t>
            </a:r>
            <a:endParaRPr lang="en-US"/>
          </a:p>
        </p:txBody>
      </p:sp>
      <p:cxnSp>
        <p:nvCxnSpPr>
          <p:cNvPr id="9" name="Connector 9"/>
          <p:cNvCxnSpPr/>
          <p:nvPr/>
        </p:nvCxnSpPr>
        <p:spPr>
          <a:xfrm>
            <a:off x="3681412" y="2910205"/>
            <a:ext cx="0" cy="169545"/>
          </a:xfrm>
          <a:prstGeom prst="line">
            <a:avLst/>
          </a:prstGeom>
          <a:ln w="19050">
            <a:solidFill>
              <a:srgbClr val="526875"/>
            </a:solidFill>
            <a:tailEnd type="triangle"/>
          </a:ln>
        </p:spPr>
      </p:cxnSp>
      <p:sp>
        <p:nvSpPr>
          <p:cNvPr id="10" name="rect"/>
          <p:cNvSpPr txBox="0"/>
          <p:nvPr/>
        </p:nvSpPr>
        <p:spPr>
          <a:xfrm>
            <a:off x="609600" y="3079750"/>
            <a:ext cx="6143625" cy="536893"/>
          </a:xfrm>
          <a:prstGeom prst="rect">
            <a:avLst/>
          </a:prstGeom>
          <a:solidFill>
            <a:srgbClr val="F7FAFB"/>
          </a:solidFill>
          <a:ln w="12700">
            <a:solidFill>
              <a:srgbClr val="79909B"/>
            </a:solidFill>
          </a:ln>
        </p:spPr>
      </p:sp>
      <p:sp>
        <p:nvSpPr>
          <p:cNvPr id="11" name="3. Show elapsed preparation and Cancel"/>
          <p:cNvSpPr txBox="1"/>
          <p:nvPr/>
        </p:nvSpPr>
        <p:spPr>
          <a:xfrm>
            <a:off x="762000" y="3175000"/>
            <a:ext cx="5838825" cy="415747"/>
          </a:xfrm>
          <a:prstGeom prst="rect">
            <a:avLst/>
          </a:prstGeom>
          <a:noFill/>
          <a:ln>
            <a:noFill/>
          </a:ln>
        </p:spPr>
        <p:txBody>
          <a:bodyPr wrap="square" lIns="0" rIns="0" tIns="0" bIns="0" anchor="t">
            <a:noAutofit/>
          </a:bodyPr>
          <a:lstStyle/>
          <a:p>
            <a:pPr>
              <a:lnSpc>
                <a:spcPct val="130000"/>
              </a:lnSpc>
            </a:pPr>
            <a:r>
              <a:rPr lang="en-US" sz="1650" b="0">
                <a:solidFill>
                  <a:srgbClr val="102E40"/>
                </a:solidFill>
                <a:latin typeface="Arial"/>
              </a:rPr>
              <a:t xml:space="preserve">3. Show elapsed preparation and Cancel</a:t>
            </a:r>
            <a:endParaRPr lang="en-US"/>
          </a:p>
        </p:txBody>
      </p:sp>
      <p:cxnSp>
        <p:nvCxnSpPr>
          <p:cNvPr id="12" name="Connector 12"/>
          <p:cNvCxnSpPr/>
          <p:nvPr/>
        </p:nvCxnSpPr>
        <p:spPr>
          <a:xfrm>
            <a:off x="3681412" y="3616643"/>
            <a:ext cx="0" cy="169545"/>
          </a:xfrm>
          <a:prstGeom prst="line">
            <a:avLst/>
          </a:prstGeom>
          <a:ln w="19050">
            <a:solidFill>
              <a:srgbClr val="526875"/>
            </a:solidFill>
            <a:tailEnd type="triangle"/>
          </a:ln>
        </p:spPr>
      </p:cxnSp>
      <p:sp>
        <p:nvSpPr>
          <p:cNvPr id="13" name="rect"/>
          <p:cNvSpPr txBox="0"/>
          <p:nvPr/>
        </p:nvSpPr>
        <p:spPr>
          <a:xfrm>
            <a:off x="609600" y="3786188"/>
            <a:ext cx="6143625" cy="536893"/>
          </a:xfrm>
          <a:prstGeom prst="rect">
            <a:avLst/>
          </a:prstGeom>
          <a:solidFill>
            <a:srgbClr val="F7FAFB"/>
          </a:solidFill>
          <a:ln w="12700">
            <a:solidFill>
              <a:srgbClr val="79909B"/>
            </a:solidFill>
          </a:ln>
        </p:spPr>
      </p:sp>
      <p:sp>
        <p:nvSpPr>
          <p:cNvPr id="14" name="4. Server validates allowed plan and focus"/>
          <p:cNvSpPr txBox="1"/>
          <p:nvPr/>
        </p:nvSpPr>
        <p:spPr>
          <a:xfrm>
            <a:off x="762000" y="3881438"/>
            <a:ext cx="5838825" cy="415747"/>
          </a:xfrm>
          <a:prstGeom prst="rect">
            <a:avLst/>
          </a:prstGeom>
          <a:noFill/>
          <a:ln>
            <a:noFill/>
          </a:ln>
        </p:spPr>
        <p:txBody>
          <a:bodyPr wrap="square" lIns="0" rIns="0" tIns="0" bIns="0" anchor="t">
            <a:noAutofit/>
          </a:bodyPr>
          <a:lstStyle/>
          <a:p>
            <a:pPr>
              <a:lnSpc>
                <a:spcPct val="130000"/>
              </a:lnSpc>
            </a:pPr>
            <a:r>
              <a:rPr lang="en-US" sz="1650" b="0">
                <a:solidFill>
                  <a:srgbClr val="102E40"/>
                </a:solidFill>
                <a:latin typeface="Arial"/>
              </a:rPr>
              <a:t xml:space="preserve">4. Server validates allowed plan and focus</a:t>
            </a:r>
            <a:endParaRPr lang="en-US"/>
          </a:p>
        </p:txBody>
      </p:sp>
      <p:cxnSp>
        <p:nvCxnSpPr>
          <p:cNvPr id="15" name="Connector 15"/>
          <p:cNvCxnSpPr/>
          <p:nvPr/>
        </p:nvCxnSpPr>
        <p:spPr>
          <a:xfrm>
            <a:off x="3681412" y="4323080"/>
            <a:ext cx="0" cy="169545"/>
          </a:xfrm>
          <a:prstGeom prst="line">
            <a:avLst/>
          </a:prstGeom>
          <a:ln w="19050">
            <a:solidFill>
              <a:srgbClr val="526875"/>
            </a:solidFill>
            <a:tailEnd type="triangle"/>
          </a:ln>
        </p:spPr>
      </p:cxnSp>
      <p:sp>
        <p:nvSpPr>
          <p:cNvPr id="16" name="rect"/>
          <p:cNvSpPr txBox="0"/>
          <p:nvPr/>
        </p:nvSpPr>
        <p:spPr>
          <a:xfrm>
            <a:off x="609600" y="4492625"/>
            <a:ext cx="6143625" cy="536893"/>
          </a:xfrm>
          <a:prstGeom prst="rect">
            <a:avLst/>
          </a:prstGeom>
          <a:solidFill>
            <a:srgbClr val="F7FAFB"/>
          </a:solidFill>
          <a:ln w="12700">
            <a:solidFill>
              <a:srgbClr val="79909B"/>
            </a:solidFill>
          </a:ln>
        </p:spPr>
      </p:sp>
      <p:sp>
        <p:nvSpPr>
          <p:cNvPr id="17" name="5. Read strategy and fixed-rules explanation"/>
          <p:cNvSpPr txBox="1"/>
          <p:nvPr/>
        </p:nvSpPr>
        <p:spPr>
          <a:xfrm>
            <a:off x="762000" y="4587875"/>
            <a:ext cx="5838825" cy="415747"/>
          </a:xfrm>
          <a:prstGeom prst="rect">
            <a:avLst/>
          </a:prstGeom>
          <a:noFill/>
          <a:ln>
            <a:noFill/>
          </a:ln>
        </p:spPr>
        <p:txBody>
          <a:bodyPr wrap="square" lIns="0" rIns="0" tIns="0" bIns="0" anchor="t">
            <a:noAutofit/>
          </a:bodyPr>
          <a:lstStyle/>
          <a:p>
            <a:pPr>
              <a:lnSpc>
                <a:spcPct val="130000"/>
              </a:lnSpc>
            </a:pPr>
            <a:r>
              <a:rPr lang="en-US" sz="1650" b="0">
                <a:solidFill>
                  <a:srgbClr val="102E40"/>
                </a:solidFill>
                <a:latin typeface="Arial"/>
              </a:rPr>
              <a:t xml:space="preserve">5. Read strategy and fixed-rules explanation</a:t>
            </a:r>
            <a:endParaRPr lang="en-US"/>
          </a:p>
        </p:txBody>
      </p:sp>
      <p:cxnSp>
        <p:nvCxnSpPr>
          <p:cNvPr id="18" name="Connector 18"/>
          <p:cNvCxnSpPr/>
          <p:nvPr/>
        </p:nvCxnSpPr>
        <p:spPr>
          <a:xfrm>
            <a:off x="3681412" y="5029518"/>
            <a:ext cx="0" cy="169545"/>
          </a:xfrm>
          <a:prstGeom prst="line">
            <a:avLst/>
          </a:prstGeom>
          <a:ln w="19050">
            <a:solidFill>
              <a:srgbClr val="526875"/>
            </a:solidFill>
            <a:tailEnd type="triangle"/>
          </a:ln>
        </p:spPr>
      </p:cxnSp>
      <p:sp>
        <p:nvSpPr>
          <p:cNvPr id="19" name="rect"/>
          <p:cNvSpPr txBox="0"/>
          <p:nvPr/>
        </p:nvSpPr>
        <p:spPr>
          <a:xfrm>
            <a:off x="609600" y="5199062"/>
            <a:ext cx="6143625" cy="536893"/>
          </a:xfrm>
          <a:prstGeom prst="rect">
            <a:avLst/>
          </a:prstGeom>
          <a:solidFill>
            <a:srgbClr val="F7FAFB"/>
          </a:solidFill>
          <a:ln w="12700">
            <a:solidFill>
              <a:srgbClr val="79909B"/>
            </a:solidFill>
          </a:ln>
        </p:spPr>
      </p:sp>
      <p:sp>
        <p:nvSpPr>
          <p:cNvPr id="20" name="6. Start a labeled model-planned duel"/>
          <p:cNvSpPr txBox="1"/>
          <p:nvPr/>
        </p:nvSpPr>
        <p:spPr>
          <a:xfrm>
            <a:off x="762000" y="5294312"/>
            <a:ext cx="5838825" cy="415747"/>
          </a:xfrm>
          <a:prstGeom prst="rect">
            <a:avLst/>
          </a:prstGeom>
          <a:noFill/>
          <a:ln>
            <a:noFill/>
          </a:ln>
        </p:spPr>
        <p:txBody>
          <a:bodyPr wrap="square" lIns="0" rIns="0" tIns="0" bIns="0" anchor="t">
            <a:noAutofit/>
          </a:bodyPr>
          <a:lstStyle/>
          <a:p>
            <a:pPr>
              <a:lnSpc>
                <a:spcPct val="130000"/>
              </a:lnSpc>
            </a:pPr>
            <a:r>
              <a:rPr lang="en-US" sz="1650" b="0">
                <a:solidFill>
                  <a:srgbClr val="102E40"/>
                </a:solidFill>
                <a:latin typeface="Arial"/>
              </a:rPr>
              <a:t xml:space="preserve">6. Start a labeled model-planned duel</a:t>
            </a:r>
            <a:endParaRPr lang="en-US"/>
          </a:p>
        </p:txBody>
      </p:sp>
      <p:sp>
        <p:nvSpPr>
          <p:cNvPr id="21" name="•"/>
          <p:cNvSpPr txBox="1"/>
          <p:nvPr/>
        </p:nvSpPr>
        <p:spPr>
          <a:xfrm>
            <a:off x="7620000" y="1809750"/>
            <a:ext cx="171450" cy="474193"/>
          </a:xfrm>
          <a:prstGeom prst="rect">
            <a:avLst/>
          </a:prstGeom>
          <a:noFill/>
          <a:ln>
            <a:noFill/>
          </a:ln>
        </p:spPr>
        <p:txBody>
          <a:bodyPr wrap="square" lIns="0" rIns="0" tIns="0" bIns="0" anchor="t">
            <a:noAutofit/>
          </a:bodyPr>
          <a:lstStyle/>
          <a:p>
            <a:pPr>
              <a:lnSpc>
                <a:spcPct val="130000"/>
              </a:lnSpc>
            </a:pPr>
            <a:r>
              <a:rPr lang="en-US" sz="1950" b="0">
                <a:solidFill>
                  <a:srgbClr val="126978"/>
                </a:solidFill>
                <a:latin typeface="Arial"/>
              </a:rPr>
              <a:t xml:space="preserve">•</a:t>
            </a:r>
            <a:endParaRPr lang="en-US"/>
          </a:p>
        </p:txBody>
      </p:sp>
      <p:sp>
        <p:nvSpPr>
          <p:cNvPr id="22" name="Cancel preserves progress."/>
          <p:cNvSpPr txBox="1"/>
          <p:nvPr/>
        </p:nvSpPr>
        <p:spPr>
          <a:xfrm>
            <a:off x="7848600" y="1809750"/>
            <a:ext cx="3629025" cy="474193"/>
          </a:xfrm>
          <a:prstGeom prst="rect">
            <a:avLst/>
          </a:prstGeom>
          <a:noFill/>
          <a:ln>
            <a:noFill/>
          </a:ln>
        </p:spPr>
        <p:txBody>
          <a:bodyPr wrap="square" lIns="0" rIns="0" tIns="0" bIns="0" anchor="t">
            <a:noAutofit/>
          </a:bodyPr>
          <a:lstStyle/>
          <a:p>
            <a:pPr>
              <a:lnSpc>
                <a:spcPct val="130000"/>
              </a:lnSpc>
            </a:pPr>
            <a:r>
              <a:rPr lang="en-US" sz="1950" b="0">
                <a:solidFill>
                  <a:srgbClr val="102E40"/>
                </a:solidFill>
                <a:latin typeface="Arial"/>
              </a:rPr>
              <a:t xml:space="preserve">Cancel preserves progress.</a:t>
            </a:r>
            <a:endParaRPr lang="en-US"/>
          </a:p>
        </p:txBody>
      </p:sp>
      <p:sp>
        <p:nvSpPr>
          <p:cNvPr id="23" name="•"/>
          <p:cNvSpPr txBox="1"/>
          <p:nvPr/>
        </p:nvSpPr>
        <p:spPr>
          <a:xfrm>
            <a:off x="7620000" y="2426970"/>
            <a:ext cx="171450" cy="474193"/>
          </a:xfrm>
          <a:prstGeom prst="rect">
            <a:avLst/>
          </a:prstGeom>
          <a:noFill/>
          <a:ln>
            <a:noFill/>
          </a:ln>
        </p:spPr>
        <p:txBody>
          <a:bodyPr wrap="square" lIns="0" rIns="0" tIns="0" bIns="0" anchor="t">
            <a:noAutofit/>
          </a:bodyPr>
          <a:lstStyle/>
          <a:p>
            <a:pPr>
              <a:lnSpc>
                <a:spcPct val="130000"/>
              </a:lnSpc>
            </a:pPr>
            <a:r>
              <a:rPr lang="en-US" sz="1950" b="0">
                <a:solidFill>
                  <a:srgbClr val="126978"/>
                </a:solidFill>
                <a:latin typeface="Arial"/>
              </a:rPr>
              <a:t xml:space="preserve">•</a:t>
            </a:r>
            <a:endParaRPr lang="en-US"/>
          </a:p>
        </p:txBody>
      </p:sp>
      <p:sp>
        <p:nvSpPr>
          <p:cNvPr id="24" name="Prepare another replaces the candidate."/>
          <p:cNvSpPr txBox="1"/>
          <p:nvPr/>
        </p:nvSpPr>
        <p:spPr>
          <a:xfrm>
            <a:off x="7848600" y="2426970"/>
            <a:ext cx="3629025" cy="854088"/>
          </a:xfrm>
          <a:prstGeom prst="rect">
            <a:avLst/>
          </a:prstGeom>
          <a:noFill/>
          <a:ln>
            <a:noFill/>
          </a:ln>
        </p:spPr>
        <p:txBody>
          <a:bodyPr wrap="square" lIns="0" rIns="0" tIns="0" bIns="0" anchor="t">
            <a:noAutofit/>
          </a:bodyPr>
          <a:lstStyle/>
          <a:p>
            <a:pPr>
              <a:lnSpc>
                <a:spcPct val="130000"/>
              </a:lnSpc>
            </a:pPr>
            <a:r>
              <a:rPr lang="en-US" sz="1950" b="0">
                <a:solidFill>
                  <a:srgbClr val="102E40"/>
                </a:solidFill>
                <a:latin typeface="Arial"/>
              </a:rPr>
              <a:t xml:space="preserve">Prepare another replaces the candidate.</a:t>
            </a:r>
            <a:endParaRPr lang="en-US"/>
          </a:p>
        </p:txBody>
      </p:sp>
      <p:sp>
        <p:nvSpPr>
          <p:cNvPr id="25" name="•"/>
          <p:cNvSpPr txBox="1"/>
          <p:nvPr/>
        </p:nvSpPr>
        <p:spPr>
          <a:xfrm>
            <a:off x="7620000" y="3366135"/>
            <a:ext cx="171450" cy="474193"/>
          </a:xfrm>
          <a:prstGeom prst="rect">
            <a:avLst/>
          </a:prstGeom>
          <a:noFill/>
          <a:ln>
            <a:noFill/>
          </a:ln>
        </p:spPr>
        <p:txBody>
          <a:bodyPr wrap="square" lIns="0" rIns="0" tIns="0" bIns="0" anchor="t">
            <a:noAutofit/>
          </a:bodyPr>
          <a:lstStyle/>
          <a:p>
            <a:pPr>
              <a:lnSpc>
                <a:spcPct val="130000"/>
              </a:lnSpc>
            </a:pPr>
            <a:r>
              <a:rPr lang="en-US" sz="1950" b="0">
                <a:solidFill>
                  <a:srgbClr val="126978"/>
                </a:solidFill>
                <a:latin typeface="Arial"/>
              </a:rPr>
              <a:t xml:space="preserve">•</a:t>
            </a:r>
            <a:endParaRPr lang="en-US"/>
          </a:p>
        </p:txBody>
      </p:sp>
      <p:sp>
        <p:nvSpPr>
          <p:cNvPr id="26" name="Edit difficulty or choose Solo to discard."/>
          <p:cNvSpPr txBox="1"/>
          <p:nvPr/>
        </p:nvSpPr>
        <p:spPr>
          <a:xfrm>
            <a:off x="7848600" y="3366135"/>
            <a:ext cx="3629025" cy="854088"/>
          </a:xfrm>
          <a:prstGeom prst="rect">
            <a:avLst/>
          </a:prstGeom>
          <a:noFill/>
          <a:ln>
            <a:noFill/>
          </a:ln>
        </p:spPr>
        <p:txBody>
          <a:bodyPr wrap="square" lIns="0" rIns="0" tIns="0" bIns="0" anchor="t">
            <a:noAutofit/>
          </a:bodyPr>
          <a:lstStyle/>
          <a:p>
            <a:pPr>
              <a:lnSpc>
                <a:spcPct val="130000"/>
              </a:lnSpc>
            </a:pPr>
            <a:r>
              <a:rPr lang="en-US" sz="1950" b="0">
                <a:solidFill>
                  <a:srgbClr val="102E40"/>
                </a:solidFill>
                <a:latin typeface="Arial"/>
              </a:rPr>
              <a:t xml:space="preserve">Edit difficulty or choose Solo to discard.</a:t>
            </a:r>
            <a:endParaRPr lang="en-US"/>
          </a:p>
        </p:txBody>
      </p:sp>
      <p:sp>
        <p:nvSpPr>
          <p:cNvPr id="27" name="•"/>
          <p:cNvSpPr txBox="1"/>
          <p:nvPr/>
        </p:nvSpPr>
        <p:spPr>
          <a:xfrm>
            <a:off x="7620000" y="4305300"/>
            <a:ext cx="171450" cy="474193"/>
          </a:xfrm>
          <a:prstGeom prst="rect">
            <a:avLst/>
          </a:prstGeom>
          <a:noFill/>
          <a:ln>
            <a:noFill/>
          </a:ln>
        </p:spPr>
        <p:txBody>
          <a:bodyPr wrap="square" lIns="0" rIns="0" tIns="0" bIns="0" anchor="t">
            <a:noAutofit/>
          </a:bodyPr>
          <a:lstStyle/>
          <a:p>
            <a:pPr>
              <a:lnSpc>
                <a:spcPct val="130000"/>
              </a:lnSpc>
            </a:pPr>
            <a:r>
              <a:rPr lang="en-US" sz="1950" b="0">
                <a:solidFill>
                  <a:srgbClr val="126978"/>
                </a:solidFill>
                <a:latin typeface="Arial"/>
              </a:rPr>
              <a:t xml:space="preserve">•</a:t>
            </a:r>
            <a:endParaRPr lang="en-US"/>
          </a:p>
        </p:txBody>
      </p:sp>
      <p:sp>
        <p:nvSpPr>
          <p:cNvPr id="28" name="Proposed: a dedicated Discard action."/>
          <p:cNvSpPr txBox="1"/>
          <p:nvPr/>
        </p:nvSpPr>
        <p:spPr>
          <a:xfrm>
            <a:off x="7848600" y="4305300"/>
            <a:ext cx="3629025" cy="854088"/>
          </a:xfrm>
          <a:prstGeom prst="rect">
            <a:avLst/>
          </a:prstGeom>
          <a:noFill/>
          <a:ln>
            <a:noFill/>
          </a:ln>
        </p:spPr>
        <p:txBody>
          <a:bodyPr wrap="square" lIns="0" rIns="0" tIns="0" bIns="0" anchor="t">
            <a:noAutofit/>
          </a:bodyPr>
          <a:lstStyle/>
          <a:p>
            <a:pPr>
              <a:lnSpc>
                <a:spcPct val="130000"/>
              </a:lnSpc>
            </a:pPr>
            <a:r>
              <a:rPr lang="en-US" sz="1950" b="0">
                <a:solidFill>
                  <a:srgbClr val="102E40"/>
                </a:solidFill>
                <a:latin typeface="Arial"/>
              </a:rPr>
              <a:t xml:space="preserve">Proposed: a dedicated Discard action.</a:t>
            </a:r>
            <a:endParaRPr lang="en-US"/>
          </a:p>
        </p:txBody>
      </p:sp>
      <p:sp>
        <p:nvSpPr>
          <p:cNvPr id="29" name="Farshore / Phase 2 / 6"/>
          <p:cNvSpPr txBox="1"/>
          <p:nvPr/>
        </p:nvSpPr>
        <p:spPr>
          <a:xfrm>
            <a:off x="609600" y="6343650"/>
            <a:ext cx="10972800" cy="298856"/>
          </a:xfrm>
          <a:prstGeom prst="rect">
            <a:avLst/>
          </a:prstGeom>
          <a:noFill/>
          <a:ln>
            <a:noFill/>
          </a:ln>
        </p:spPr>
        <p:txBody>
          <a:bodyPr wrap="square" lIns="0" rIns="0" tIns="0" bIns="0" anchor="t">
            <a:noAutofit/>
          </a:bodyPr>
          <a:lstStyle/>
          <a:p>
            <a:pPr>
              <a:lnSpc>
                <a:spcPct val="130000"/>
              </a:lnSpc>
            </a:pPr>
            <a:r>
              <a:rPr lang="en-US" sz="1050" b="0">
                <a:solidFill>
                  <a:srgbClr val="526875"/>
                </a:solidFill>
                <a:latin typeface="Arial"/>
              </a:rPr>
              <a:t xml:space="preserve">Farshore / Phase 2 / 6</a:t>
            </a:r>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F3: Active play and recovery"/>
          <p:cNvSpPr txBox="1"/>
          <p:nvPr/>
        </p:nvSpPr>
        <p:spPr>
          <a:xfrm>
            <a:off x="609600" y="400050"/>
            <a:ext cx="10972800" cy="795642"/>
          </a:xfrm>
          <a:prstGeom prst="rect">
            <a:avLst/>
          </a:prstGeom>
          <a:noFill/>
          <a:ln>
            <a:noFill/>
          </a:ln>
        </p:spPr>
        <p:txBody>
          <a:bodyPr wrap="square" lIns="0" rIns="0" tIns="0" bIns="0" anchor="t">
            <a:noAutofit/>
          </a:bodyPr>
          <a:lstStyle/>
          <a:p>
            <a:pPr>
              <a:lnSpc>
                <a:spcPct val="130000"/>
              </a:lnSpc>
            </a:pPr>
            <a:r>
              <a:rPr lang="en-US" sz="3600" b="1">
                <a:solidFill>
                  <a:srgbClr val="102E40"/>
                </a:solidFill>
                <a:latin typeface="Arial"/>
              </a:rPr>
              <a:t xml:space="preserve">F3: Active play and recovery</a:t>
            </a:r>
            <a:endParaRPr lang="en-US"/>
          </a:p>
        </p:txBody>
      </p:sp>
      <p:sp>
        <p:nvSpPr>
          <p:cNvPr id="3" name="Maya and Daniel / local simulation keeps play responsiv"/>
          <p:cNvSpPr txBox="1"/>
          <p:nvPr/>
        </p:nvSpPr>
        <p:spPr>
          <a:xfrm>
            <a:off x="609600" y="1009650"/>
            <a:ext cx="10972800" cy="386524"/>
          </a:xfrm>
          <a:prstGeom prst="rect">
            <a:avLst/>
          </a:prstGeom>
          <a:noFill/>
          <a:ln>
            <a:noFill/>
          </a:ln>
        </p:spPr>
        <p:txBody>
          <a:bodyPr wrap="square" lIns="0" rIns="0" tIns="0" bIns="0" anchor="t">
            <a:noAutofit/>
          </a:bodyPr>
          <a:lstStyle/>
          <a:p>
            <a:pPr>
              <a:lnSpc>
                <a:spcPct val="130000"/>
              </a:lnSpc>
            </a:pPr>
            <a:r>
              <a:rPr lang="en-US" sz="1500" b="0">
                <a:solidFill>
                  <a:srgbClr val="526875"/>
                </a:solidFill>
                <a:latin typeface="Arial"/>
              </a:rPr>
              <a:t xml:space="preserve">Maya and Daniel / local simulation keeps play responsive</a:t>
            </a:r>
            <a:endParaRPr lang="en-US"/>
          </a:p>
        </p:txBody>
      </p:sp>
      <p:sp>
        <p:nvSpPr>
          <p:cNvPr id="4" name="rect"/>
          <p:cNvSpPr txBox="0"/>
          <p:nvPr/>
        </p:nvSpPr>
        <p:spPr>
          <a:xfrm>
            <a:off x="609600" y="1666875"/>
            <a:ext cx="6143625" cy="536893"/>
          </a:xfrm>
          <a:prstGeom prst="rect">
            <a:avLst/>
          </a:prstGeom>
          <a:solidFill>
            <a:srgbClr val="F7FAFB"/>
          </a:solidFill>
          <a:ln w="12700">
            <a:solidFill>
              <a:srgbClr val="79909B"/>
            </a:solidFill>
          </a:ln>
        </p:spPr>
      </p:sp>
      <p:sp>
        <p:nvSpPr>
          <p:cNvPr id="5" name="1. Start Solo, local AI or model-planned duel"/>
          <p:cNvSpPr txBox="1"/>
          <p:nvPr/>
        </p:nvSpPr>
        <p:spPr>
          <a:xfrm>
            <a:off x="762000" y="1762125"/>
            <a:ext cx="5838825" cy="415747"/>
          </a:xfrm>
          <a:prstGeom prst="rect">
            <a:avLst/>
          </a:prstGeom>
          <a:noFill/>
          <a:ln>
            <a:noFill/>
          </a:ln>
        </p:spPr>
        <p:txBody>
          <a:bodyPr wrap="square" lIns="0" rIns="0" tIns="0" bIns="0" anchor="t">
            <a:noAutofit/>
          </a:bodyPr>
          <a:lstStyle/>
          <a:p>
            <a:pPr>
              <a:lnSpc>
                <a:spcPct val="130000"/>
              </a:lnSpc>
            </a:pPr>
            <a:r>
              <a:rPr lang="en-US" sz="1650" b="0">
                <a:solidFill>
                  <a:srgbClr val="102E40"/>
                </a:solidFill>
                <a:latin typeface="Arial"/>
              </a:rPr>
              <a:t xml:space="preserve">1. Start Solo, local AI or model-planned duel</a:t>
            </a:r>
            <a:endParaRPr lang="en-US"/>
          </a:p>
        </p:txBody>
      </p:sp>
      <p:cxnSp>
        <p:nvCxnSpPr>
          <p:cNvPr id="6" name="Connector 6"/>
          <p:cNvCxnSpPr/>
          <p:nvPr/>
        </p:nvCxnSpPr>
        <p:spPr>
          <a:xfrm>
            <a:off x="3681412" y="2203768"/>
            <a:ext cx="0" cy="169545"/>
          </a:xfrm>
          <a:prstGeom prst="line">
            <a:avLst/>
          </a:prstGeom>
          <a:ln w="19050">
            <a:solidFill>
              <a:srgbClr val="526875"/>
            </a:solidFill>
            <a:tailEnd type="triangle"/>
          </a:ln>
        </p:spPr>
      </p:cxnSp>
      <p:sp>
        <p:nvSpPr>
          <p:cNvPr id="7" name="rect"/>
          <p:cNvSpPr txBox="0"/>
          <p:nvPr/>
        </p:nvSpPr>
        <p:spPr>
          <a:xfrm>
            <a:off x="609600" y="2373312"/>
            <a:ext cx="6143625" cy="536893"/>
          </a:xfrm>
          <a:prstGeom prst="rect">
            <a:avLst/>
          </a:prstGeom>
          <a:solidFill>
            <a:srgbClr val="F7FAFB"/>
          </a:solidFill>
          <a:ln w="12700">
            <a:solidFill>
              <a:srgbClr val="79909B"/>
            </a:solidFill>
          </a:ln>
        </p:spPr>
      </p:sp>
      <p:sp>
        <p:nvSpPr>
          <p:cNvPr id="8" name="2. Read countdown and game-mode label"/>
          <p:cNvSpPr txBox="1"/>
          <p:nvPr/>
        </p:nvSpPr>
        <p:spPr>
          <a:xfrm>
            <a:off x="762000" y="2468562"/>
            <a:ext cx="5838825" cy="415747"/>
          </a:xfrm>
          <a:prstGeom prst="rect">
            <a:avLst/>
          </a:prstGeom>
          <a:noFill/>
          <a:ln>
            <a:noFill/>
          </a:ln>
        </p:spPr>
        <p:txBody>
          <a:bodyPr wrap="square" lIns="0" rIns="0" tIns="0" bIns="0" anchor="t">
            <a:noAutofit/>
          </a:bodyPr>
          <a:lstStyle/>
          <a:p>
            <a:pPr>
              <a:lnSpc>
                <a:spcPct val="130000"/>
              </a:lnSpc>
            </a:pPr>
            <a:r>
              <a:rPr lang="en-US" sz="1650" b="0">
                <a:solidFill>
                  <a:srgbClr val="102E40"/>
                </a:solidFill>
                <a:latin typeface="Arial"/>
              </a:rPr>
              <a:t xml:space="preserve">2. Read countdown and game-mode label</a:t>
            </a:r>
            <a:endParaRPr lang="en-US"/>
          </a:p>
        </p:txBody>
      </p:sp>
      <p:cxnSp>
        <p:nvCxnSpPr>
          <p:cNvPr id="9" name="Connector 9"/>
          <p:cNvCxnSpPr/>
          <p:nvPr/>
        </p:nvCxnSpPr>
        <p:spPr>
          <a:xfrm>
            <a:off x="3681412" y="2910205"/>
            <a:ext cx="0" cy="169545"/>
          </a:xfrm>
          <a:prstGeom prst="line">
            <a:avLst/>
          </a:prstGeom>
          <a:ln w="19050">
            <a:solidFill>
              <a:srgbClr val="526875"/>
            </a:solidFill>
            <a:tailEnd type="triangle"/>
          </a:ln>
        </p:spPr>
      </p:cxnSp>
      <p:sp>
        <p:nvSpPr>
          <p:cNvPr id="10" name="rect"/>
          <p:cNvSpPr txBox="0"/>
          <p:nvPr/>
        </p:nvSpPr>
        <p:spPr>
          <a:xfrm>
            <a:off x="609600" y="3079750"/>
            <a:ext cx="6143625" cy="536893"/>
          </a:xfrm>
          <a:prstGeom prst="rect">
            <a:avLst/>
          </a:prstGeom>
          <a:solidFill>
            <a:srgbClr val="F7FAFB"/>
          </a:solidFill>
          <a:ln w="12700">
            <a:solidFill>
              <a:srgbClr val="79909B"/>
            </a:solidFill>
          </a:ln>
        </p:spPr>
      </p:sp>
      <p:sp>
        <p:nvSpPr>
          <p:cNvPr id="11" name="3. Make the encounter-specific move"/>
          <p:cNvSpPr txBox="1"/>
          <p:nvPr/>
        </p:nvSpPr>
        <p:spPr>
          <a:xfrm>
            <a:off x="762000" y="3175000"/>
            <a:ext cx="5838825" cy="415747"/>
          </a:xfrm>
          <a:prstGeom prst="rect">
            <a:avLst/>
          </a:prstGeom>
          <a:noFill/>
          <a:ln>
            <a:noFill/>
          </a:ln>
        </p:spPr>
        <p:txBody>
          <a:bodyPr wrap="square" lIns="0" rIns="0" tIns="0" bIns="0" anchor="t">
            <a:noAutofit/>
          </a:bodyPr>
          <a:lstStyle/>
          <a:p>
            <a:pPr>
              <a:lnSpc>
                <a:spcPct val="130000"/>
              </a:lnSpc>
            </a:pPr>
            <a:r>
              <a:rPr lang="en-US" sz="1650" b="0">
                <a:solidFill>
                  <a:srgbClr val="102E40"/>
                </a:solidFill>
                <a:latin typeface="Arial"/>
              </a:rPr>
              <a:t xml:space="preserve">3. Make the encounter-specific move</a:t>
            </a:r>
            <a:endParaRPr lang="en-US"/>
          </a:p>
        </p:txBody>
      </p:sp>
      <p:cxnSp>
        <p:nvCxnSpPr>
          <p:cNvPr id="12" name="Connector 12"/>
          <p:cNvCxnSpPr/>
          <p:nvPr/>
        </p:nvCxnSpPr>
        <p:spPr>
          <a:xfrm>
            <a:off x="3681412" y="3616643"/>
            <a:ext cx="0" cy="169545"/>
          </a:xfrm>
          <a:prstGeom prst="line">
            <a:avLst/>
          </a:prstGeom>
          <a:ln w="19050">
            <a:solidFill>
              <a:srgbClr val="526875"/>
            </a:solidFill>
            <a:tailEnd type="triangle"/>
          </a:ln>
        </p:spPr>
      </p:cxnSp>
      <p:sp>
        <p:nvSpPr>
          <p:cNvPr id="13" name="rect"/>
          <p:cNvSpPr txBox="0"/>
          <p:nvPr/>
        </p:nvSpPr>
        <p:spPr>
          <a:xfrm>
            <a:off x="609600" y="3786188"/>
            <a:ext cx="6143625" cy="536893"/>
          </a:xfrm>
          <a:prstGeom prst="rect">
            <a:avLst/>
          </a:prstGeom>
          <a:solidFill>
            <a:srgbClr val="F7FAFB"/>
          </a:solidFill>
          <a:ln w="12700">
            <a:solidFill>
              <a:srgbClr val="79909B"/>
            </a:solidFill>
          </a:ln>
        </p:spPr>
      </p:sp>
      <p:sp>
        <p:nvSpPr>
          <p:cNvPr id="14" name="4. Observe a rival turn or visible attack warning"/>
          <p:cNvSpPr txBox="1"/>
          <p:nvPr/>
        </p:nvSpPr>
        <p:spPr>
          <a:xfrm>
            <a:off x="762000" y="3881438"/>
            <a:ext cx="5838825" cy="415747"/>
          </a:xfrm>
          <a:prstGeom prst="rect">
            <a:avLst/>
          </a:prstGeom>
          <a:noFill/>
          <a:ln>
            <a:noFill/>
          </a:ln>
        </p:spPr>
        <p:txBody>
          <a:bodyPr wrap="square" lIns="0" rIns="0" tIns="0" bIns="0" anchor="t">
            <a:noAutofit/>
          </a:bodyPr>
          <a:lstStyle/>
          <a:p>
            <a:pPr>
              <a:lnSpc>
                <a:spcPct val="130000"/>
              </a:lnSpc>
            </a:pPr>
            <a:r>
              <a:rPr lang="en-US" sz="1650" b="0">
                <a:solidFill>
                  <a:srgbClr val="102E40"/>
                </a:solidFill>
                <a:latin typeface="Arial"/>
              </a:rPr>
              <a:t xml:space="preserve">4. Observe a rival turn or visible attack warning</a:t>
            </a:r>
            <a:endParaRPr lang="en-US"/>
          </a:p>
        </p:txBody>
      </p:sp>
      <p:cxnSp>
        <p:nvCxnSpPr>
          <p:cNvPr id="15" name="Connector 15"/>
          <p:cNvCxnSpPr/>
          <p:nvPr/>
        </p:nvCxnSpPr>
        <p:spPr>
          <a:xfrm>
            <a:off x="3681412" y="4323080"/>
            <a:ext cx="0" cy="169545"/>
          </a:xfrm>
          <a:prstGeom prst="line">
            <a:avLst/>
          </a:prstGeom>
          <a:ln w="19050">
            <a:solidFill>
              <a:srgbClr val="526875"/>
            </a:solidFill>
            <a:tailEnd type="triangle"/>
          </a:ln>
        </p:spPr>
      </p:cxnSp>
      <p:sp>
        <p:nvSpPr>
          <p:cNvPr id="16" name="rect"/>
          <p:cNvSpPr txBox="0"/>
          <p:nvPr/>
        </p:nvSpPr>
        <p:spPr>
          <a:xfrm>
            <a:off x="609600" y="4492625"/>
            <a:ext cx="6143625" cy="536893"/>
          </a:xfrm>
          <a:prstGeom prst="rect">
            <a:avLst/>
          </a:prstGeom>
          <a:solidFill>
            <a:srgbClr val="F7FAFB"/>
          </a:solidFill>
          <a:ln w="12700">
            <a:solidFill>
              <a:srgbClr val="79909B"/>
            </a:solidFill>
          </a:ln>
        </p:spPr>
      </p:sp>
      <p:sp>
        <p:nvSpPr>
          <p:cNvPr id="17" name="5. Continue until the clear or loss rule"/>
          <p:cNvSpPr txBox="1"/>
          <p:nvPr/>
        </p:nvSpPr>
        <p:spPr>
          <a:xfrm>
            <a:off x="762000" y="4587875"/>
            <a:ext cx="5838825" cy="415747"/>
          </a:xfrm>
          <a:prstGeom prst="rect">
            <a:avLst/>
          </a:prstGeom>
          <a:noFill/>
          <a:ln>
            <a:noFill/>
          </a:ln>
        </p:spPr>
        <p:txBody>
          <a:bodyPr wrap="square" lIns="0" rIns="0" tIns="0" bIns="0" anchor="t">
            <a:noAutofit/>
          </a:bodyPr>
          <a:lstStyle/>
          <a:p>
            <a:pPr>
              <a:lnSpc>
                <a:spcPct val="130000"/>
              </a:lnSpc>
            </a:pPr>
            <a:r>
              <a:rPr lang="en-US" sz="1650" b="0">
                <a:solidFill>
                  <a:srgbClr val="102E40"/>
                </a:solidFill>
                <a:latin typeface="Arial"/>
              </a:rPr>
              <a:t xml:space="preserve">5. Continue until the clear or loss rule</a:t>
            </a:r>
            <a:endParaRPr lang="en-US"/>
          </a:p>
        </p:txBody>
      </p:sp>
      <p:cxnSp>
        <p:nvCxnSpPr>
          <p:cNvPr id="18" name="Connector 18"/>
          <p:cNvCxnSpPr/>
          <p:nvPr/>
        </p:nvCxnSpPr>
        <p:spPr>
          <a:xfrm>
            <a:off x="3681412" y="5029518"/>
            <a:ext cx="0" cy="169545"/>
          </a:xfrm>
          <a:prstGeom prst="line">
            <a:avLst/>
          </a:prstGeom>
          <a:ln w="19050">
            <a:solidFill>
              <a:srgbClr val="526875"/>
            </a:solidFill>
            <a:tailEnd type="triangle"/>
          </a:ln>
        </p:spPr>
      </p:cxnSp>
      <p:sp>
        <p:nvSpPr>
          <p:cNvPr id="19" name="rect"/>
          <p:cNvSpPr txBox="0"/>
          <p:nvPr/>
        </p:nvSpPr>
        <p:spPr>
          <a:xfrm>
            <a:off x="609600" y="5199062"/>
            <a:ext cx="6143625" cy="536893"/>
          </a:xfrm>
          <a:prstGeom prst="rect">
            <a:avLst/>
          </a:prstGeom>
          <a:solidFill>
            <a:srgbClr val="F7FAFB"/>
          </a:solidFill>
          <a:ln w="12700">
            <a:solidFill>
              <a:srgbClr val="79909B"/>
            </a:solidFill>
          </a:ln>
        </p:spPr>
      </p:sp>
      <p:sp>
        <p:nvSpPr>
          <p:cNvPr id="20" name="6. Review both performance and next action"/>
          <p:cNvSpPr txBox="1"/>
          <p:nvPr/>
        </p:nvSpPr>
        <p:spPr>
          <a:xfrm>
            <a:off x="762000" y="5294312"/>
            <a:ext cx="5838825" cy="415747"/>
          </a:xfrm>
          <a:prstGeom prst="rect">
            <a:avLst/>
          </a:prstGeom>
          <a:noFill/>
          <a:ln>
            <a:noFill/>
          </a:ln>
        </p:spPr>
        <p:txBody>
          <a:bodyPr wrap="square" lIns="0" rIns="0" tIns="0" bIns="0" anchor="t">
            <a:noAutofit/>
          </a:bodyPr>
          <a:lstStyle/>
          <a:p>
            <a:pPr>
              <a:lnSpc>
                <a:spcPct val="130000"/>
              </a:lnSpc>
            </a:pPr>
            <a:r>
              <a:rPr lang="en-US" sz="1650" b="0">
                <a:solidFill>
                  <a:srgbClr val="102E40"/>
                </a:solidFill>
                <a:latin typeface="Arial"/>
              </a:rPr>
              <a:t xml:space="preserve">6. Review both performance and next action</a:t>
            </a:r>
            <a:endParaRPr lang="en-US"/>
          </a:p>
        </p:txBody>
      </p:sp>
      <p:sp>
        <p:nvSpPr>
          <p:cNvPr id="21" name="•"/>
          <p:cNvSpPr txBox="1"/>
          <p:nvPr/>
        </p:nvSpPr>
        <p:spPr>
          <a:xfrm>
            <a:off x="7620000" y="1809750"/>
            <a:ext cx="171450" cy="474193"/>
          </a:xfrm>
          <a:prstGeom prst="rect">
            <a:avLst/>
          </a:prstGeom>
          <a:noFill/>
          <a:ln>
            <a:noFill/>
          </a:ln>
        </p:spPr>
        <p:txBody>
          <a:bodyPr wrap="square" lIns="0" rIns="0" tIns="0" bIns="0" anchor="t">
            <a:noAutofit/>
          </a:bodyPr>
          <a:lstStyle/>
          <a:p>
            <a:pPr>
              <a:lnSpc>
                <a:spcPct val="130000"/>
              </a:lnSpc>
            </a:pPr>
            <a:r>
              <a:rPr lang="en-US" sz="1950" b="0">
                <a:solidFill>
                  <a:srgbClr val="126978"/>
                </a:solidFill>
                <a:latin typeface="Arial"/>
              </a:rPr>
              <a:t xml:space="preserve">•</a:t>
            </a:r>
            <a:endParaRPr lang="en-US"/>
          </a:p>
        </p:txBody>
      </p:sp>
      <p:sp>
        <p:nvSpPr>
          <p:cNvPr id="22" name="Warnings show what the rival will do."/>
          <p:cNvSpPr txBox="1"/>
          <p:nvPr/>
        </p:nvSpPr>
        <p:spPr>
          <a:xfrm>
            <a:off x="7848600" y="1809750"/>
            <a:ext cx="3629025" cy="854088"/>
          </a:xfrm>
          <a:prstGeom prst="rect">
            <a:avLst/>
          </a:prstGeom>
          <a:noFill/>
          <a:ln>
            <a:noFill/>
          </a:ln>
        </p:spPr>
        <p:txBody>
          <a:bodyPr wrap="square" lIns="0" rIns="0" tIns="0" bIns="0" anchor="t">
            <a:noAutofit/>
          </a:bodyPr>
          <a:lstStyle/>
          <a:p>
            <a:pPr>
              <a:lnSpc>
                <a:spcPct val="130000"/>
              </a:lnSpc>
            </a:pPr>
            <a:r>
              <a:rPr lang="en-US" sz="1950" b="0">
                <a:solidFill>
                  <a:srgbClr val="102E40"/>
                </a:solidFill>
                <a:latin typeface="Arial"/>
              </a:rPr>
              <a:t xml:space="preserve">Warnings show what the rival will do.</a:t>
            </a:r>
            <a:endParaRPr lang="en-US"/>
          </a:p>
        </p:txBody>
      </p:sp>
      <p:sp>
        <p:nvSpPr>
          <p:cNvPr id="23" name="•"/>
          <p:cNvSpPr txBox="1"/>
          <p:nvPr/>
        </p:nvSpPr>
        <p:spPr>
          <a:xfrm>
            <a:off x="7620000" y="2748915"/>
            <a:ext cx="171450" cy="474193"/>
          </a:xfrm>
          <a:prstGeom prst="rect">
            <a:avLst/>
          </a:prstGeom>
          <a:noFill/>
          <a:ln>
            <a:noFill/>
          </a:ln>
        </p:spPr>
        <p:txBody>
          <a:bodyPr wrap="square" lIns="0" rIns="0" tIns="0" bIns="0" anchor="t">
            <a:noAutofit/>
          </a:bodyPr>
          <a:lstStyle/>
          <a:p>
            <a:pPr>
              <a:lnSpc>
                <a:spcPct val="130000"/>
              </a:lnSpc>
            </a:pPr>
            <a:r>
              <a:rPr lang="en-US" sz="1950" b="0">
                <a:solidFill>
                  <a:srgbClr val="126978"/>
                </a:solidFill>
                <a:latin typeface="Arial"/>
              </a:rPr>
              <a:t xml:space="preserve">•</a:t>
            </a:r>
            <a:endParaRPr lang="en-US"/>
          </a:p>
        </p:txBody>
      </p:sp>
      <p:sp>
        <p:nvSpPr>
          <p:cNvPr id="24" name="Pause stops clocks and held controls."/>
          <p:cNvSpPr txBox="1"/>
          <p:nvPr/>
        </p:nvSpPr>
        <p:spPr>
          <a:xfrm>
            <a:off x="7848600" y="2748915"/>
            <a:ext cx="3629025" cy="854088"/>
          </a:xfrm>
          <a:prstGeom prst="rect">
            <a:avLst/>
          </a:prstGeom>
          <a:noFill/>
          <a:ln>
            <a:noFill/>
          </a:ln>
        </p:spPr>
        <p:txBody>
          <a:bodyPr wrap="square" lIns="0" rIns="0" tIns="0" bIns="0" anchor="t">
            <a:noAutofit/>
          </a:bodyPr>
          <a:lstStyle/>
          <a:p>
            <a:pPr>
              <a:lnSpc>
                <a:spcPct val="130000"/>
              </a:lnSpc>
            </a:pPr>
            <a:r>
              <a:rPr lang="en-US" sz="1950" b="0">
                <a:solidFill>
                  <a:srgbClr val="102E40"/>
                </a:solidFill>
                <a:latin typeface="Arial"/>
              </a:rPr>
              <a:t xml:space="preserve">Pause stops clocks and held controls.</a:t>
            </a:r>
            <a:endParaRPr lang="en-US"/>
          </a:p>
        </p:txBody>
      </p:sp>
      <p:sp>
        <p:nvSpPr>
          <p:cNvPr id="25" name="•"/>
          <p:cNvSpPr txBox="1"/>
          <p:nvPr/>
        </p:nvSpPr>
        <p:spPr>
          <a:xfrm>
            <a:off x="7620000" y="3688080"/>
            <a:ext cx="171450" cy="474193"/>
          </a:xfrm>
          <a:prstGeom prst="rect">
            <a:avLst/>
          </a:prstGeom>
          <a:noFill/>
          <a:ln>
            <a:noFill/>
          </a:ln>
        </p:spPr>
        <p:txBody>
          <a:bodyPr wrap="square" lIns="0" rIns="0" tIns="0" bIns="0" anchor="t">
            <a:noAutofit/>
          </a:bodyPr>
          <a:lstStyle/>
          <a:p>
            <a:pPr>
              <a:lnSpc>
                <a:spcPct val="130000"/>
              </a:lnSpc>
            </a:pPr>
            <a:r>
              <a:rPr lang="en-US" sz="1950" b="0">
                <a:solidFill>
                  <a:srgbClr val="126978"/>
                </a:solidFill>
                <a:latin typeface="Arial"/>
              </a:rPr>
              <a:t xml:space="preserve">•</a:t>
            </a:r>
            <a:endParaRPr lang="en-US"/>
          </a:p>
        </p:txBody>
      </p:sp>
      <p:sp>
        <p:nvSpPr>
          <p:cNvPr id="26" name="Loss offers retry or short practice."/>
          <p:cNvSpPr txBox="1"/>
          <p:nvPr/>
        </p:nvSpPr>
        <p:spPr>
          <a:xfrm>
            <a:off x="7848600" y="3688080"/>
            <a:ext cx="3629025" cy="854088"/>
          </a:xfrm>
          <a:prstGeom prst="rect">
            <a:avLst/>
          </a:prstGeom>
          <a:noFill/>
          <a:ln>
            <a:noFill/>
          </a:ln>
        </p:spPr>
        <p:txBody>
          <a:bodyPr wrap="square" lIns="0" rIns="0" tIns="0" bIns="0" anchor="t">
            <a:noAutofit/>
          </a:bodyPr>
          <a:lstStyle/>
          <a:p>
            <a:pPr>
              <a:lnSpc>
                <a:spcPct val="130000"/>
              </a:lnSpc>
            </a:pPr>
            <a:r>
              <a:rPr lang="en-US" sz="1950" b="0">
                <a:solidFill>
                  <a:srgbClr val="102E40"/>
                </a:solidFill>
                <a:latin typeface="Arial"/>
              </a:rPr>
              <a:t xml:space="preserve">Loss offers retry or short practice.</a:t>
            </a:r>
            <a:endParaRPr lang="en-US"/>
          </a:p>
        </p:txBody>
      </p:sp>
      <p:sp>
        <p:nvSpPr>
          <p:cNvPr id="27" name="•"/>
          <p:cNvSpPr txBox="1"/>
          <p:nvPr/>
        </p:nvSpPr>
        <p:spPr>
          <a:xfrm>
            <a:off x="7620000" y="4627245"/>
            <a:ext cx="171450" cy="474193"/>
          </a:xfrm>
          <a:prstGeom prst="rect">
            <a:avLst/>
          </a:prstGeom>
          <a:noFill/>
          <a:ln>
            <a:noFill/>
          </a:ln>
        </p:spPr>
        <p:txBody>
          <a:bodyPr wrap="square" lIns="0" rIns="0" tIns="0" bIns="0" anchor="t">
            <a:noAutofit/>
          </a:bodyPr>
          <a:lstStyle/>
          <a:p>
            <a:pPr>
              <a:lnSpc>
                <a:spcPct val="130000"/>
              </a:lnSpc>
            </a:pPr>
            <a:r>
              <a:rPr lang="en-US" sz="1950" b="0">
                <a:solidFill>
                  <a:srgbClr val="126978"/>
                </a:solidFill>
                <a:latin typeface="Arial"/>
              </a:rPr>
              <a:t xml:space="preserve">•</a:t>
            </a:r>
            <a:endParaRPr lang="en-US"/>
          </a:p>
        </p:txBody>
      </p:sp>
      <p:sp>
        <p:nvSpPr>
          <p:cNvPr id="28" name="Assistance has an honest report label."/>
          <p:cNvSpPr txBox="1"/>
          <p:nvPr/>
        </p:nvSpPr>
        <p:spPr>
          <a:xfrm>
            <a:off x="7848600" y="4627245"/>
            <a:ext cx="3629025" cy="854088"/>
          </a:xfrm>
          <a:prstGeom prst="rect">
            <a:avLst/>
          </a:prstGeom>
          <a:noFill/>
          <a:ln>
            <a:noFill/>
          </a:ln>
        </p:spPr>
        <p:txBody>
          <a:bodyPr wrap="square" lIns="0" rIns="0" tIns="0" bIns="0" anchor="t">
            <a:noAutofit/>
          </a:bodyPr>
          <a:lstStyle/>
          <a:p>
            <a:pPr>
              <a:lnSpc>
                <a:spcPct val="130000"/>
              </a:lnSpc>
            </a:pPr>
            <a:r>
              <a:rPr lang="en-US" sz="1950" b="0">
                <a:solidFill>
                  <a:srgbClr val="102E40"/>
                </a:solidFill>
                <a:latin typeface="Arial"/>
              </a:rPr>
              <a:t xml:space="preserve">Assistance has an honest report label.</a:t>
            </a:r>
            <a:endParaRPr lang="en-US"/>
          </a:p>
        </p:txBody>
      </p:sp>
      <p:sp>
        <p:nvSpPr>
          <p:cNvPr id="29" name="Farshore / Phase 2 / 7"/>
          <p:cNvSpPr txBox="1"/>
          <p:nvPr/>
        </p:nvSpPr>
        <p:spPr>
          <a:xfrm>
            <a:off x="609600" y="6343650"/>
            <a:ext cx="10972800" cy="298856"/>
          </a:xfrm>
          <a:prstGeom prst="rect">
            <a:avLst/>
          </a:prstGeom>
          <a:noFill/>
          <a:ln>
            <a:noFill/>
          </a:ln>
        </p:spPr>
        <p:txBody>
          <a:bodyPr wrap="square" lIns="0" rIns="0" tIns="0" bIns="0" anchor="t">
            <a:noAutofit/>
          </a:bodyPr>
          <a:lstStyle/>
          <a:p>
            <a:pPr>
              <a:lnSpc>
                <a:spcPct val="130000"/>
              </a:lnSpc>
            </a:pPr>
            <a:r>
              <a:rPr lang="en-US" sz="1050" b="0">
                <a:solidFill>
                  <a:srgbClr val="526875"/>
                </a:solidFill>
                <a:latin typeface="Arial"/>
              </a:rPr>
              <a:t xml:space="preserve">Farshore / Phase 2 / 7</a:t>
            </a:r>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AI preparation states"/>
          <p:cNvSpPr txBox="1"/>
          <p:nvPr/>
        </p:nvSpPr>
        <p:spPr>
          <a:xfrm>
            <a:off x="609600" y="400050"/>
            <a:ext cx="10972800" cy="795642"/>
          </a:xfrm>
          <a:prstGeom prst="rect">
            <a:avLst/>
          </a:prstGeom>
          <a:noFill/>
          <a:ln>
            <a:noFill/>
          </a:ln>
        </p:spPr>
        <p:txBody>
          <a:bodyPr wrap="square" lIns="0" rIns="0" tIns="0" bIns="0" anchor="t">
            <a:noAutofit/>
          </a:bodyPr>
          <a:lstStyle/>
          <a:p>
            <a:pPr>
              <a:lnSpc>
                <a:spcPct val="130000"/>
              </a:lnSpc>
            </a:pPr>
            <a:r>
              <a:rPr lang="en-US" sz="3600" b="1">
                <a:solidFill>
                  <a:srgbClr val="102E40"/>
                </a:solidFill>
                <a:latin typeface="Arial"/>
              </a:rPr>
              <a:t xml:space="preserve">AI preparation states</a:t>
            </a:r>
            <a:endParaRPr lang="en-US"/>
          </a:p>
        </p:txBody>
      </p:sp>
      <p:sp>
        <p:nvSpPr>
          <p:cNvPr id="3" name="Initial, loading and reviewed success"/>
          <p:cNvSpPr txBox="1"/>
          <p:nvPr/>
        </p:nvSpPr>
        <p:spPr>
          <a:xfrm>
            <a:off x="609600" y="1009650"/>
            <a:ext cx="10972800" cy="386524"/>
          </a:xfrm>
          <a:prstGeom prst="rect">
            <a:avLst/>
          </a:prstGeom>
          <a:noFill/>
          <a:ln>
            <a:noFill/>
          </a:ln>
        </p:spPr>
        <p:txBody>
          <a:bodyPr wrap="square" lIns="0" rIns="0" tIns="0" bIns="0" anchor="t">
            <a:noAutofit/>
          </a:bodyPr>
          <a:lstStyle/>
          <a:p>
            <a:pPr>
              <a:lnSpc>
                <a:spcPct val="130000"/>
              </a:lnSpc>
            </a:pPr>
            <a:r>
              <a:rPr lang="en-US" sz="1500" b="0">
                <a:solidFill>
                  <a:srgbClr val="526875"/>
                </a:solidFill>
                <a:latin typeface="Arial"/>
              </a:rPr>
              <a:t xml:space="preserve">Initial, loading and reviewed success</a:t>
            </a:r>
            <a:endParaRPr lang="en-US"/>
          </a:p>
        </p:txBody>
      </p:sp>
      <p:sp>
        <p:nvSpPr>
          <p:cNvPr id="4" name="Initial"/>
          <p:cNvSpPr txBox="1"/>
          <p:nvPr/>
        </p:nvSpPr>
        <p:spPr>
          <a:xfrm>
            <a:off x="609600" y="1781175"/>
            <a:ext cx="3333750" cy="547249"/>
          </a:xfrm>
          <a:prstGeom prst="rect">
            <a:avLst/>
          </a:prstGeom>
          <a:noFill/>
          <a:ln>
            <a:noFill/>
          </a:ln>
        </p:spPr>
        <p:txBody>
          <a:bodyPr wrap="square" lIns="0" rIns="0" tIns="0" bIns="0" anchor="t">
            <a:noAutofit/>
          </a:bodyPr>
          <a:lstStyle/>
          <a:p>
            <a:pPr>
              <a:lnSpc>
                <a:spcPct val="130000"/>
              </a:lnSpc>
            </a:pPr>
            <a:r>
              <a:rPr lang="en-US" sz="2325" b="1">
                <a:solidFill>
                  <a:srgbClr val="102E40"/>
                </a:solidFill>
                <a:latin typeface="Arial"/>
              </a:rPr>
              <a:t xml:space="preserve">Initial</a:t>
            </a:r>
            <a:endParaRPr lang="en-US"/>
          </a:p>
        </p:txBody>
      </p:sp>
      <p:sp>
        <p:nvSpPr>
          <p:cNvPr id="5" name="rect"/>
          <p:cNvSpPr txBox="0"/>
          <p:nvPr/>
        </p:nvSpPr>
        <p:spPr>
          <a:xfrm>
            <a:off x="609600" y="2381250"/>
            <a:ext cx="3333750" cy="2809875"/>
          </a:xfrm>
          <a:prstGeom prst="rect">
            <a:avLst/>
          </a:prstGeom>
          <a:solidFill>
            <a:srgbClr val="FFFFFF"/>
          </a:solidFill>
          <a:ln w="12700">
            <a:solidFill>
              <a:srgbClr val="777777"/>
            </a:solidFill>
          </a:ln>
        </p:spPr>
      </p:sp>
      <p:sp>
        <p:nvSpPr>
          <p:cNvPr id="6" name="rect"/>
          <p:cNvSpPr txBox="0"/>
          <p:nvPr/>
        </p:nvSpPr>
        <p:spPr>
          <a:xfrm>
            <a:off x="762000" y="2590800"/>
            <a:ext cx="3028950" cy="657225"/>
          </a:xfrm>
          <a:prstGeom prst="rect">
            <a:avLst/>
          </a:prstGeom>
          <a:solidFill>
            <a:srgbClr val="F4F4F4"/>
          </a:solidFill>
          <a:ln w="12700">
            <a:solidFill>
              <a:srgbClr val="999999"/>
            </a:solidFill>
          </a:ln>
        </p:spPr>
      </p:sp>
      <p:sp>
        <p:nvSpPr>
          <p:cNvPr id="7" name="Difficulty and mode"/>
          <p:cNvSpPr txBox="1"/>
          <p:nvPr/>
        </p:nvSpPr>
        <p:spPr>
          <a:xfrm>
            <a:off x="876300" y="2752725"/>
            <a:ext cx="2800350" cy="430359"/>
          </a:xfrm>
          <a:prstGeom prst="rect">
            <a:avLst/>
          </a:prstGeom>
          <a:noFill/>
          <a:ln>
            <a:noFill/>
          </a:ln>
        </p:spPr>
        <p:txBody>
          <a:bodyPr wrap="square" lIns="0" rIns="0" tIns="0" bIns="0" anchor="t">
            <a:noAutofit/>
          </a:bodyPr>
          <a:lstStyle/>
          <a:p>
            <a:pPr>
              <a:lnSpc>
                <a:spcPct val="130000"/>
              </a:lnSpc>
            </a:pPr>
            <a:r>
              <a:rPr lang="en-US" sz="1725" b="0">
                <a:solidFill>
                  <a:srgbClr val="222222"/>
                </a:solidFill>
                <a:latin typeface="Arial"/>
              </a:rPr>
              <a:t xml:space="preserve">Difficulty and mode</a:t>
            </a:r>
            <a:endParaRPr lang="en-US"/>
          </a:p>
        </p:txBody>
      </p:sp>
      <p:sp>
        <p:nvSpPr>
          <p:cNvPr id="8" name="rect"/>
          <p:cNvSpPr txBox="0"/>
          <p:nvPr/>
        </p:nvSpPr>
        <p:spPr>
          <a:xfrm>
            <a:off x="762000" y="3409950"/>
            <a:ext cx="3028950" cy="657225"/>
          </a:xfrm>
          <a:prstGeom prst="rect">
            <a:avLst/>
          </a:prstGeom>
          <a:solidFill>
            <a:srgbClr val="F4F4F4"/>
          </a:solidFill>
          <a:ln w="12700">
            <a:solidFill>
              <a:srgbClr val="999999"/>
            </a:solidFill>
          </a:ln>
        </p:spPr>
      </p:sp>
      <p:sp>
        <p:nvSpPr>
          <p:cNvPr id="9" name="Local rival ready"/>
          <p:cNvSpPr txBox="1"/>
          <p:nvPr/>
        </p:nvSpPr>
        <p:spPr>
          <a:xfrm>
            <a:off x="876300" y="3571875"/>
            <a:ext cx="2800350" cy="430359"/>
          </a:xfrm>
          <a:prstGeom prst="rect">
            <a:avLst/>
          </a:prstGeom>
          <a:noFill/>
          <a:ln>
            <a:noFill/>
          </a:ln>
        </p:spPr>
        <p:txBody>
          <a:bodyPr wrap="square" lIns="0" rIns="0" tIns="0" bIns="0" anchor="t">
            <a:noAutofit/>
          </a:bodyPr>
          <a:lstStyle/>
          <a:p>
            <a:pPr>
              <a:lnSpc>
                <a:spcPct val="130000"/>
              </a:lnSpc>
            </a:pPr>
            <a:r>
              <a:rPr lang="en-US" sz="1725" b="0">
                <a:solidFill>
                  <a:srgbClr val="222222"/>
                </a:solidFill>
                <a:latin typeface="Arial"/>
              </a:rPr>
              <a:t xml:space="preserve">Local rival ready</a:t>
            </a:r>
            <a:endParaRPr lang="en-US"/>
          </a:p>
        </p:txBody>
      </p:sp>
      <p:sp>
        <p:nvSpPr>
          <p:cNvPr id="10" name="rect"/>
          <p:cNvSpPr txBox="0"/>
          <p:nvPr/>
        </p:nvSpPr>
        <p:spPr>
          <a:xfrm>
            <a:off x="762000" y="4229100"/>
            <a:ext cx="3028950" cy="657225"/>
          </a:xfrm>
          <a:prstGeom prst="rect">
            <a:avLst/>
          </a:prstGeom>
          <a:solidFill>
            <a:srgbClr val="F4F4F4"/>
          </a:solidFill>
          <a:ln w="12700">
            <a:solidFill>
              <a:srgbClr val="999999"/>
            </a:solidFill>
          </a:ln>
        </p:spPr>
      </p:sp>
      <p:sp>
        <p:nvSpPr>
          <p:cNvPr id="11" name="Prepare with model"/>
          <p:cNvSpPr txBox="1"/>
          <p:nvPr/>
        </p:nvSpPr>
        <p:spPr>
          <a:xfrm>
            <a:off x="876300" y="4391025"/>
            <a:ext cx="2800350" cy="430359"/>
          </a:xfrm>
          <a:prstGeom prst="rect">
            <a:avLst/>
          </a:prstGeom>
          <a:noFill/>
          <a:ln>
            <a:noFill/>
          </a:ln>
        </p:spPr>
        <p:txBody>
          <a:bodyPr wrap="square" lIns="0" rIns="0" tIns="0" bIns="0" anchor="t">
            <a:noAutofit/>
          </a:bodyPr>
          <a:lstStyle/>
          <a:p>
            <a:pPr>
              <a:lnSpc>
                <a:spcPct val="130000"/>
              </a:lnSpc>
            </a:pPr>
            <a:r>
              <a:rPr lang="en-US" sz="1725" b="0">
                <a:solidFill>
                  <a:srgbClr val="222222"/>
                </a:solidFill>
                <a:latin typeface="Arial"/>
              </a:rPr>
              <a:t xml:space="preserve">Prepare with model</a:t>
            </a:r>
            <a:endParaRPr lang="en-US"/>
          </a:p>
        </p:txBody>
      </p:sp>
      <p:sp>
        <p:nvSpPr>
          <p:cNvPr id="12" name="Loading"/>
          <p:cNvSpPr txBox="1"/>
          <p:nvPr/>
        </p:nvSpPr>
        <p:spPr>
          <a:xfrm>
            <a:off x="4419600" y="1781175"/>
            <a:ext cx="3333750" cy="547249"/>
          </a:xfrm>
          <a:prstGeom prst="rect">
            <a:avLst/>
          </a:prstGeom>
          <a:noFill/>
          <a:ln>
            <a:noFill/>
          </a:ln>
        </p:spPr>
        <p:txBody>
          <a:bodyPr wrap="square" lIns="0" rIns="0" tIns="0" bIns="0" anchor="t">
            <a:noAutofit/>
          </a:bodyPr>
          <a:lstStyle/>
          <a:p>
            <a:pPr>
              <a:lnSpc>
                <a:spcPct val="130000"/>
              </a:lnSpc>
            </a:pPr>
            <a:r>
              <a:rPr lang="en-US" sz="2325" b="1">
                <a:solidFill>
                  <a:srgbClr val="102E40"/>
                </a:solidFill>
                <a:latin typeface="Arial"/>
              </a:rPr>
              <a:t xml:space="preserve">Loading</a:t>
            </a:r>
            <a:endParaRPr lang="en-US"/>
          </a:p>
        </p:txBody>
      </p:sp>
      <p:sp>
        <p:nvSpPr>
          <p:cNvPr id="13" name="rect"/>
          <p:cNvSpPr txBox="0"/>
          <p:nvPr/>
        </p:nvSpPr>
        <p:spPr>
          <a:xfrm>
            <a:off x="4419600" y="2381250"/>
            <a:ext cx="3333750" cy="2809875"/>
          </a:xfrm>
          <a:prstGeom prst="rect">
            <a:avLst/>
          </a:prstGeom>
          <a:solidFill>
            <a:srgbClr val="FFFFFF"/>
          </a:solidFill>
          <a:ln w="12700">
            <a:solidFill>
              <a:srgbClr val="777777"/>
            </a:solidFill>
          </a:ln>
        </p:spPr>
      </p:sp>
      <p:sp>
        <p:nvSpPr>
          <p:cNvPr id="14" name="rect"/>
          <p:cNvSpPr txBox="0"/>
          <p:nvPr/>
        </p:nvSpPr>
        <p:spPr>
          <a:xfrm>
            <a:off x="4572000" y="2590800"/>
            <a:ext cx="3028950" cy="657225"/>
          </a:xfrm>
          <a:prstGeom prst="rect">
            <a:avLst/>
          </a:prstGeom>
          <a:solidFill>
            <a:srgbClr val="F4F4F4"/>
          </a:solidFill>
          <a:ln w="12700">
            <a:solidFill>
              <a:srgbClr val="999999"/>
            </a:solidFill>
          </a:ln>
        </p:spPr>
      </p:sp>
      <p:sp>
        <p:nvSpPr>
          <p:cNvPr id="15" name="Preparing strategy"/>
          <p:cNvSpPr txBox="1"/>
          <p:nvPr/>
        </p:nvSpPr>
        <p:spPr>
          <a:xfrm>
            <a:off x="4686300" y="2752725"/>
            <a:ext cx="2800350" cy="430359"/>
          </a:xfrm>
          <a:prstGeom prst="rect">
            <a:avLst/>
          </a:prstGeom>
          <a:noFill/>
          <a:ln>
            <a:noFill/>
          </a:ln>
        </p:spPr>
        <p:txBody>
          <a:bodyPr wrap="square" lIns="0" rIns="0" tIns="0" bIns="0" anchor="t">
            <a:noAutofit/>
          </a:bodyPr>
          <a:lstStyle/>
          <a:p>
            <a:pPr>
              <a:lnSpc>
                <a:spcPct val="130000"/>
              </a:lnSpc>
            </a:pPr>
            <a:r>
              <a:rPr lang="en-US" sz="1725" b="0">
                <a:solidFill>
                  <a:srgbClr val="222222"/>
                </a:solidFill>
                <a:latin typeface="Arial"/>
              </a:rPr>
              <a:t xml:space="preserve">Preparing strategy</a:t>
            </a:r>
            <a:endParaRPr lang="en-US"/>
          </a:p>
        </p:txBody>
      </p:sp>
      <p:sp>
        <p:nvSpPr>
          <p:cNvPr id="16" name="rect"/>
          <p:cNvSpPr txBox="0"/>
          <p:nvPr/>
        </p:nvSpPr>
        <p:spPr>
          <a:xfrm>
            <a:off x="4572000" y="3409950"/>
            <a:ext cx="3028950" cy="657225"/>
          </a:xfrm>
          <a:prstGeom prst="rect">
            <a:avLst/>
          </a:prstGeom>
          <a:solidFill>
            <a:srgbClr val="F4F4F4"/>
          </a:solidFill>
          <a:ln w="12700">
            <a:solidFill>
              <a:srgbClr val="999999"/>
            </a:solidFill>
          </a:ln>
        </p:spPr>
      </p:sp>
      <p:sp>
        <p:nvSpPr>
          <p:cNvPr id="17" name="12 seconds elapsed"/>
          <p:cNvSpPr txBox="1"/>
          <p:nvPr/>
        </p:nvSpPr>
        <p:spPr>
          <a:xfrm>
            <a:off x="4686300" y="3571875"/>
            <a:ext cx="2800350" cy="430359"/>
          </a:xfrm>
          <a:prstGeom prst="rect">
            <a:avLst/>
          </a:prstGeom>
          <a:noFill/>
          <a:ln>
            <a:noFill/>
          </a:ln>
        </p:spPr>
        <p:txBody>
          <a:bodyPr wrap="square" lIns="0" rIns="0" tIns="0" bIns="0" anchor="t">
            <a:noAutofit/>
          </a:bodyPr>
          <a:lstStyle/>
          <a:p>
            <a:pPr>
              <a:lnSpc>
                <a:spcPct val="130000"/>
              </a:lnSpc>
            </a:pPr>
            <a:r>
              <a:rPr lang="en-US" sz="1725" b="0">
                <a:solidFill>
                  <a:srgbClr val="222222"/>
                </a:solidFill>
                <a:latin typeface="Arial"/>
              </a:rPr>
              <a:t xml:space="preserve">12 seconds elapsed</a:t>
            </a:r>
            <a:endParaRPr lang="en-US"/>
          </a:p>
        </p:txBody>
      </p:sp>
      <p:sp>
        <p:nvSpPr>
          <p:cNvPr id="18" name="rect"/>
          <p:cNvSpPr txBox="0"/>
          <p:nvPr/>
        </p:nvSpPr>
        <p:spPr>
          <a:xfrm>
            <a:off x="4572000" y="4229100"/>
            <a:ext cx="3028950" cy="657225"/>
          </a:xfrm>
          <a:prstGeom prst="rect">
            <a:avLst/>
          </a:prstGeom>
          <a:solidFill>
            <a:srgbClr val="F4F4F4"/>
          </a:solidFill>
          <a:ln w="12700">
            <a:solidFill>
              <a:srgbClr val="999999"/>
            </a:solidFill>
          </a:ln>
        </p:spPr>
      </p:sp>
      <p:sp>
        <p:nvSpPr>
          <p:cNvPr id="19" name="Cancel / Practice"/>
          <p:cNvSpPr txBox="1"/>
          <p:nvPr/>
        </p:nvSpPr>
        <p:spPr>
          <a:xfrm>
            <a:off x="4686300" y="4391025"/>
            <a:ext cx="2800350" cy="430359"/>
          </a:xfrm>
          <a:prstGeom prst="rect">
            <a:avLst/>
          </a:prstGeom>
          <a:noFill/>
          <a:ln>
            <a:noFill/>
          </a:ln>
        </p:spPr>
        <p:txBody>
          <a:bodyPr wrap="square" lIns="0" rIns="0" tIns="0" bIns="0" anchor="t">
            <a:noAutofit/>
          </a:bodyPr>
          <a:lstStyle/>
          <a:p>
            <a:pPr>
              <a:lnSpc>
                <a:spcPct val="130000"/>
              </a:lnSpc>
            </a:pPr>
            <a:r>
              <a:rPr lang="en-US" sz="1725" b="0">
                <a:solidFill>
                  <a:srgbClr val="222222"/>
                </a:solidFill>
                <a:latin typeface="Arial"/>
              </a:rPr>
              <a:t xml:space="preserve">Cancel / Practice</a:t>
            </a:r>
            <a:endParaRPr lang="en-US"/>
          </a:p>
        </p:txBody>
      </p:sp>
      <p:sp>
        <p:nvSpPr>
          <p:cNvPr id="20" name="Success"/>
          <p:cNvSpPr txBox="1"/>
          <p:nvPr/>
        </p:nvSpPr>
        <p:spPr>
          <a:xfrm>
            <a:off x="8229600" y="1781175"/>
            <a:ext cx="3333750" cy="547249"/>
          </a:xfrm>
          <a:prstGeom prst="rect">
            <a:avLst/>
          </a:prstGeom>
          <a:noFill/>
          <a:ln>
            <a:noFill/>
          </a:ln>
        </p:spPr>
        <p:txBody>
          <a:bodyPr wrap="square" lIns="0" rIns="0" tIns="0" bIns="0" anchor="t">
            <a:noAutofit/>
          </a:bodyPr>
          <a:lstStyle/>
          <a:p>
            <a:pPr>
              <a:lnSpc>
                <a:spcPct val="130000"/>
              </a:lnSpc>
            </a:pPr>
            <a:r>
              <a:rPr lang="en-US" sz="2325" b="1">
                <a:solidFill>
                  <a:srgbClr val="102E40"/>
                </a:solidFill>
                <a:latin typeface="Arial"/>
              </a:rPr>
              <a:t xml:space="preserve">Success</a:t>
            </a:r>
            <a:endParaRPr lang="en-US"/>
          </a:p>
        </p:txBody>
      </p:sp>
      <p:sp>
        <p:nvSpPr>
          <p:cNvPr id="21" name="rect"/>
          <p:cNvSpPr txBox="0"/>
          <p:nvPr/>
        </p:nvSpPr>
        <p:spPr>
          <a:xfrm>
            <a:off x="8229600" y="2381250"/>
            <a:ext cx="3333750" cy="2809875"/>
          </a:xfrm>
          <a:prstGeom prst="rect">
            <a:avLst/>
          </a:prstGeom>
          <a:solidFill>
            <a:srgbClr val="FFFFFF"/>
          </a:solidFill>
          <a:ln w="12700">
            <a:solidFill>
              <a:srgbClr val="777777"/>
            </a:solidFill>
          </a:ln>
        </p:spPr>
      </p:sp>
      <p:sp>
        <p:nvSpPr>
          <p:cNvPr id="22" name="rect"/>
          <p:cNvSpPr txBox="0"/>
          <p:nvPr/>
        </p:nvSpPr>
        <p:spPr>
          <a:xfrm>
            <a:off x="8382000" y="2590800"/>
            <a:ext cx="3028950" cy="657225"/>
          </a:xfrm>
          <a:prstGeom prst="rect">
            <a:avLst/>
          </a:prstGeom>
          <a:solidFill>
            <a:srgbClr val="F4F4F4"/>
          </a:solidFill>
          <a:ln w="12700">
            <a:solidFill>
              <a:srgbClr val="999999"/>
            </a:solidFill>
          </a:ln>
        </p:spPr>
      </p:sp>
      <p:sp>
        <p:nvSpPr>
          <p:cNvPr id="23" name="Chain Alchemist"/>
          <p:cNvSpPr txBox="1"/>
          <p:nvPr/>
        </p:nvSpPr>
        <p:spPr>
          <a:xfrm>
            <a:off x="8496300" y="2752725"/>
            <a:ext cx="2800350" cy="430359"/>
          </a:xfrm>
          <a:prstGeom prst="rect">
            <a:avLst/>
          </a:prstGeom>
          <a:noFill/>
          <a:ln>
            <a:noFill/>
          </a:ln>
        </p:spPr>
        <p:txBody>
          <a:bodyPr wrap="square" lIns="0" rIns="0" tIns="0" bIns="0" anchor="t">
            <a:noAutofit/>
          </a:bodyPr>
          <a:lstStyle/>
          <a:p>
            <a:pPr>
              <a:lnSpc>
                <a:spcPct val="130000"/>
              </a:lnSpc>
            </a:pPr>
            <a:r>
              <a:rPr lang="en-US" sz="1725" b="0">
                <a:solidFill>
                  <a:srgbClr val="222222"/>
                </a:solidFill>
                <a:latin typeface="Arial"/>
              </a:rPr>
              <a:t xml:space="preserve">Chain Alchemist</a:t>
            </a:r>
            <a:endParaRPr lang="en-US"/>
          </a:p>
        </p:txBody>
      </p:sp>
      <p:sp>
        <p:nvSpPr>
          <p:cNvPr id="24" name="rect"/>
          <p:cNvSpPr txBox="0"/>
          <p:nvPr/>
        </p:nvSpPr>
        <p:spPr>
          <a:xfrm>
            <a:off x="8382000" y="3409950"/>
            <a:ext cx="3028950" cy="657225"/>
          </a:xfrm>
          <a:prstGeom prst="rect">
            <a:avLst/>
          </a:prstGeom>
          <a:solidFill>
            <a:srgbClr val="F4F4F4"/>
          </a:solidFill>
          <a:ln w="12700">
            <a:solidFill>
              <a:srgbClr val="999999"/>
            </a:solidFill>
          </a:ln>
        </p:spPr>
      </p:sp>
      <p:sp>
        <p:nvSpPr>
          <p:cNvPr id="25" name="Fixed Normal rules"/>
          <p:cNvSpPr txBox="1"/>
          <p:nvPr/>
        </p:nvSpPr>
        <p:spPr>
          <a:xfrm>
            <a:off x="8496300" y="3571875"/>
            <a:ext cx="2800350" cy="430359"/>
          </a:xfrm>
          <a:prstGeom prst="rect">
            <a:avLst/>
          </a:prstGeom>
          <a:noFill/>
          <a:ln>
            <a:noFill/>
          </a:ln>
        </p:spPr>
        <p:txBody>
          <a:bodyPr wrap="square" lIns="0" rIns="0" tIns="0" bIns="0" anchor="t">
            <a:noAutofit/>
          </a:bodyPr>
          <a:lstStyle/>
          <a:p>
            <a:pPr>
              <a:lnSpc>
                <a:spcPct val="130000"/>
              </a:lnSpc>
            </a:pPr>
            <a:r>
              <a:rPr lang="en-US" sz="1725" b="0">
                <a:solidFill>
                  <a:srgbClr val="222222"/>
                </a:solidFill>
                <a:latin typeface="Arial"/>
              </a:rPr>
              <a:t xml:space="preserve">Fixed Normal rules</a:t>
            </a:r>
            <a:endParaRPr lang="en-US"/>
          </a:p>
        </p:txBody>
      </p:sp>
      <p:sp>
        <p:nvSpPr>
          <p:cNvPr id="26" name="rect"/>
          <p:cNvSpPr txBox="0"/>
          <p:nvPr/>
        </p:nvSpPr>
        <p:spPr>
          <a:xfrm>
            <a:off x="8382000" y="4229100"/>
            <a:ext cx="3028950" cy="657225"/>
          </a:xfrm>
          <a:prstGeom prst="rect">
            <a:avLst/>
          </a:prstGeom>
          <a:solidFill>
            <a:srgbClr val="F4F4F4"/>
          </a:solidFill>
          <a:ln w="12700">
            <a:solidFill>
              <a:srgbClr val="999999"/>
            </a:solidFill>
          </a:ln>
        </p:spPr>
      </p:sp>
      <p:sp>
        <p:nvSpPr>
          <p:cNvPr id="27" name="Start / Prepare another"/>
          <p:cNvSpPr txBox="1"/>
          <p:nvPr/>
        </p:nvSpPr>
        <p:spPr>
          <a:xfrm>
            <a:off x="8496300" y="4391025"/>
            <a:ext cx="2800350" cy="430359"/>
          </a:xfrm>
          <a:prstGeom prst="rect">
            <a:avLst/>
          </a:prstGeom>
          <a:noFill/>
          <a:ln>
            <a:noFill/>
          </a:ln>
        </p:spPr>
        <p:txBody>
          <a:bodyPr wrap="square" lIns="0" rIns="0" tIns="0" bIns="0" anchor="t">
            <a:noAutofit/>
          </a:bodyPr>
          <a:lstStyle/>
          <a:p>
            <a:pPr>
              <a:lnSpc>
                <a:spcPct val="130000"/>
              </a:lnSpc>
            </a:pPr>
            <a:r>
              <a:rPr lang="en-US" sz="1725" b="0">
                <a:solidFill>
                  <a:srgbClr val="222222"/>
                </a:solidFill>
                <a:latin typeface="Arial"/>
              </a:rPr>
              <a:t xml:space="preserve">Start / Prepare another</a:t>
            </a:r>
            <a:endParaRPr lang="en-US"/>
          </a:p>
        </p:txBody>
      </p:sp>
      <p:sp>
        <p:nvSpPr>
          <p:cNvPr id="28" name="W05-W07 / F2. Preparation consumes no gameplay time."/>
          <p:cNvSpPr txBox="1"/>
          <p:nvPr/>
        </p:nvSpPr>
        <p:spPr>
          <a:xfrm>
            <a:off x="609600" y="5819775"/>
            <a:ext cx="10858500" cy="444970"/>
          </a:xfrm>
          <a:prstGeom prst="rect">
            <a:avLst/>
          </a:prstGeom>
          <a:noFill/>
          <a:ln>
            <a:noFill/>
          </a:ln>
        </p:spPr>
        <p:txBody>
          <a:bodyPr wrap="square" lIns="0" rIns="0" tIns="0" bIns="0" anchor="t">
            <a:noAutofit/>
          </a:bodyPr>
          <a:lstStyle/>
          <a:p>
            <a:pPr>
              <a:lnSpc>
                <a:spcPct val="130000"/>
              </a:lnSpc>
            </a:pPr>
            <a:r>
              <a:rPr lang="en-US" sz="1800" b="0">
                <a:solidFill>
                  <a:srgbClr val="526875"/>
                </a:solidFill>
                <a:latin typeface="Arial"/>
              </a:rPr>
              <a:t xml:space="preserve">W05-W07 / F2. Preparation consumes no gameplay time.</a:t>
            </a:r>
            <a:endParaRPr lang="en-US"/>
          </a:p>
        </p:txBody>
      </p:sp>
      <p:sp>
        <p:nvSpPr>
          <p:cNvPr id="29" name="Farshore / Phase 2 / 8"/>
          <p:cNvSpPr txBox="1"/>
          <p:nvPr/>
        </p:nvSpPr>
        <p:spPr>
          <a:xfrm>
            <a:off x="609600" y="6343650"/>
            <a:ext cx="10972800" cy="298856"/>
          </a:xfrm>
          <a:prstGeom prst="rect">
            <a:avLst/>
          </a:prstGeom>
          <a:noFill/>
          <a:ln>
            <a:noFill/>
          </a:ln>
        </p:spPr>
        <p:txBody>
          <a:bodyPr wrap="square" lIns="0" rIns="0" tIns="0" bIns="0" anchor="t">
            <a:noAutofit/>
          </a:bodyPr>
          <a:lstStyle/>
          <a:p>
            <a:pPr>
              <a:lnSpc>
                <a:spcPct val="130000"/>
              </a:lnSpc>
            </a:pPr>
            <a:r>
              <a:rPr lang="en-US" sz="1050" b="0">
                <a:solidFill>
                  <a:srgbClr val="526875"/>
                </a:solidFill>
                <a:latin typeface="Arial"/>
              </a:rPr>
              <a:t xml:space="preserve">Farshore / Phase 2 / 8</a:t>
            </a:r>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F4: Uncertainty and error recovery"/>
          <p:cNvSpPr txBox="1"/>
          <p:nvPr/>
        </p:nvSpPr>
        <p:spPr>
          <a:xfrm>
            <a:off x="609600" y="400050"/>
            <a:ext cx="10972800" cy="795642"/>
          </a:xfrm>
          <a:prstGeom prst="rect">
            <a:avLst/>
          </a:prstGeom>
          <a:noFill/>
          <a:ln>
            <a:noFill/>
          </a:ln>
        </p:spPr>
        <p:txBody>
          <a:bodyPr wrap="square" lIns="0" rIns="0" tIns="0" bIns="0" anchor="t">
            <a:noAutofit/>
          </a:bodyPr>
          <a:lstStyle/>
          <a:p>
            <a:pPr>
              <a:lnSpc>
                <a:spcPct val="130000"/>
              </a:lnSpc>
            </a:pPr>
            <a:r>
              <a:rPr lang="en-US" sz="3600" b="1">
                <a:solidFill>
                  <a:srgbClr val="102E40"/>
                </a:solidFill>
                <a:latin typeface="Arial"/>
              </a:rPr>
              <a:t xml:space="preserve">F4: Uncertainty and error recovery</a:t>
            </a:r>
            <a:endParaRPr lang="en-US"/>
          </a:p>
        </p:txBody>
      </p:sp>
      <p:sp>
        <p:nvSpPr>
          <p:cNvPr id="3" name="Rosa and Maya / no dead end and no invented confidence "/>
          <p:cNvSpPr txBox="1"/>
          <p:nvPr/>
        </p:nvSpPr>
        <p:spPr>
          <a:xfrm>
            <a:off x="609600" y="1009650"/>
            <a:ext cx="10972800" cy="386524"/>
          </a:xfrm>
          <a:prstGeom prst="rect">
            <a:avLst/>
          </a:prstGeom>
          <a:noFill/>
          <a:ln>
            <a:noFill/>
          </a:ln>
        </p:spPr>
        <p:txBody>
          <a:bodyPr wrap="square" lIns="0" rIns="0" tIns="0" bIns="0" anchor="t">
            <a:noAutofit/>
          </a:bodyPr>
          <a:lstStyle/>
          <a:p>
            <a:pPr>
              <a:lnSpc>
                <a:spcPct val="130000"/>
              </a:lnSpc>
            </a:pPr>
            <a:r>
              <a:rPr lang="en-US" sz="1500" b="0">
                <a:solidFill>
                  <a:srgbClr val="526875"/>
                </a:solidFill>
                <a:latin typeface="Arial"/>
              </a:rPr>
              <a:t xml:space="preserve">Rosa and Maya / no dead end and no invented confidence score</a:t>
            </a:r>
            <a:endParaRPr lang="en-US"/>
          </a:p>
        </p:txBody>
      </p:sp>
      <p:sp>
        <p:nvSpPr>
          <p:cNvPr id="4" name="Uncertain or unsupported"/>
          <p:cNvSpPr txBox="1"/>
          <p:nvPr/>
        </p:nvSpPr>
        <p:spPr>
          <a:xfrm>
            <a:off x="609600" y="1790700"/>
            <a:ext cx="5191125" cy="532638"/>
          </a:xfrm>
          <a:prstGeom prst="rect">
            <a:avLst/>
          </a:prstGeom>
          <a:noFill/>
          <a:ln>
            <a:noFill/>
          </a:ln>
        </p:spPr>
        <p:txBody>
          <a:bodyPr wrap="square" lIns="0" rIns="0" tIns="0" bIns="0" anchor="t">
            <a:noAutofit/>
          </a:bodyPr>
          <a:lstStyle/>
          <a:p>
            <a:pPr>
              <a:lnSpc>
                <a:spcPct val="130000"/>
              </a:lnSpc>
            </a:pPr>
            <a:r>
              <a:rPr lang="en-US" sz="2250" b="1">
                <a:solidFill>
                  <a:srgbClr val="102E40"/>
                </a:solidFill>
                <a:latin typeface="Arial"/>
              </a:rPr>
              <a:t xml:space="preserve">Uncertain or unsupported</a:t>
            </a:r>
            <a:endParaRPr lang="en-US"/>
          </a:p>
        </p:txBody>
      </p:sp>
      <p:sp>
        <p:nvSpPr>
          <p:cNvPr id="5" name="rect"/>
          <p:cNvSpPr txBox="0"/>
          <p:nvPr/>
        </p:nvSpPr>
        <p:spPr>
          <a:xfrm>
            <a:off x="609600" y="2381250"/>
            <a:ext cx="5095875" cy="2762250"/>
          </a:xfrm>
          <a:prstGeom prst="rect">
            <a:avLst/>
          </a:prstGeom>
          <a:solidFill>
            <a:srgbClr val="FFFFFF"/>
          </a:solidFill>
          <a:ln w="12700">
            <a:solidFill>
              <a:srgbClr val="777777"/>
            </a:solidFill>
          </a:ln>
        </p:spPr>
      </p:sp>
      <p:sp>
        <p:nvSpPr>
          <p:cNvPr id="6" name="rect"/>
          <p:cNvSpPr txBox="0"/>
          <p:nvPr/>
        </p:nvSpPr>
        <p:spPr>
          <a:xfrm>
            <a:off x="781050" y="2647950"/>
            <a:ext cx="4752975" cy="638175"/>
          </a:xfrm>
          <a:prstGeom prst="rect">
            <a:avLst/>
          </a:prstGeom>
          <a:solidFill>
            <a:srgbClr val="F4F4F4"/>
          </a:solidFill>
          <a:ln w="12700">
            <a:solidFill>
              <a:srgbClr val="999999"/>
            </a:solidFill>
          </a:ln>
        </p:spPr>
      </p:sp>
      <p:sp>
        <p:nvSpPr>
          <p:cNvPr id="7" name="Unsupported strategy"/>
          <p:cNvSpPr txBox="1"/>
          <p:nvPr/>
        </p:nvSpPr>
        <p:spPr>
          <a:xfrm>
            <a:off x="914400" y="2800350"/>
            <a:ext cx="4495800" cy="459581"/>
          </a:xfrm>
          <a:prstGeom prst="rect">
            <a:avLst/>
          </a:prstGeom>
          <a:noFill/>
          <a:ln>
            <a:noFill/>
          </a:ln>
        </p:spPr>
        <p:txBody>
          <a:bodyPr wrap="square" lIns="0" rIns="0" tIns="0" bIns="0" anchor="t">
            <a:noAutofit/>
          </a:bodyPr>
          <a:lstStyle/>
          <a:p>
            <a:pPr>
              <a:lnSpc>
                <a:spcPct val="130000"/>
              </a:lnSpc>
            </a:pPr>
            <a:r>
              <a:rPr lang="en-US" sz="1875" b="0">
                <a:solidFill>
                  <a:srgbClr val="222222"/>
                </a:solidFill>
                <a:latin typeface="Arial"/>
              </a:rPr>
              <a:t xml:space="preserve">Unsupported strategy</a:t>
            </a:r>
            <a:endParaRPr lang="en-US"/>
          </a:p>
        </p:txBody>
      </p:sp>
      <p:sp>
        <p:nvSpPr>
          <p:cNvPr id="8" name="rect"/>
          <p:cNvSpPr txBox="0"/>
          <p:nvPr/>
        </p:nvSpPr>
        <p:spPr>
          <a:xfrm>
            <a:off x="781050" y="3429000"/>
            <a:ext cx="4752975" cy="638175"/>
          </a:xfrm>
          <a:prstGeom prst="rect">
            <a:avLst/>
          </a:prstGeom>
          <a:solidFill>
            <a:srgbClr val="F4F4F4"/>
          </a:solidFill>
          <a:ln w="12700">
            <a:solidFill>
              <a:srgbClr val="999999"/>
            </a:solidFill>
          </a:ln>
        </p:spPr>
      </p:sp>
      <p:sp>
        <p:nvSpPr>
          <p:cNvPr id="9" name="Nothing changed"/>
          <p:cNvSpPr txBox="1"/>
          <p:nvPr/>
        </p:nvSpPr>
        <p:spPr>
          <a:xfrm>
            <a:off x="914400" y="3581400"/>
            <a:ext cx="4495800" cy="459581"/>
          </a:xfrm>
          <a:prstGeom prst="rect">
            <a:avLst/>
          </a:prstGeom>
          <a:noFill/>
          <a:ln>
            <a:noFill/>
          </a:ln>
        </p:spPr>
        <p:txBody>
          <a:bodyPr wrap="square" lIns="0" rIns="0" tIns="0" bIns="0" anchor="t">
            <a:noAutofit/>
          </a:bodyPr>
          <a:lstStyle/>
          <a:p>
            <a:pPr>
              <a:lnSpc>
                <a:spcPct val="130000"/>
              </a:lnSpc>
            </a:pPr>
            <a:r>
              <a:rPr lang="en-US" sz="1875" b="0">
                <a:solidFill>
                  <a:srgbClr val="222222"/>
                </a:solidFill>
                <a:latin typeface="Arial"/>
              </a:rPr>
              <a:t xml:space="preserve">Nothing changed</a:t>
            </a:r>
            <a:endParaRPr lang="en-US"/>
          </a:p>
        </p:txBody>
      </p:sp>
      <p:sp>
        <p:nvSpPr>
          <p:cNvPr id="10" name="rect"/>
          <p:cNvSpPr txBox="0"/>
          <p:nvPr/>
        </p:nvSpPr>
        <p:spPr>
          <a:xfrm>
            <a:off x="781050" y="4210050"/>
            <a:ext cx="4752975" cy="638175"/>
          </a:xfrm>
          <a:prstGeom prst="rect">
            <a:avLst/>
          </a:prstGeom>
          <a:solidFill>
            <a:srgbClr val="F4F4F4"/>
          </a:solidFill>
          <a:ln w="12700">
            <a:solidFill>
              <a:srgbClr val="999999"/>
            </a:solidFill>
          </a:ln>
        </p:spPr>
      </p:sp>
      <p:sp>
        <p:nvSpPr>
          <p:cNvPr id="11" name="Retry / local AI / Solo"/>
          <p:cNvSpPr txBox="1"/>
          <p:nvPr/>
        </p:nvSpPr>
        <p:spPr>
          <a:xfrm>
            <a:off x="914400" y="4362450"/>
            <a:ext cx="4495800" cy="459581"/>
          </a:xfrm>
          <a:prstGeom prst="rect">
            <a:avLst/>
          </a:prstGeom>
          <a:noFill/>
          <a:ln>
            <a:noFill/>
          </a:ln>
        </p:spPr>
        <p:txBody>
          <a:bodyPr wrap="square" lIns="0" rIns="0" tIns="0" bIns="0" anchor="t">
            <a:noAutofit/>
          </a:bodyPr>
          <a:lstStyle/>
          <a:p>
            <a:pPr>
              <a:lnSpc>
                <a:spcPct val="130000"/>
              </a:lnSpc>
            </a:pPr>
            <a:r>
              <a:rPr lang="en-US" sz="1875" b="0">
                <a:solidFill>
                  <a:srgbClr val="222222"/>
                </a:solidFill>
                <a:latin typeface="Arial"/>
              </a:rPr>
              <a:t xml:space="preserve">Retry / local AI / Solo</a:t>
            </a:r>
            <a:endParaRPr lang="en-US"/>
          </a:p>
        </p:txBody>
      </p:sp>
      <p:sp>
        <p:nvSpPr>
          <p:cNvPr id="12" name="Service error"/>
          <p:cNvSpPr txBox="1"/>
          <p:nvPr/>
        </p:nvSpPr>
        <p:spPr>
          <a:xfrm>
            <a:off x="6276975" y="1790700"/>
            <a:ext cx="5191125" cy="532638"/>
          </a:xfrm>
          <a:prstGeom prst="rect">
            <a:avLst/>
          </a:prstGeom>
          <a:noFill/>
          <a:ln>
            <a:noFill/>
          </a:ln>
        </p:spPr>
        <p:txBody>
          <a:bodyPr wrap="square" lIns="0" rIns="0" tIns="0" bIns="0" anchor="t">
            <a:noAutofit/>
          </a:bodyPr>
          <a:lstStyle/>
          <a:p>
            <a:pPr>
              <a:lnSpc>
                <a:spcPct val="130000"/>
              </a:lnSpc>
            </a:pPr>
            <a:r>
              <a:rPr lang="en-US" sz="2250" b="1">
                <a:solidFill>
                  <a:srgbClr val="102E40"/>
                </a:solidFill>
                <a:latin typeface="Arial"/>
              </a:rPr>
              <a:t xml:space="preserve">Service error</a:t>
            </a:r>
            <a:endParaRPr lang="en-US"/>
          </a:p>
        </p:txBody>
      </p:sp>
      <p:sp>
        <p:nvSpPr>
          <p:cNvPr id="13" name="rect"/>
          <p:cNvSpPr txBox="0"/>
          <p:nvPr/>
        </p:nvSpPr>
        <p:spPr>
          <a:xfrm>
            <a:off x="6276975" y="2381250"/>
            <a:ext cx="5095875" cy="2762250"/>
          </a:xfrm>
          <a:prstGeom prst="rect">
            <a:avLst/>
          </a:prstGeom>
          <a:solidFill>
            <a:srgbClr val="FFFFFF"/>
          </a:solidFill>
          <a:ln w="12700">
            <a:solidFill>
              <a:srgbClr val="777777"/>
            </a:solidFill>
          </a:ln>
        </p:spPr>
      </p:sp>
      <p:sp>
        <p:nvSpPr>
          <p:cNvPr id="14" name="rect"/>
          <p:cNvSpPr txBox="0"/>
          <p:nvPr/>
        </p:nvSpPr>
        <p:spPr>
          <a:xfrm>
            <a:off x="6448425" y="2647950"/>
            <a:ext cx="4752975" cy="638175"/>
          </a:xfrm>
          <a:prstGeom prst="rect">
            <a:avLst/>
          </a:prstGeom>
          <a:solidFill>
            <a:srgbClr val="F4F4F4"/>
          </a:solidFill>
          <a:ln w="12700">
            <a:solidFill>
              <a:srgbClr val="999999"/>
            </a:solidFill>
          </a:ln>
        </p:spPr>
      </p:sp>
      <p:sp>
        <p:nvSpPr>
          <p:cNvPr id="15" name="Unavailable or timed out"/>
          <p:cNvSpPr txBox="1"/>
          <p:nvPr/>
        </p:nvSpPr>
        <p:spPr>
          <a:xfrm>
            <a:off x="6581775" y="2800350"/>
            <a:ext cx="4495800" cy="459581"/>
          </a:xfrm>
          <a:prstGeom prst="rect">
            <a:avLst/>
          </a:prstGeom>
          <a:noFill/>
          <a:ln>
            <a:noFill/>
          </a:ln>
        </p:spPr>
        <p:txBody>
          <a:bodyPr wrap="square" lIns="0" rIns="0" tIns="0" bIns="0" anchor="t">
            <a:noAutofit/>
          </a:bodyPr>
          <a:lstStyle/>
          <a:p>
            <a:pPr>
              <a:lnSpc>
                <a:spcPct val="130000"/>
              </a:lnSpc>
            </a:pPr>
            <a:r>
              <a:rPr lang="en-US" sz="1875" b="0">
                <a:solidFill>
                  <a:srgbClr val="222222"/>
                </a:solidFill>
                <a:latin typeface="Arial"/>
              </a:rPr>
              <a:t xml:space="preserve">Unavailable or timed out</a:t>
            </a:r>
            <a:endParaRPr lang="en-US"/>
          </a:p>
        </p:txBody>
      </p:sp>
      <p:sp>
        <p:nvSpPr>
          <p:cNvPr id="16" name="rect"/>
          <p:cNvSpPr txBox="0"/>
          <p:nvPr/>
        </p:nvSpPr>
        <p:spPr>
          <a:xfrm>
            <a:off x="6448425" y="3429000"/>
            <a:ext cx="4752975" cy="638175"/>
          </a:xfrm>
          <a:prstGeom prst="rect">
            <a:avLst/>
          </a:prstGeom>
          <a:solidFill>
            <a:srgbClr val="F4F4F4"/>
          </a:solidFill>
          <a:ln w="12700">
            <a:solidFill>
              <a:srgbClr val="999999"/>
            </a:solidFill>
          </a:ln>
        </p:spPr>
      </p:sp>
      <p:sp>
        <p:nvSpPr>
          <p:cNvPr id="17" name="Your voyage is kept"/>
          <p:cNvSpPr txBox="1"/>
          <p:nvPr/>
        </p:nvSpPr>
        <p:spPr>
          <a:xfrm>
            <a:off x="6581775" y="3581400"/>
            <a:ext cx="4495800" cy="459581"/>
          </a:xfrm>
          <a:prstGeom prst="rect">
            <a:avLst/>
          </a:prstGeom>
          <a:noFill/>
          <a:ln>
            <a:noFill/>
          </a:ln>
        </p:spPr>
        <p:txBody>
          <a:bodyPr wrap="square" lIns="0" rIns="0" tIns="0" bIns="0" anchor="t">
            <a:noAutofit/>
          </a:bodyPr>
          <a:lstStyle/>
          <a:p>
            <a:pPr>
              <a:lnSpc>
                <a:spcPct val="130000"/>
              </a:lnSpc>
            </a:pPr>
            <a:r>
              <a:rPr lang="en-US" sz="1875" b="0">
                <a:solidFill>
                  <a:srgbClr val="222222"/>
                </a:solidFill>
                <a:latin typeface="Arial"/>
              </a:rPr>
              <a:t xml:space="preserve">Your voyage is kept</a:t>
            </a:r>
            <a:endParaRPr lang="en-US"/>
          </a:p>
        </p:txBody>
      </p:sp>
      <p:sp>
        <p:nvSpPr>
          <p:cNvPr id="18" name="rect"/>
          <p:cNvSpPr txBox="0"/>
          <p:nvPr/>
        </p:nvSpPr>
        <p:spPr>
          <a:xfrm>
            <a:off x="6448425" y="4210050"/>
            <a:ext cx="4752975" cy="638175"/>
          </a:xfrm>
          <a:prstGeom prst="rect">
            <a:avLst/>
          </a:prstGeom>
          <a:solidFill>
            <a:srgbClr val="F4F4F4"/>
          </a:solidFill>
          <a:ln w="12700">
            <a:solidFill>
              <a:srgbClr val="999999"/>
            </a:solidFill>
          </a:ln>
        </p:spPr>
      </p:sp>
      <p:sp>
        <p:nvSpPr>
          <p:cNvPr id="19" name="Retry / check / local play"/>
          <p:cNvSpPr txBox="1"/>
          <p:nvPr/>
        </p:nvSpPr>
        <p:spPr>
          <a:xfrm>
            <a:off x="6581775" y="4362450"/>
            <a:ext cx="4495800" cy="459581"/>
          </a:xfrm>
          <a:prstGeom prst="rect">
            <a:avLst/>
          </a:prstGeom>
          <a:noFill/>
          <a:ln>
            <a:noFill/>
          </a:ln>
        </p:spPr>
        <p:txBody>
          <a:bodyPr wrap="square" lIns="0" rIns="0" tIns="0" bIns="0" anchor="t">
            <a:noAutofit/>
          </a:bodyPr>
          <a:lstStyle/>
          <a:p>
            <a:pPr>
              <a:lnSpc>
                <a:spcPct val="130000"/>
              </a:lnSpc>
            </a:pPr>
            <a:r>
              <a:rPr lang="en-US" sz="1875" b="0">
                <a:solidFill>
                  <a:srgbClr val="222222"/>
                </a:solidFill>
                <a:latin typeface="Arial"/>
              </a:rPr>
              <a:t xml:space="preserve">Retry / check / local play</a:t>
            </a:r>
            <a:endParaRPr lang="en-US"/>
          </a:p>
        </p:txBody>
      </p:sp>
      <p:sp>
        <p:nvSpPr>
          <p:cNvPr id="20" name="W08-W09 / F4. Invalid input is rejected before model co"/>
          <p:cNvSpPr txBox="1"/>
          <p:nvPr/>
        </p:nvSpPr>
        <p:spPr>
          <a:xfrm>
            <a:off x="609600" y="5819775"/>
            <a:ext cx="10858500" cy="444970"/>
          </a:xfrm>
          <a:prstGeom prst="rect">
            <a:avLst/>
          </a:prstGeom>
          <a:noFill/>
          <a:ln>
            <a:noFill/>
          </a:ln>
        </p:spPr>
        <p:txBody>
          <a:bodyPr wrap="square" lIns="0" rIns="0" tIns="0" bIns="0" anchor="t">
            <a:noAutofit/>
          </a:bodyPr>
          <a:lstStyle/>
          <a:p>
            <a:pPr>
              <a:lnSpc>
                <a:spcPct val="130000"/>
              </a:lnSpc>
            </a:pPr>
            <a:r>
              <a:rPr lang="en-US" sz="1800" b="0">
                <a:solidFill>
                  <a:srgbClr val="526875"/>
                </a:solidFill>
                <a:latin typeface="Arial"/>
              </a:rPr>
              <a:t xml:space="preserve">W08-W09 / F4. Invalid input is rejected before model contact.</a:t>
            </a:r>
            <a:endParaRPr lang="en-US"/>
          </a:p>
        </p:txBody>
      </p:sp>
      <p:sp>
        <p:nvSpPr>
          <p:cNvPr id="21" name="Farshore / Phase 2 / 9"/>
          <p:cNvSpPr txBox="1"/>
          <p:nvPr/>
        </p:nvSpPr>
        <p:spPr>
          <a:xfrm>
            <a:off x="609600" y="6343650"/>
            <a:ext cx="10972800" cy="298856"/>
          </a:xfrm>
          <a:prstGeom prst="rect">
            <a:avLst/>
          </a:prstGeom>
          <a:noFill/>
          <a:ln>
            <a:noFill/>
          </a:ln>
        </p:spPr>
        <p:txBody>
          <a:bodyPr wrap="square" lIns="0" rIns="0" tIns="0" bIns="0" anchor="t">
            <a:noAutofit/>
          </a:bodyPr>
          <a:lstStyle/>
          <a:p>
            <a:pPr>
              <a:lnSpc>
                <a:spcPct val="130000"/>
              </a:lnSpc>
            </a:pPr>
            <a:r>
              <a:rPr lang="en-US" sz="1050" b="0">
                <a:solidFill>
                  <a:srgbClr val="526875"/>
                </a:solidFill>
                <a:latin typeface="Arial"/>
              </a:rPr>
              <a:t xml:space="preserve">Farshore / Phase 2 / 9</a:t>
            </a:r>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AI technical spike"/>
          <p:cNvSpPr txBox="1"/>
          <p:nvPr/>
        </p:nvSpPr>
        <p:spPr>
          <a:xfrm>
            <a:off x="609600" y="400050"/>
            <a:ext cx="10972800" cy="795642"/>
          </a:xfrm>
          <a:prstGeom prst="rect">
            <a:avLst/>
          </a:prstGeom>
          <a:noFill/>
          <a:ln>
            <a:noFill/>
          </a:ln>
        </p:spPr>
        <p:txBody>
          <a:bodyPr wrap="square" lIns="0" rIns="0" tIns="0" bIns="0" anchor="t">
            <a:noAutofit/>
          </a:bodyPr>
          <a:lstStyle/>
          <a:p>
            <a:pPr>
              <a:lnSpc>
                <a:spcPct val="130000"/>
              </a:lnSpc>
            </a:pPr>
            <a:r>
              <a:rPr lang="en-US" sz="3600" b="1">
                <a:solidFill>
                  <a:srgbClr val="102E40"/>
                </a:solidFill>
                <a:latin typeface="Arial"/>
              </a:rPr>
              <a:t xml:space="preserve">AI technical spike</a:t>
            </a:r>
            <a:endParaRPr lang="en-US"/>
          </a:p>
        </p:txBody>
      </p:sp>
      <p:sp>
        <p:nvSpPr>
          <p:cNvPr id="3" name="Six real calls to local Llama 3.2 3B"/>
          <p:cNvSpPr txBox="1"/>
          <p:nvPr/>
        </p:nvSpPr>
        <p:spPr>
          <a:xfrm>
            <a:off x="609600" y="1009650"/>
            <a:ext cx="10972800" cy="386524"/>
          </a:xfrm>
          <a:prstGeom prst="rect">
            <a:avLst/>
          </a:prstGeom>
          <a:noFill/>
          <a:ln>
            <a:noFill/>
          </a:ln>
        </p:spPr>
        <p:txBody>
          <a:bodyPr wrap="square" lIns="0" rIns="0" tIns="0" bIns="0" anchor="t">
            <a:noAutofit/>
          </a:bodyPr>
          <a:lstStyle/>
          <a:p>
            <a:pPr>
              <a:lnSpc>
                <a:spcPct val="130000"/>
              </a:lnSpc>
            </a:pPr>
            <a:r>
              <a:rPr lang="en-US" sz="1500" b="0">
                <a:solidFill>
                  <a:srgbClr val="526875"/>
                </a:solidFill>
                <a:latin typeface="Arial"/>
              </a:rPr>
              <a:t xml:space="preserve">Six real calls to local Llama 3.2 3B</a:t>
            </a:r>
            <a:endParaRPr lang="en-US"/>
          </a:p>
        </p:txBody>
      </p:sp>
      <p:sp>
        <p:nvSpPr>
          <p:cNvPr id="4" name="Min 7.317s     Mean 8.278s     Max 11.613s"/>
          <p:cNvSpPr txBox="1"/>
          <p:nvPr/>
        </p:nvSpPr>
        <p:spPr>
          <a:xfrm>
            <a:off x="609600" y="1638300"/>
            <a:ext cx="10858500" cy="591083"/>
          </a:xfrm>
          <a:prstGeom prst="rect">
            <a:avLst/>
          </a:prstGeom>
          <a:noFill/>
          <a:ln>
            <a:noFill/>
          </a:ln>
        </p:spPr>
        <p:txBody>
          <a:bodyPr wrap="square" lIns="0" rIns="0" tIns="0" bIns="0" anchor="t">
            <a:noAutofit/>
          </a:bodyPr>
          <a:lstStyle/>
          <a:p>
            <a:pPr>
              <a:lnSpc>
                <a:spcPct val="130000"/>
              </a:lnSpc>
            </a:pPr>
            <a:r>
              <a:rPr lang="en-US" sz="2550" b="1">
                <a:solidFill>
                  <a:srgbClr val="126978"/>
                </a:solidFill>
                <a:latin typeface="Arial"/>
              </a:rPr>
              <a:t xml:space="preserve">Min 7.317s     Mean 8.278s     Max 11.613s</a:t>
            </a:r>
            <a:endParaRPr lang="en-US"/>
          </a:p>
        </p:txBody>
      </p:sp>
      <p:graphicFrame>
        <p:nvGraphicFramePr>
          <p:cNvPr id="5" name="Editable evidence table"/>
          <p:cNvGraphicFramePr/>
          <p:nvPr/>
        </p:nvGraphicFramePr>
        <p:xfrm>
          <a:off x="609600" y="2362200"/>
          <a:ext cx="10858500" cy="3400425"/>
        </p:xfrm>
        <a:graphic>
          <a:graphicData uri="http://schemas.openxmlformats.org/drawingml/2006/table">
            <a:tbl>
              <a:tblPr firstRow="1" bandRow="0"/>
              <a:tblGrid>
                <a:gridCol w="3143250"/>
                <a:gridCol w="1381125"/>
                <a:gridCol w="2476500"/>
                <a:gridCol w="3857625"/>
              </a:tblGrid>
              <a:tr h="485775">
                <a:tc>
                  <a:txBody>
                    <a:bodyPr lIns="114300" rIns="114300" tIns="76200" bIns="0"/>
                    <a:lstStyle/>
                    <a:p>
                      <a:pPr>
                        <a:lnSpc>
                          <a:spcPct val="130000"/>
                        </a:lnSpc>
                      </a:pPr>
                      <a:r>
                        <a:rPr lang="en-US" sz="1575" b="1">
                          <a:solidFill>
                            <a:srgbClr val="102E40"/>
                          </a:solidFill>
                          <a:latin typeface="Arial"/>
                        </a:rPr>
                        <a:t xml:space="preserve">Sample</a:t>
                      </a:r>
                      <a:endParaRPr lang="en-US"/>
                    </a:p>
                  </a:txBody>
                  <a:tcPr>
                    <a:solidFill>
                      <a:srgbClr val="DCE8EE"/>
                    </a:solidFill>
                  </a:tcPr>
                </a:tc>
                <a:tc>
                  <a:txBody>
                    <a:bodyPr lIns="114300" rIns="114300" tIns="76200" bIns="0"/>
                    <a:lstStyle/>
                    <a:p>
                      <a:pPr>
                        <a:lnSpc>
                          <a:spcPct val="130000"/>
                        </a:lnSpc>
                      </a:pPr>
                      <a:r>
                        <a:rPr lang="en-US" sz="1575" b="1">
                          <a:solidFill>
                            <a:srgbClr val="102E40"/>
                          </a:solidFill>
                          <a:latin typeface="Arial"/>
                        </a:rPr>
                        <a:t xml:space="preserve">Seconds</a:t>
                      </a:r>
                      <a:endParaRPr lang="en-US"/>
                    </a:p>
                  </a:txBody>
                  <a:tcPr>
                    <a:solidFill>
                      <a:srgbClr val="DCE8EE"/>
                    </a:solidFill>
                  </a:tcPr>
                </a:tc>
                <a:tc>
                  <a:txBody>
                    <a:bodyPr lIns="114300" rIns="114300" tIns="76200" bIns="0"/>
                    <a:lstStyle/>
                    <a:p>
                      <a:pPr>
                        <a:lnSpc>
                          <a:spcPct val="130000"/>
                        </a:lnSpc>
                      </a:pPr>
                      <a:r>
                        <a:rPr lang="en-US" sz="1575" b="1">
                          <a:solidFill>
                            <a:srgbClr val="102E40"/>
                          </a:solidFill>
                          <a:latin typeface="Arial"/>
                        </a:rPr>
                        <a:t xml:space="preserve">Selected plan</a:t>
                      </a:r>
                      <a:endParaRPr lang="en-US"/>
                    </a:p>
                  </a:txBody>
                  <a:tcPr>
                    <a:solidFill>
                      <a:srgbClr val="DCE8EE"/>
                    </a:solidFill>
                  </a:tcPr>
                </a:tc>
                <a:tc>
                  <a:txBody>
                    <a:bodyPr lIns="114300" rIns="114300" tIns="76200" bIns="0"/>
                    <a:lstStyle/>
                    <a:p>
                      <a:pPr>
                        <a:lnSpc>
                          <a:spcPct val="130000"/>
                        </a:lnSpc>
                      </a:pPr>
                      <a:r>
                        <a:rPr lang="en-US" sz="1575" b="1">
                          <a:solidFill>
                            <a:srgbClr val="102E40"/>
                          </a:solidFill>
                          <a:latin typeface="Arial"/>
                        </a:rPr>
                        <a:t xml:space="preserve">Review</a:t>
                      </a:r>
                      <a:endParaRPr lang="en-US"/>
                    </a:p>
                  </a:txBody>
                  <a:tcPr>
                    <a:solidFill>
                      <a:srgbClr val="DCE8EE"/>
                    </a:solidFill>
                  </a:tcPr>
                </a:tc>
              </a:tr>
              <a:tr h="485775">
                <a:tc>
                  <a:txBody>
                    <a:bodyPr lIns="114300" rIns="114300" tIns="76200" bIns="0"/>
                    <a:lstStyle/>
                    <a:p>
                      <a:pPr>
                        <a:lnSpc>
                          <a:spcPct val="130000"/>
                        </a:lnSpc>
                      </a:pPr>
                      <a:r>
                        <a:rPr lang="en-US" sz="1575" b="0">
                          <a:solidFill>
                            <a:srgbClr val="102E40"/>
                          </a:solidFill>
                          <a:latin typeface="Arial"/>
                        </a:rPr>
                        <a:t xml:space="preserve">S1 First-time Cyclops</a:t>
                      </a:r>
                      <a:endParaRPr lang="en-US"/>
                    </a:p>
                  </a:txBody>
                  <a:tcPr>
                    <a:solidFill>
                      <a:srgbClr val="FFFFFF"/>
                    </a:solidFill>
                  </a:tcPr>
                </a:tc>
                <a:tc>
                  <a:txBody>
                    <a:bodyPr lIns="114300" rIns="114300" tIns="76200" bIns="0"/>
                    <a:lstStyle/>
                    <a:p>
                      <a:pPr>
                        <a:lnSpc>
                          <a:spcPct val="130000"/>
                        </a:lnSpc>
                      </a:pPr>
                      <a:r>
                        <a:rPr lang="en-US" sz="1575" b="0">
                          <a:solidFill>
                            <a:srgbClr val="102E40"/>
                          </a:solidFill>
                          <a:latin typeface="Arial"/>
                        </a:rPr>
                        <a:t xml:space="preserve">11.613</a:t>
                      </a:r>
                      <a:endParaRPr lang="en-US"/>
                    </a:p>
                  </a:txBody>
                  <a:tcPr>
                    <a:solidFill>
                      <a:srgbClr val="FFFFFF"/>
                    </a:solidFill>
                  </a:tcPr>
                </a:tc>
                <a:tc>
                  <a:txBody>
                    <a:bodyPr lIns="114300" rIns="114300" tIns="76200" bIns="0"/>
                    <a:lstStyle/>
                    <a:p>
                      <a:pPr>
                        <a:lnSpc>
                          <a:spcPct val="130000"/>
                        </a:lnSpc>
                      </a:pPr>
                      <a:r>
                        <a:rPr lang="en-US" sz="1575" b="0">
                          <a:solidFill>
                            <a:srgbClr val="102E40"/>
                          </a:solidFill>
                          <a:latin typeface="Arial"/>
                        </a:rPr>
                        <a:t xml:space="preserve">focused/center</a:t>
                      </a:r>
                      <a:endParaRPr lang="en-US"/>
                    </a:p>
                  </a:txBody>
                  <a:tcPr>
                    <a:solidFill>
                      <a:srgbClr val="FFFFFF"/>
                    </a:solidFill>
                  </a:tcPr>
                </a:tc>
                <a:tc>
                  <a:txBody>
                    <a:bodyPr lIns="114300" rIns="114300" tIns="76200" bIns="0"/>
                    <a:lstStyle/>
                    <a:p>
                      <a:pPr>
                        <a:lnSpc>
                          <a:spcPct val="130000"/>
                        </a:lnSpc>
                      </a:pPr>
                      <a:r>
                        <a:rPr lang="en-US" sz="1575" b="0">
                          <a:solidFill>
                            <a:srgbClr val="102E40"/>
                          </a:solidFill>
                          <a:latin typeface="Arial"/>
                        </a:rPr>
                        <a:t xml:space="preserve">Legal, advisory mismatch</a:t>
                      </a:r>
                      <a:endParaRPr lang="en-US"/>
                    </a:p>
                  </a:txBody>
                  <a:tcPr>
                    <a:solidFill>
                      <a:srgbClr val="FFFFFF"/>
                    </a:solidFill>
                  </a:tcPr>
                </a:tc>
              </a:tr>
              <a:tr h="485775">
                <a:tc>
                  <a:txBody>
                    <a:bodyPr lIns="114300" rIns="114300" tIns="76200" bIns="0"/>
                    <a:lstStyle/>
                    <a:p>
                      <a:pPr>
                        <a:lnSpc>
                          <a:spcPct val="130000"/>
                        </a:lnSpc>
                      </a:pPr>
                      <a:r>
                        <a:rPr lang="en-US" sz="1575" b="0">
                          <a:solidFill>
                            <a:srgbClr val="102E40"/>
                          </a:solidFill>
                          <a:latin typeface="Arial"/>
                        </a:rPr>
                        <a:t xml:space="preserve">S2 Circe after two losses</a:t>
                      </a:r>
                      <a:endParaRPr lang="en-US"/>
                    </a:p>
                  </a:txBody>
                  <a:tcPr>
                    <a:solidFill>
                      <a:srgbClr val="FFFFFF"/>
                    </a:solidFill>
                  </a:tcPr>
                </a:tc>
                <a:tc>
                  <a:txBody>
                    <a:bodyPr lIns="114300" rIns="114300" tIns="76200" bIns="0"/>
                    <a:lstStyle/>
                    <a:p>
                      <a:pPr>
                        <a:lnSpc>
                          <a:spcPct val="130000"/>
                        </a:lnSpc>
                      </a:pPr>
                      <a:r>
                        <a:rPr lang="en-US" sz="1575" b="0">
                          <a:solidFill>
                            <a:srgbClr val="102E40"/>
                          </a:solidFill>
                          <a:latin typeface="Arial"/>
                        </a:rPr>
                        <a:t xml:space="preserve">7.597</a:t>
                      </a:r>
                      <a:endParaRPr lang="en-US"/>
                    </a:p>
                  </a:txBody>
                  <a:tcPr>
                    <a:solidFill>
                      <a:srgbClr val="FFFFFF"/>
                    </a:solidFill>
                  </a:tcPr>
                </a:tc>
                <a:tc>
                  <a:txBody>
                    <a:bodyPr lIns="114300" rIns="114300" tIns="76200" bIns="0"/>
                    <a:lstStyle/>
                    <a:p>
                      <a:pPr>
                        <a:lnSpc>
                          <a:spcPct val="130000"/>
                        </a:lnSpc>
                      </a:pPr>
                      <a:r>
                        <a:rPr lang="en-US" sz="1575" b="0">
                          <a:solidFill>
                            <a:srgbClr val="102E40"/>
                          </a:solidFill>
                          <a:latin typeface="Arial"/>
                        </a:rPr>
                        <a:t xml:space="preserve">chain/balanced</a:t>
                      </a:r>
                      <a:endParaRPr lang="en-US"/>
                    </a:p>
                  </a:txBody>
                  <a:tcPr>
                    <a:solidFill>
                      <a:srgbClr val="FFFFFF"/>
                    </a:solidFill>
                  </a:tcPr>
                </a:tc>
                <a:tc>
                  <a:txBody>
                    <a:bodyPr lIns="114300" rIns="114300" tIns="76200" bIns="0"/>
                    <a:lstStyle/>
                    <a:p>
                      <a:pPr>
                        <a:lnSpc>
                          <a:spcPct val="130000"/>
                        </a:lnSpc>
                      </a:pPr>
                      <a:r>
                        <a:rPr lang="en-US" sz="1575" b="0">
                          <a:solidFill>
                            <a:srgbClr val="102E40"/>
                          </a:solidFill>
                          <a:latin typeface="Arial"/>
                        </a:rPr>
                        <a:t xml:space="preserve">Matches loss preference</a:t>
                      </a:r>
                      <a:endParaRPr lang="en-US"/>
                    </a:p>
                  </a:txBody>
                  <a:tcPr>
                    <a:solidFill>
                      <a:srgbClr val="FFFFFF"/>
                    </a:solidFill>
                  </a:tcPr>
                </a:tc>
              </a:tr>
              <a:tr h="485775">
                <a:tc>
                  <a:txBody>
                    <a:bodyPr lIns="114300" rIns="114300" tIns="76200" bIns="0"/>
                    <a:lstStyle/>
                    <a:p>
                      <a:pPr>
                        <a:lnSpc>
                          <a:spcPct val="130000"/>
                        </a:lnSpc>
                      </a:pPr>
                      <a:r>
                        <a:rPr lang="en-US" sz="1575" b="0">
                          <a:solidFill>
                            <a:srgbClr val="102E40"/>
                          </a:solidFill>
                          <a:latin typeface="Arial"/>
                        </a:rPr>
                        <a:t xml:space="preserve">S3 Sirens with red-lane misses</a:t>
                      </a:r>
                      <a:endParaRPr lang="en-US"/>
                    </a:p>
                  </a:txBody>
                  <a:tcPr>
                    <a:solidFill>
                      <a:srgbClr val="FFFFFF"/>
                    </a:solidFill>
                  </a:tcPr>
                </a:tc>
                <a:tc>
                  <a:txBody>
                    <a:bodyPr lIns="114300" rIns="114300" tIns="76200" bIns="0"/>
                    <a:lstStyle/>
                    <a:p>
                      <a:pPr>
                        <a:lnSpc>
                          <a:spcPct val="130000"/>
                        </a:lnSpc>
                      </a:pPr>
                      <a:r>
                        <a:rPr lang="en-US" sz="1575" b="0">
                          <a:solidFill>
                            <a:srgbClr val="102E40"/>
                          </a:solidFill>
                          <a:latin typeface="Arial"/>
                        </a:rPr>
                        <a:t xml:space="preserve">7.317</a:t>
                      </a:r>
                      <a:endParaRPr lang="en-US"/>
                    </a:p>
                  </a:txBody>
                  <a:tcPr>
                    <a:solidFill>
                      <a:srgbClr val="FFFFFF"/>
                    </a:solidFill>
                  </a:tcPr>
                </a:tc>
                <a:tc>
                  <a:txBody>
                    <a:bodyPr lIns="114300" rIns="114300" tIns="76200" bIns="0"/>
                    <a:lstStyle/>
                    <a:p>
                      <a:pPr>
                        <a:lnSpc>
                          <a:spcPct val="130000"/>
                        </a:lnSpc>
                      </a:pPr>
                      <a:r>
                        <a:rPr lang="en-US" sz="1575" b="0">
                          <a:solidFill>
                            <a:srgbClr val="102E40"/>
                          </a:solidFill>
                          <a:latin typeface="Arial"/>
                        </a:rPr>
                        <a:t xml:space="preserve">echo/balanced</a:t>
                      </a:r>
                      <a:endParaRPr lang="en-US"/>
                    </a:p>
                  </a:txBody>
                  <a:tcPr>
                    <a:solidFill>
                      <a:srgbClr val="FFFFFF"/>
                    </a:solidFill>
                  </a:tcPr>
                </a:tc>
                <a:tc>
                  <a:txBody>
                    <a:bodyPr lIns="114300" rIns="114300" tIns="76200" bIns="0"/>
                    <a:lstStyle/>
                    <a:p>
                      <a:pPr>
                        <a:lnSpc>
                          <a:spcPct val="130000"/>
                        </a:lnSpc>
                      </a:pPr>
                      <a:r>
                        <a:rPr lang="en-US" sz="1575" b="0">
                          <a:solidFill>
                            <a:srgbClr val="102E40"/>
                          </a:solidFill>
                          <a:latin typeface="Arial"/>
                        </a:rPr>
                        <a:t xml:space="preserve">Legal, local lane targeting</a:t>
                      </a:r>
                      <a:endParaRPr lang="en-US"/>
                    </a:p>
                  </a:txBody>
                  <a:tcPr>
                    <a:solidFill>
                      <a:srgbClr val="FFFFFF"/>
                    </a:solidFill>
                  </a:tcPr>
                </a:tc>
              </a:tr>
              <a:tr h="485775">
                <a:tc>
                  <a:txBody>
                    <a:bodyPr lIns="114300" rIns="114300" tIns="76200" bIns="0"/>
                    <a:lstStyle/>
                    <a:p>
                      <a:pPr>
                        <a:lnSpc>
                          <a:spcPct val="130000"/>
                        </a:lnSpc>
                      </a:pPr>
                      <a:r>
                        <a:rPr lang="en-US" sz="1575" b="0">
                          <a:solidFill>
                            <a:srgbClr val="102E40"/>
                          </a:solidFill>
                          <a:latin typeface="Arial"/>
                        </a:rPr>
                        <a:t xml:space="preserve">S4 Strait after one hull loss</a:t>
                      </a:r>
                      <a:endParaRPr lang="en-US"/>
                    </a:p>
                  </a:txBody>
                  <a:tcPr>
                    <a:solidFill>
                      <a:srgbClr val="FFFFFF"/>
                    </a:solidFill>
                  </a:tcPr>
                </a:tc>
                <a:tc>
                  <a:txBody>
                    <a:bodyPr lIns="114300" rIns="114300" tIns="76200" bIns="0"/>
                    <a:lstStyle/>
                    <a:p>
                      <a:pPr>
                        <a:lnSpc>
                          <a:spcPct val="130000"/>
                        </a:lnSpc>
                      </a:pPr>
                      <a:r>
                        <a:rPr lang="en-US" sz="1575" b="0">
                          <a:solidFill>
                            <a:srgbClr val="102E40"/>
                          </a:solidFill>
                          <a:latin typeface="Arial"/>
                        </a:rPr>
                        <a:t xml:space="preserve">7.889</a:t>
                      </a:r>
                      <a:endParaRPr lang="en-US"/>
                    </a:p>
                  </a:txBody>
                  <a:tcPr>
                    <a:solidFill>
                      <a:srgbClr val="FFFFFF"/>
                    </a:solidFill>
                  </a:tcPr>
                </a:tc>
                <a:tc>
                  <a:txBody>
                    <a:bodyPr lIns="114300" rIns="114300" tIns="76200" bIns="0"/>
                    <a:lstStyle/>
                    <a:p>
                      <a:pPr>
                        <a:lnSpc>
                          <a:spcPct val="130000"/>
                        </a:lnSpc>
                      </a:pPr>
                      <a:r>
                        <a:rPr lang="en-US" sz="1575" b="0">
                          <a:solidFill>
                            <a:srgbClr val="102E40"/>
                          </a:solidFill>
                          <a:latin typeface="Arial"/>
                        </a:rPr>
                        <a:t xml:space="preserve">pincer/balanced</a:t>
                      </a:r>
                      <a:endParaRPr lang="en-US"/>
                    </a:p>
                  </a:txBody>
                  <a:tcPr>
                    <a:solidFill>
                      <a:srgbClr val="FFFFFF"/>
                    </a:solidFill>
                  </a:tcPr>
                </a:tc>
                <a:tc>
                  <a:txBody>
                    <a:bodyPr lIns="114300" rIns="114300" tIns="76200" bIns="0"/>
                    <a:lstStyle/>
                    <a:p>
                      <a:pPr>
                        <a:lnSpc>
                          <a:spcPct val="130000"/>
                        </a:lnSpc>
                      </a:pPr>
                      <a:r>
                        <a:rPr lang="en-US" sz="1575" b="0">
                          <a:solidFill>
                            <a:srgbClr val="102E40"/>
                          </a:solidFill>
                          <a:latin typeface="Arial"/>
                        </a:rPr>
                        <a:t xml:space="preserve">Legal, advisory mismatch</a:t>
                      </a:r>
                      <a:endParaRPr lang="en-US"/>
                    </a:p>
                  </a:txBody>
                  <a:tcPr>
                    <a:solidFill>
                      <a:srgbClr val="FFFFFF"/>
                    </a:solidFill>
                  </a:tcPr>
                </a:tc>
              </a:tr>
              <a:tr h="485775">
                <a:tc>
                  <a:txBody>
                    <a:bodyPr lIns="114300" rIns="114300" tIns="76200" bIns="0"/>
                    <a:lstStyle/>
                    <a:p>
                      <a:pPr>
                        <a:lnSpc>
                          <a:spcPct val="130000"/>
                        </a:lnSpc>
                      </a:pPr>
                      <a:r>
                        <a:rPr lang="en-US" sz="1575" b="0">
                          <a:solidFill>
                            <a:srgbClr val="102E40"/>
                          </a:solidFill>
                          <a:latin typeface="Arial"/>
                        </a:rPr>
                        <a:t xml:space="preserve">S5 Archery after low ring score</a:t>
                      </a:r>
                      <a:endParaRPr lang="en-US"/>
                    </a:p>
                  </a:txBody>
                  <a:tcPr>
                    <a:solidFill>
                      <a:srgbClr val="FFFFFF"/>
                    </a:solidFill>
                  </a:tcPr>
                </a:tc>
                <a:tc>
                  <a:txBody>
                    <a:bodyPr lIns="114300" rIns="114300" tIns="76200" bIns="0"/>
                    <a:lstStyle/>
                    <a:p>
                      <a:pPr>
                        <a:lnSpc>
                          <a:spcPct val="130000"/>
                        </a:lnSpc>
                      </a:pPr>
                      <a:r>
                        <a:rPr lang="en-US" sz="1575" b="0">
                          <a:solidFill>
                            <a:srgbClr val="102E40"/>
                          </a:solidFill>
                          <a:latin typeface="Arial"/>
                        </a:rPr>
                        <a:t xml:space="preserve">7.614</a:t>
                      </a:r>
                      <a:endParaRPr lang="en-US"/>
                    </a:p>
                  </a:txBody>
                  <a:tcPr>
                    <a:solidFill>
                      <a:srgbClr val="FFFFFF"/>
                    </a:solidFill>
                  </a:tcPr>
                </a:tc>
                <a:tc>
                  <a:txBody>
                    <a:bodyPr lIns="114300" rIns="114300" tIns="76200" bIns="0"/>
                    <a:lstStyle/>
                    <a:p>
                      <a:pPr>
                        <a:lnSpc>
                          <a:spcPct val="130000"/>
                        </a:lnSpc>
                      </a:pPr>
                      <a:r>
                        <a:rPr lang="en-US" sz="1575" b="0">
                          <a:solidFill>
                            <a:srgbClr val="102E40"/>
                          </a:solidFill>
                          <a:latin typeface="Arial"/>
                        </a:rPr>
                        <a:t xml:space="preserve">feint/balanced</a:t>
                      </a:r>
                      <a:endParaRPr lang="en-US"/>
                    </a:p>
                  </a:txBody>
                  <a:tcPr>
                    <a:solidFill>
                      <a:srgbClr val="FFFFFF"/>
                    </a:solidFill>
                  </a:tcPr>
                </a:tc>
                <a:tc>
                  <a:txBody>
                    <a:bodyPr lIns="114300" rIns="114300" tIns="76200" bIns="0"/>
                    <a:lstStyle/>
                    <a:p>
                      <a:pPr>
                        <a:lnSpc>
                          <a:spcPct val="130000"/>
                        </a:lnSpc>
                      </a:pPr>
                      <a:r>
                        <a:rPr lang="en-US" sz="1575" b="0">
                          <a:solidFill>
                            <a:srgbClr val="102E40"/>
                          </a:solidFill>
                          <a:latin typeface="Arial"/>
                        </a:rPr>
                        <a:t xml:space="preserve">Legal block-shot policy</a:t>
                      </a:r>
                      <a:endParaRPr lang="en-US"/>
                    </a:p>
                  </a:txBody>
                  <a:tcPr>
                    <a:solidFill>
                      <a:srgbClr val="FFFFFF"/>
                    </a:solidFill>
                  </a:tcPr>
                </a:tc>
              </a:tr>
              <a:tr h="485775">
                <a:tc>
                  <a:txBody>
                    <a:bodyPr lIns="114300" rIns="114300" tIns="76200" bIns="0"/>
                    <a:lstStyle/>
                    <a:p>
                      <a:pPr>
                        <a:lnSpc>
                          <a:spcPct val="130000"/>
                        </a:lnSpc>
                      </a:pPr>
                      <a:r>
                        <a:rPr lang="en-US" sz="1575" b="0">
                          <a:solidFill>
                            <a:srgbClr val="102E40"/>
                          </a:solidFill>
                          <a:latin typeface="Arial"/>
                        </a:rPr>
                        <a:t xml:space="preserve">S6 Cyclops with left-side habit</a:t>
                      </a:r>
                      <a:endParaRPr lang="en-US"/>
                    </a:p>
                  </a:txBody>
                  <a:tcPr>
                    <a:solidFill>
                      <a:srgbClr val="FFFFFF"/>
                    </a:solidFill>
                  </a:tcPr>
                </a:tc>
                <a:tc>
                  <a:txBody>
                    <a:bodyPr lIns="114300" rIns="114300" tIns="76200" bIns="0"/>
                    <a:lstStyle/>
                    <a:p>
                      <a:pPr>
                        <a:lnSpc>
                          <a:spcPct val="130000"/>
                        </a:lnSpc>
                      </a:pPr>
                      <a:r>
                        <a:rPr lang="en-US" sz="1575" b="0">
                          <a:solidFill>
                            <a:srgbClr val="102E40"/>
                          </a:solidFill>
                          <a:latin typeface="Arial"/>
                        </a:rPr>
                        <a:t xml:space="preserve">7.641</a:t>
                      </a:r>
                      <a:endParaRPr lang="en-US"/>
                    </a:p>
                  </a:txBody>
                  <a:tcPr>
                    <a:solidFill>
                      <a:srgbClr val="FFFFFF"/>
                    </a:solidFill>
                  </a:tcPr>
                </a:tc>
                <a:tc>
                  <a:txBody>
                    <a:bodyPr lIns="114300" rIns="114300" tIns="76200" bIns="0"/>
                    <a:lstStyle/>
                    <a:p>
                      <a:pPr>
                        <a:lnSpc>
                          <a:spcPct val="130000"/>
                        </a:lnSpc>
                      </a:pPr>
                      <a:r>
                        <a:rPr lang="en-US" sz="1575" b="0">
                          <a:solidFill>
                            <a:srgbClr val="102E40"/>
                          </a:solidFill>
                          <a:latin typeface="Arial"/>
                        </a:rPr>
                        <a:t xml:space="preserve">focused/left</a:t>
                      </a:r>
                      <a:endParaRPr lang="en-US"/>
                    </a:p>
                  </a:txBody>
                  <a:tcPr>
                    <a:solidFill>
                      <a:srgbClr val="FFFFFF"/>
                    </a:solidFill>
                  </a:tcPr>
                </a:tc>
                <a:tc>
                  <a:txBody>
                    <a:bodyPr lIns="114300" rIns="114300" tIns="76200" bIns="0"/>
                    <a:lstStyle/>
                    <a:p>
                      <a:pPr>
                        <a:lnSpc>
                          <a:spcPct val="130000"/>
                        </a:lnSpc>
                      </a:pPr>
                      <a:r>
                        <a:rPr lang="en-US" sz="1575" b="0">
                          <a:solidFill>
                            <a:srgbClr val="102E40"/>
                          </a:solidFill>
                          <a:latin typeface="Arial"/>
                        </a:rPr>
                        <a:t xml:space="preserve">Required left focus kept</a:t>
                      </a:r>
                      <a:endParaRPr lang="en-US"/>
                    </a:p>
                  </a:txBody>
                  <a:tcPr>
                    <a:solidFill>
                      <a:srgbClr val="FFFFFF"/>
                    </a:solidFill>
                  </a:tcPr>
                </a:tc>
              </a:tr>
            </a:tbl>
          </a:graphicData>
        </a:graphic>
      </p:graphicFrame>
      <p:sp>
        <p:nvSpPr>
          <p:cNvPr id="6" name="Six legal outputs. One sequential sample; tactical qual"/>
          <p:cNvSpPr txBox="1"/>
          <p:nvPr/>
        </p:nvSpPr>
        <p:spPr>
          <a:xfrm>
            <a:off x="609600" y="5953125"/>
            <a:ext cx="10858500" cy="415747"/>
          </a:xfrm>
          <a:prstGeom prst="rect">
            <a:avLst/>
          </a:prstGeom>
          <a:noFill/>
          <a:ln>
            <a:noFill/>
          </a:ln>
        </p:spPr>
        <p:txBody>
          <a:bodyPr wrap="square" lIns="0" rIns="0" tIns="0" bIns="0" anchor="t">
            <a:noAutofit/>
          </a:bodyPr>
          <a:lstStyle/>
          <a:p>
            <a:pPr>
              <a:lnSpc>
                <a:spcPct val="130000"/>
              </a:lnSpc>
            </a:pPr>
            <a:r>
              <a:rPr lang="en-US" sz="1650" b="0">
                <a:solidFill>
                  <a:srgbClr val="526875"/>
                </a:solidFill>
                <a:latin typeface="Arial"/>
              </a:rPr>
              <a:t xml:space="preserve">Six legal outputs. One sequential sample; tactical quality still needs evaluation.</a:t>
            </a:r>
            <a:endParaRPr lang="en-US"/>
          </a:p>
        </p:txBody>
      </p:sp>
      <p:sp>
        <p:nvSpPr>
          <p:cNvPr id="7" name="Farshore / Phase 2 / 10"/>
          <p:cNvSpPr txBox="1"/>
          <p:nvPr/>
        </p:nvSpPr>
        <p:spPr>
          <a:xfrm>
            <a:off x="609600" y="6343650"/>
            <a:ext cx="10972800" cy="298856"/>
          </a:xfrm>
          <a:prstGeom prst="rect">
            <a:avLst/>
          </a:prstGeom>
          <a:noFill/>
          <a:ln>
            <a:noFill/>
          </a:ln>
        </p:spPr>
        <p:txBody>
          <a:bodyPr wrap="square" lIns="0" rIns="0" tIns="0" bIns="0" anchor="t">
            <a:noAutofit/>
          </a:bodyPr>
          <a:lstStyle/>
          <a:p>
            <a:pPr>
              <a:lnSpc>
                <a:spcPct val="130000"/>
              </a:lnSpc>
            </a:pPr>
            <a:r>
              <a:rPr lang="en-US" sz="1050" b="0">
                <a:solidFill>
                  <a:srgbClr val="526875"/>
                </a:solidFill>
                <a:latin typeface="Arial"/>
              </a:rPr>
              <a:t xml:space="preserve">Farshore / Phase 2 / 10</a:t>
            </a:r>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Failure evidence and design decisions"/>
          <p:cNvSpPr txBox="1"/>
          <p:nvPr/>
        </p:nvSpPr>
        <p:spPr>
          <a:xfrm>
            <a:off x="609600" y="400050"/>
            <a:ext cx="10972800" cy="795642"/>
          </a:xfrm>
          <a:prstGeom prst="rect">
            <a:avLst/>
          </a:prstGeom>
          <a:noFill/>
          <a:ln>
            <a:noFill/>
          </a:ln>
        </p:spPr>
        <p:txBody>
          <a:bodyPr wrap="square" lIns="0" rIns="0" tIns="0" bIns="0" anchor="t">
            <a:noAutofit/>
          </a:bodyPr>
          <a:lstStyle/>
          <a:p>
            <a:pPr>
              <a:lnSpc>
                <a:spcPct val="130000"/>
              </a:lnSpc>
            </a:pPr>
            <a:r>
              <a:rPr lang="en-US" sz="3600" b="1">
                <a:solidFill>
                  <a:srgbClr val="102E40"/>
                </a:solidFill>
                <a:latin typeface="Arial"/>
              </a:rPr>
              <a:t xml:space="preserve">Failure evidence and design decisions</a:t>
            </a:r>
            <a:endParaRPr lang="en-US"/>
          </a:p>
        </p:txBody>
      </p:sp>
      <p:sp>
        <p:nvSpPr>
          <p:cNvPr id="3" name="Real provider failures, with app validation kept separa"/>
          <p:cNvSpPr txBox="1"/>
          <p:nvPr/>
        </p:nvSpPr>
        <p:spPr>
          <a:xfrm>
            <a:off x="609600" y="1009650"/>
            <a:ext cx="10972800" cy="386524"/>
          </a:xfrm>
          <a:prstGeom prst="rect">
            <a:avLst/>
          </a:prstGeom>
          <a:noFill/>
          <a:ln>
            <a:noFill/>
          </a:ln>
        </p:spPr>
        <p:txBody>
          <a:bodyPr wrap="square" lIns="0" rIns="0" tIns="0" bIns="0" anchor="t">
            <a:noAutofit/>
          </a:bodyPr>
          <a:lstStyle/>
          <a:p>
            <a:pPr>
              <a:lnSpc>
                <a:spcPct val="130000"/>
              </a:lnSpc>
            </a:pPr>
            <a:r>
              <a:rPr lang="en-US" sz="1500" b="0">
                <a:solidFill>
                  <a:srgbClr val="526875"/>
                </a:solidFill>
                <a:latin typeface="Arial"/>
              </a:rPr>
              <a:t xml:space="preserve">Real provider failures, with app validation kept separate</a:t>
            </a:r>
            <a:endParaRPr lang="en-US"/>
          </a:p>
        </p:txBody>
      </p:sp>
      <p:graphicFrame>
        <p:nvGraphicFramePr>
          <p:cNvPr id="4" name="Editable evidence table"/>
          <p:cNvGraphicFramePr/>
          <p:nvPr/>
        </p:nvGraphicFramePr>
        <p:xfrm>
          <a:off x="609600" y="1714500"/>
          <a:ext cx="10953750" cy="2152650"/>
        </p:xfrm>
        <a:graphic>
          <a:graphicData uri="http://schemas.openxmlformats.org/drawingml/2006/table">
            <a:tbl>
              <a:tblPr firstRow="1" bandRow="0"/>
              <a:tblGrid>
                <a:gridCol w="3476625"/>
                <a:gridCol w="3619500"/>
                <a:gridCol w="3857625"/>
              </a:tblGrid>
              <a:tr h="538162">
                <a:tc>
                  <a:txBody>
                    <a:bodyPr lIns="114300" rIns="114300" tIns="76200" bIns="0"/>
                    <a:lstStyle/>
                    <a:p>
                      <a:pPr>
                        <a:lnSpc>
                          <a:spcPct val="130000"/>
                        </a:lnSpc>
                      </a:pPr>
                      <a:r>
                        <a:rPr lang="en-US" sz="1875" b="1">
                          <a:solidFill>
                            <a:srgbClr val="102E40"/>
                          </a:solidFill>
                          <a:latin typeface="Arial"/>
                        </a:rPr>
                        <a:t xml:space="preserve">Triggered condition</a:t>
                      </a:r>
                      <a:endParaRPr lang="en-US"/>
                    </a:p>
                  </a:txBody>
                  <a:tcPr>
                    <a:solidFill>
                      <a:srgbClr val="DCE8EE"/>
                    </a:solidFill>
                  </a:tcPr>
                </a:tc>
                <a:tc>
                  <a:txBody>
                    <a:bodyPr lIns="114300" rIns="114300" tIns="76200" bIns="0"/>
                    <a:lstStyle/>
                    <a:p>
                      <a:pPr>
                        <a:lnSpc>
                          <a:spcPct val="130000"/>
                        </a:lnSpc>
                      </a:pPr>
                      <a:r>
                        <a:rPr lang="en-US" sz="1875" b="1">
                          <a:solidFill>
                            <a:srgbClr val="102E40"/>
                          </a:solidFill>
                          <a:latin typeface="Arial"/>
                        </a:rPr>
                        <a:t xml:space="preserve">Observed response</a:t>
                      </a:r>
                      <a:endParaRPr lang="en-US"/>
                    </a:p>
                  </a:txBody>
                  <a:tcPr>
                    <a:solidFill>
                      <a:srgbClr val="DCE8EE"/>
                    </a:solidFill>
                  </a:tcPr>
                </a:tc>
                <a:tc>
                  <a:txBody>
                    <a:bodyPr lIns="114300" rIns="114300" tIns="76200" bIns="0"/>
                    <a:lstStyle/>
                    <a:p>
                      <a:pPr>
                        <a:lnSpc>
                          <a:spcPct val="130000"/>
                        </a:lnSpc>
                      </a:pPr>
                      <a:r>
                        <a:rPr lang="en-US" sz="1875" b="1">
                          <a:solidFill>
                            <a:srgbClr val="102E40"/>
                          </a:solidFill>
                          <a:latin typeface="Arial"/>
                        </a:rPr>
                        <a:t xml:space="preserve">UI response</a:t>
                      </a:r>
                      <a:endParaRPr lang="en-US"/>
                    </a:p>
                  </a:txBody>
                  <a:tcPr>
                    <a:solidFill>
                      <a:srgbClr val="DCE8EE"/>
                    </a:solidFill>
                  </a:tcPr>
                </a:tc>
              </a:tr>
              <a:tr h="538162">
                <a:tc>
                  <a:txBody>
                    <a:bodyPr lIns="114300" rIns="114300" tIns="76200" bIns="0"/>
                    <a:lstStyle/>
                    <a:p>
                      <a:pPr>
                        <a:lnSpc>
                          <a:spcPct val="130000"/>
                        </a:lnSpc>
                      </a:pPr>
                      <a:r>
                        <a:rPr lang="en-US" sz="1875" b="0">
                          <a:solidFill>
                            <a:srgbClr val="102E40"/>
                          </a:solidFill>
                          <a:latin typeface="Arial"/>
                        </a:rPr>
                        <a:t xml:space="preserve">Nonexistent provider model</a:t>
                      </a:r>
                      <a:endParaRPr lang="en-US"/>
                    </a:p>
                  </a:txBody>
                  <a:tcPr>
                    <a:solidFill>
                      <a:srgbClr val="FFFFFF"/>
                    </a:solidFill>
                  </a:tcPr>
                </a:tc>
                <a:tc>
                  <a:txBody>
                    <a:bodyPr lIns="114300" rIns="114300" tIns="76200" bIns="0"/>
                    <a:lstStyle/>
                    <a:p>
                      <a:pPr>
                        <a:lnSpc>
                          <a:spcPct val="130000"/>
                        </a:lnSpc>
                      </a:pPr>
                      <a:r>
                        <a:rPr lang="en-US" sz="1875" b="0">
                          <a:solidFill>
                            <a:srgbClr val="102E40"/>
                          </a:solidFill>
                          <a:latin typeface="Arial"/>
                        </a:rPr>
                        <a:t xml:space="preserve">HTTP 404, model not found</a:t>
                      </a:r>
                      <a:endParaRPr lang="en-US"/>
                    </a:p>
                  </a:txBody>
                  <a:tcPr>
                    <a:solidFill>
                      <a:srgbClr val="FFFFFF"/>
                    </a:solidFill>
                  </a:tcPr>
                </a:tc>
                <a:tc>
                  <a:txBody>
                    <a:bodyPr lIns="114300" rIns="114300" tIns="76200" bIns="0"/>
                    <a:lstStyle/>
                    <a:p>
                      <a:pPr>
                        <a:lnSpc>
                          <a:spcPct val="130000"/>
                        </a:lnSpc>
                      </a:pPr>
                      <a:r>
                        <a:rPr lang="en-US" sz="1875" b="0">
                          <a:solidFill>
                            <a:srgbClr val="102E40"/>
                          </a:solidFill>
                          <a:latin typeface="Arial"/>
                        </a:rPr>
                        <a:t xml:space="preserve">Check / retry / local play</a:t>
                      </a:r>
                      <a:endParaRPr lang="en-US"/>
                    </a:p>
                  </a:txBody>
                  <a:tcPr>
                    <a:solidFill>
                      <a:srgbClr val="FFFFFF"/>
                    </a:solidFill>
                  </a:tcPr>
                </a:tc>
              </a:tr>
              <a:tr h="538162">
                <a:tc>
                  <a:txBody>
                    <a:bodyPr lIns="114300" rIns="114300" tIns="76200" bIns="0"/>
                    <a:lstStyle/>
                    <a:p>
                      <a:pPr>
                        <a:lnSpc>
                          <a:spcPct val="130000"/>
                        </a:lnSpc>
                      </a:pPr>
                      <a:r>
                        <a:rPr lang="en-US" sz="1875" b="0">
                          <a:solidFill>
                            <a:srgbClr val="102E40"/>
                          </a:solidFill>
                          <a:latin typeface="Arial"/>
                        </a:rPr>
                        <a:t xml:space="preserve">Malformed provider JSON</a:t>
                      </a:r>
                      <a:endParaRPr lang="en-US"/>
                    </a:p>
                  </a:txBody>
                  <a:tcPr>
                    <a:solidFill>
                      <a:srgbClr val="FFFFFF"/>
                    </a:solidFill>
                  </a:tcPr>
                </a:tc>
                <a:tc>
                  <a:txBody>
                    <a:bodyPr lIns="114300" rIns="114300" tIns="76200" bIns="0"/>
                    <a:lstStyle/>
                    <a:p>
                      <a:pPr>
                        <a:lnSpc>
                          <a:spcPct val="130000"/>
                        </a:lnSpc>
                      </a:pPr>
                      <a:r>
                        <a:rPr lang="en-US" sz="1875" b="0">
                          <a:solidFill>
                            <a:srgbClr val="102E40"/>
                          </a:solidFill>
                          <a:latin typeface="Arial"/>
                        </a:rPr>
                        <a:t xml:space="preserve">HTTP 400, unexpected EOF</a:t>
                      </a:r>
                      <a:endParaRPr lang="en-US"/>
                    </a:p>
                  </a:txBody>
                  <a:tcPr>
                    <a:solidFill>
                      <a:srgbClr val="FFFFFF"/>
                    </a:solidFill>
                  </a:tcPr>
                </a:tc>
                <a:tc>
                  <a:txBody>
                    <a:bodyPr lIns="114300" rIns="114300" tIns="76200" bIns="0"/>
                    <a:lstStyle/>
                    <a:p>
                      <a:pPr>
                        <a:lnSpc>
                          <a:spcPct val="130000"/>
                        </a:lnSpc>
                      </a:pPr>
                      <a:r>
                        <a:rPr lang="en-US" sz="1875" b="0">
                          <a:solidFill>
                            <a:srgbClr val="102E40"/>
                          </a:solidFill>
                          <a:latin typeface="Arial"/>
                        </a:rPr>
                        <a:t xml:space="preserve">Explain failure / retain selections</a:t>
                      </a:r>
                      <a:endParaRPr lang="en-US"/>
                    </a:p>
                  </a:txBody>
                  <a:tcPr>
                    <a:solidFill>
                      <a:srgbClr val="FFFFFF"/>
                    </a:solidFill>
                  </a:tcPr>
                </a:tc>
              </a:tr>
              <a:tr h="538162">
                <a:tc>
                  <a:txBody>
                    <a:bodyPr lIns="114300" rIns="114300" tIns="76200" bIns="0"/>
                    <a:lstStyle/>
                    <a:p>
                      <a:pPr>
                        <a:lnSpc>
                          <a:spcPct val="130000"/>
                        </a:lnSpc>
                      </a:pPr>
                      <a:r>
                        <a:rPr lang="en-US" sz="1875" b="0">
                          <a:solidFill>
                            <a:srgbClr val="102E40"/>
                          </a:solidFill>
                          <a:latin typeface="Arial"/>
                        </a:rPr>
                        <a:t xml:space="preserve">Unsupported difficulty</a:t>
                      </a:r>
                      <a:endParaRPr lang="en-US"/>
                    </a:p>
                  </a:txBody>
                  <a:tcPr>
                    <a:solidFill>
                      <a:srgbClr val="FFFFFF"/>
                    </a:solidFill>
                  </a:tcPr>
                </a:tc>
                <a:tc>
                  <a:txBody>
                    <a:bodyPr lIns="114300" rIns="114300" tIns="76200" bIns="0"/>
                    <a:lstStyle/>
                    <a:p>
                      <a:pPr>
                        <a:lnSpc>
                          <a:spcPct val="130000"/>
                        </a:lnSpc>
                      </a:pPr>
                      <a:r>
                        <a:rPr lang="en-US" sz="1875" b="0">
                          <a:solidFill>
                            <a:srgbClr val="102E40"/>
                          </a:solidFill>
                          <a:latin typeface="Arial"/>
                        </a:rPr>
                        <a:t xml:space="preserve">App HTTP 400 before inference</a:t>
                      </a:r>
                      <a:endParaRPr lang="en-US"/>
                    </a:p>
                  </a:txBody>
                  <a:tcPr>
                    <a:solidFill>
                      <a:srgbClr val="FFFFFF"/>
                    </a:solidFill>
                  </a:tcPr>
                </a:tc>
                <a:tc>
                  <a:txBody>
                    <a:bodyPr lIns="114300" rIns="114300" tIns="76200" bIns="0"/>
                    <a:lstStyle/>
                    <a:p>
                      <a:pPr>
                        <a:lnSpc>
                          <a:spcPct val="130000"/>
                        </a:lnSpc>
                      </a:pPr>
                      <a:r>
                        <a:rPr lang="en-US" sz="1875" b="0">
                          <a:solidFill>
                            <a:srgbClr val="102E40"/>
                          </a:solidFill>
                          <a:latin typeface="Arial"/>
                        </a:rPr>
                        <a:t xml:space="preserve">Supported-choice guidance</a:t>
                      </a:r>
                      <a:endParaRPr lang="en-US"/>
                    </a:p>
                  </a:txBody>
                  <a:tcPr>
                    <a:solidFill>
                      <a:srgbClr val="FFFFFF"/>
                    </a:solidFill>
                  </a:tcPr>
                </a:tc>
              </a:tr>
            </a:tbl>
          </a:graphicData>
        </a:graphic>
      </p:graphicFrame>
      <p:sp>
        <p:nvSpPr>
          <p:cNvPr id="5" name="Wait design: elapsed time and Cancel, with every round "/>
          <p:cNvSpPr txBox="1"/>
          <p:nvPr/>
        </p:nvSpPr>
        <p:spPr>
          <a:xfrm>
            <a:off x="609600" y="4429125"/>
            <a:ext cx="10858500" cy="488804"/>
          </a:xfrm>
          <a:prstGeom prst="rect">
            <a:avLst/>
          </a:prstGeom>
          <a:noFill/>
          <a:ln>
            <a:noFill/>
          </a:ln>
        </p:spPr>
        <p:txBody>
          <a:bodyPr wrap="square" lIns="0" rIns="0" tIns="0" bIns="0" anchor="t">
            <a:noAutofit/>
          </a:bodyPr>
          <a:lstStyle/>
          <a:p>
            <a:pPr>
              <a:lnSpc>
                <a:spcPct val="130000"/>
              </a:lnSpc>
            </a:pPr>
            <a:r>
              <a:rPr lang="en-US" sz="2025" b="1">
                <a:solidFill>
                  <a:srgbClr val="126978"/>
                </a:solidFill>
                <a:latin typeface="Arial"/>
              </a:rPr>
              <a:t xml:space="preserve">Wait design: elapsed time and Cancel, with every round clock stopped.</a:t>
            </a:r>
            <a:endParaRPr lang="en-US"/>
          </a:p>
        </p:txBody>
      </p:sp>
      <p:sp>
        <p:nvSpPr>
          <p:cNvPr id="6" name="No live 429 or capacity benchmark. Local API calls had "/>
          <p:cNvSpPr txBox="1"/>
          <p:nvPr/>
        </p:nvSpPr>
        <p:spPr>
          <a:xfrm>
            <a:off x="609600" y="5238750"/>
            <a:ext cx="10858500" cy="795642"/>
          </a:xfrm>
          <a:prstGeom prst="rect">
            <a:avLst/>
          </a:prstGeom>
          <a:noFill/>
          <a:ln>
            <a:noFill/>
          </a:ln>
        </p:spPr>
        <p:txBody>
          <a:bodyPr wrap="square" lIns="0" rIns="0" tIns="0" bIns="0" anchor="t">
            <a:noAutofit/>
          </a:bodyPr>
          <a:lstStyle/>
          <a:p>
            <a:pPr>
              <a:lnSpc>
                <a:spcPct val="130000"/>
              </a:lnSpc>
            </a:pPr>
            <a:r>
              <a:rPr lang="en-US" sz="1800" b="0">
                <a:solidFill>
                  <a:srgbClr val="526875"/>
                </a:solidFill>
                <a:latin typeface="Arial"/>
              </a:rPr>
              <a:t xml:space="preserve">No live 429 or capacity benchmark. Local API calls had no billed fee.</a:t>
            </a:r>
            <a:endParaRPr lang="en-US"/>
          </a:p>
          <a:p>
            <a:pPr>
              <a:lnSpc>
                <a:spcPct val="130000"/>
              </a:lnSpc>
            </a:pPr>
            <a:r>
              <a:rPr lang="en-US" sz="1800" b="0">
                <a:solidFill>
                  <a:srgbClr val="526875"/>
                </a:solidFill>
                <a:latin typeface="Arial"/>
              </a:rPr>
              <a:t xml:space="preserve">Hardware, electricity and future hosting costs are unmeasured.</a:t>
            </a:r>
            <a:endParaRPr lang="en-US"/>
          </a:p>
        </p:txBody>
      </p:sp>
      <p:sp>
        <p:nvSpPr>
          <p:cNvPr id="7" name="Farshore / Phase 2 / 11"/>
          <p:cNvSpPr txBox="1"/>
          <p:nvPr/>
        </p:nvSpPr>
        <p:spPr>
          <a:xfrm>
            <a:off x="609600" y="6343650"/>
            <a:ext cx="10972800" cy="298856"/>
          </a:xfrm>
          <a:prstGeom prst="rect">
            <a:avLst/>
          </a:prstGeom>
          <a:noFill/>
          <a:ln>
            <a:noFill/>
          </a:ln>
        </p:spPr>
        <p:txBody>
          <a:bodyPr wrap="square" lIns="0" rIns="0" tIns="0" bIns="0" anchor="t">
            <a:noAutofit/>
          </a:bodyPr>
          <a:lstStyle/>
          <a:p>
            <a:pPr>
              <a:lnSpc>
                <a:spcPct val="130000"/>
              </a:lnSpc>
            </a:pPr>
            <a:r>
              <a:rPr lang="en-US" sz="1050" b="0">
                <a:solidFill>
                  <a:srgbClr val="526875"/>
                </a:solidFill>
                <a:latin typeface="Arial"/>
              </a:rPr>
              <a:t xml:space="preserve">Farshore / Phase 2 / 11</a:t>
            </a:r>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Phase 2 design and next evaluation"/>
          <p:cNvSpPr txBox="1"/>
          <p:nvPr/>
        </p:nvSpPr>
        <p:spPr>
          <a:xfrm>
            <a:off x="609600" y="400050"/>
            <a:ext cx="10972800" cy="795642"/>
          </a:xfrm>
          <a:prstGeom prst="rect">
            <a:avLst/>
          </a:prstGeom>
          <a:noFill/>
          <a:ln>
            <a:noFill/>
          </a:ln>
        </p:spPr>
        <p:txBody>
          <a:bodyPr wrap="square" lIns="0" rIns="0" tIns="0" bIns="0" anchor="t">
            <a:noAutofit/>
          </a:bodyPr>
          <a:lstStyle/>
          <a:p>
            <a:pPr>
              <a:lnSpc>
                <a:spcPct val="130000"/>
              </a:lnSpc>
            </a:pPr>
            <a:r>
              <a:rPr lang="en-US" sz="3600" b="1">
                <a:solidFill>
                  <a:srgbClr val="102E40"/>
                </a:solidFill>
                <a:latin typeface="Arial"/>
              </a:rPr>
              <a:t xml:space="preserve">Phase 2 design and next evaluation</a:t>
            </a:r>
            <a:endParaRPr lang="en-US"/>
          </a:p>
        </p:txBody>
      </p:sp>
      <p:sp>
        <p:nvSpPr>
          <p:cNvPr id="3" name="Implemented behavior and proposed improvements"/>
          <p:cNvSpPr txBox="1"/>
          <p:nvPr/>
        </p:nvSpPr>
        <p:spPr>
          <a:xfrm>
            <a:off x="609600" y="1009650"/>
            <a:ext cx="10972800" cy="386524"/>
          </a:xfrm>
          <a:prstGeom prst="rect">
            <a:avLst/>
          </a:prstGeom>
          <a:noFill/>
          <a:ln>
            <a:noFill/>
          </a:ln>
        </p:spPr>
        <p:txBody>
          <a:bodyPr wrap="square" lIns="0" rIns="0" tIns="0" bIns="0" anchor="t">
            <a:noAutofit/>
          </a:bodyPr>
          <a:lstStyle/>
          <a:p>
            <a:pPr>
              <a:lnSpc>
                <a:spcPct val="130000"/>
              </a:lnSpc>
            </a:pPr>
            <a:r>
              <a:rPr lang="en-US" sz="1500" b="0">
                <a:solidFill>
                  <a:srgbClr val="526875"/>
                </a:solidFill>
                <a:latin typeface="Arial"/>
              </a:rPr>
              <a:t xml:space="preserve">Implemented behavior and proposed improvements</a:t>
            </a:r>
            <a:endParaRPr lang="en-US"/>
          </a:p>
        </p:txBody>
      </p:sp>
      <p:sp>
        <p:nvSpPr>
          <p:cNvPr id="4" name="Implemented"/>
          <p:cNvSpPr txBox="1"/>
          <p:nvPr/>
        </p:nvSpPr>
        <p:spPr>
          <a:xfrm>
            <a:off x="609600" y="1762125"/>
            <a:ext cx="5000625" cy="547249"/>
          </a:xfrm>
          <a:prstGeom prst="rect">
            <a:avLst/>
          </a:prstGeom>
          <a:noFill/>
          <a:ln>
            <a:noFill/>
          </a:ln>
        </p:spPr>
        <p:txBody>
          <a:bodyPr wrap="square" lIns="0" rIns="0" tIns="0" bIns="0" anchor="t">
            <a:noAutofit/>
          </a:bodyPr>
          <a:lstStyle/>
          <a:p>
            <a:pPr>
              <a:lnSpc>
                <a:spcPct val="130000"/>
              </a:lnSpc>
            </a:pPr>
            <a:r>
              <a:rPr lang="en-US" sz="2325" b="1">
                <a:solidFill>
                  <a:srgbClr val="102E40"/>
                </a:solidFill>
                <a:latin typeface="Arial"/>
              </a:rPr>
              <a:t xml:space="preserve">Implemented</a:t>
            </a:r>
            <a:endParaRPr lang="en-US"/>
          </a:p>
        </p:txBody>
      </p:sp>
      <p:sp>
        <p:nvSpPr>
          <p:cNvPr id="5" name="•"/>
          <p:cNvSpPr txBox="1"/>
          <p:nvPr/>
        </p:nvSpPr>
        <p:spPr>
          <a:xfrm>
            <a:off x="609600" y="2400300"/>
            <a:ext cx="171450" cy="488804"/>
          </a:xfrm>
          <a:prstGeom prst="rect">
            <a:avLst/>
          </a:prstGeom>
          <a:noFill/>
          <a:ln>
            <a:noFill/>
          </a:ln>
        </p:spPr>
        <p:txBody>
          <a:bodyPr wrap="square" lIns="0" rIns="0" tIns="0" bIns="0" anchor="t">
            <a:noAutofit/>
          </a:bodyPr>
          <a:lstStyle/>
          <a:p>
            <a:pPr>
              <a:lnSpc>
                <a:spcPct val="130000"/>
              </a:lnSpc>
            </a:pPr>
            <a:r>
              <a:rPr lang="en-US" sz="2025" b="0">
                <a:solidFill>
                  <a:srgbClr val="126978"/>
                </a:solidFill>
                <a:latin typeface="Arial"/>
              </a:rPr>
              <a:t xml:space="preserve">•</a:t>
            </a:r>
            <a:endParaRPr lang="en-US"/>
          </a:p>
        </p:txBody>
      </p:sp>
      <p:sp>
        <p:nvSpPr>
          <p:cNvPr id="6" name="Five distinct playable trials"/>
          <p:cNvSpPr txBox="1"/>
          <p:nvPr/>
        </p:nvSpPr>
        <p:spPr>
          <a:xfrm>
            <a:off x="838200" y="2400300"/>
            <a:ext cx="4772025" cy="488804"/>
          </a:xfrm>
          <a:prstGeom prst="rect">
            <a:avLst/>
          </a:prstGeom>
          <a:noFill/>
          <a:ln>
            <a:noFill/>
          </a:ln>
        </p:spPr>
        <p:txBody>
          <a:bodyPr wrap="square" lIns="0" rIns="0" tIns="0" bIns="0" anchor="t">
            <a:noAutofit/>
          </a:bodyPr>
          <a:lstStyle/>
          <a:p>
            <a:pPr>
              <a:lnSpc>
                <a:spcPct val="130000"/>
              </a:lnSpc>
            </a:pPr>
            <a:r>
              <a:rPr lang="en-US" sz="2025" b="0">
                <a:solidFill>
                  <a:srgbClr val="102E40"/>
                </a:solidFill>
                <a:latin typeface="Arial"/>
              </a:rPr>
              <a:t xml:space="preserve">Five distinct playable trials</a:t>
            </a:r>
            <a:endParaRPr lang="en-US"/>
          </a:p>
        </p:txBody>
      </p:sp>
      <p:sp>
        <p:nvSpPr>
          <p:cNvPr id="7" name="•"/>
          <p:cNvSpPr txBox="1"/>
          <p:nvPr/>
        </p:nvSpPr>
        <p:spPr>
          <a:xfrm>
            <a:off x="609600" y="3029902"/>
            <a:ext cx="171450" cy="488804"/>
          </a:xfrm>
          <a:prstGeom prst="rect">
            <a:avLst/>
          </a:prstGeom>
          <a:noFill/>
          <a:ln>
            <a:noFill/>
          </a:ln>
        </p:spPr>
        <p:txBody>
          <a:bodyPr wrap="square" lIns="0" rIns="0" tIns="0" bIns="0" anchor="t">
            <a:noAutofit/>
          </a:bodyPr>
          <a:lstStyle/>
          <a:p>
            <a:pPr>
              <a:lnSpc>
                <a:spcPct val="130000"/>
              </a:lnSpc>
            </a:pPr>
            <a:r>
              <a:rPr lang="en-US" sz="2025" b="0">
                <a:solidFill>
                  <a:srgbClr val="126978"/>
                </a:solidFill>
                <a:latin typeface="Arial"/>
              </a:rPr>
              <a:t xml:space="preserve">•</a:t>
            </a:r>
            <a:endParaRPr lang="en-US"/>
          </a:p>
        </p:txBody>
      </p:sp>
      <p:sp>
        <p:nvSpPr>
          <p:cNvPr id="8" name="Model review, cancellation and regeneration"/>
          <p:cNvSpPr txBox="1"/>
          <p:nvPr/>
        </p:nvSpPr>
        <p:spPr>
          <a:xfrm>
            <a:off x="838200" y="3029902"/>
            <a:ext cx="4772025" cy="883310"/>
          </a:xfrm>
          <a:prstGeom prst="rect">
            <a:avLst/>
          </a:prstGeom>
          <a:noFill/>
          <a:ln>
            <a:noFill/>
          </a:ln>
        </p:spPr>
        <p:txBody>
          <a:bodyPr wrap="square" lIns="0" rIns="0" tIns="0" bIns="0" anchor="t">
            <a:noAutofit/>
          </a:bodyPr>
          <a:lstStyle/>
          <a:p>
            <a:pPr>
              <a:lnSpc>
                <a:spcPct val="130000"/>
              </a:lnSpc>
            </a:pPr>
            <a:r>
              <a:rPr lang="en-US" sz="2025" b="0">
                <a:solidFill>
                  <a:srgbClr val="102E40"/>
                </a:solidFill>
                <a:latin typeface="Arial"/>
              </a:rPr>
              <a:t xml:space="preserve">Model review, cancellation and regeneration</a:t>
            </a:r>
            <a:endParaRPr lang="en-US"/>
          </a:p>
        </p:txBody>
      </p:sp>
      <p:sp>
        <p:nvSpPr>
          <p:cNvPr id="9" name="•"/>
          <p:cNvSpPr txBox="1"/>
          <p:nvPr/>
        </p:nvSpPr>
        <p:spPr>
          <a:xfrm>
            <a:off x="609600" y="3993832"/>
            <a:ext cx="171450" cy="488804"/>
          </a:xfrm>
          <a:prstGeom prst="rect">
            <a:avLst/>
          </a:prstGeom>
          <a:noFill/>
          <a:ln>
            <a:noFill/>
          </a:ln>
        </p:spPr>
        <p:txBody>
          <a:bodyPr wrap="square" lIns="0" rIns="0" tIns="0" bIns="0" anchor="t">
            <a:noAutofit/>
          </a:bodyPr>
          <a:lstStyle/>
          <a:p>
            <a:pPr>
              <a:lnSpc>
                <a:spcPct val="130000"/>
              </a:lnSpc>
            </a:pPr>
            <a:r>
              <a:rPr lang="en-US" sz="2025" b="0">
                <a:solidFill>
                  <a:srgbClr val="126978"/>
                </a:solidFill>
                <a:latin typeface="Arial"/>
              </a:rPr>
              <a:t xml:space="preserve">•</a:t>
            </a:r>
            <a:endParaRPr lang="en-US"/>
          </a:p>
        </p:txBody>
      </p:sp>
      <p:sp>
        <p:nvSpPr>
          <p:cNvPr id="10" name="Local saves, practice and assisted passage"/>
          <p:cNvSpPr txBox="1"/>
          <p:nvPr/>
        </p:nvSpPr>
        <p:spPr>
          <a:xfrm>
            <a:off x="838200" y="3993832"/>
            <a:ext cx="4772025" cy="883310"/>
          </a:xfrm>
          <a:prstGeom prst="rect">
            <a:avLst/>
          </a:prstGeom>
          <a:noFill/>
          <a:ln>
            <a:noFill/>
          </a:ln>
        </p:spPr>
        <p:txBody>
          <a:bodyPr wrap="square" lIns="0" rIns="0" tIns="0" bIns="0" anchor="t">
            <a:noAutofit/>
          </a:bodyPr>
          <a:lstStyle/>
          <a:p>
            <a:pPr>
              <a:lnSpc>
                <a:spcPct val="130000"/>
              </a:lnSpc>
            </a:pPr>
            <a:r>
              <a:rPr lang="en-US" sz="2025" b="0">
                <a:solidFill>
                  <a:srgbClr val="102E40"/>
                </a:solidFill>
                <a:latin typeface="Arial"/>
              </a:rPr>
              <a:t xml:space="preserve">Local saves, practice and assisted passage</a:t>
            </a:r>
            <a:endParaRPr lang="en-US"/>
          </a:p>
        </p:txBody>
      </p:sp>
      <p:sp>
        <p:nvSpPr>
          <p:cNvPr id="11" name="Proposed or awaiting evidence"/>
          <p:cNvSpPr txBox="1"/>
          <p:nvPr/>
        </p:nvSpPr>
        <p:spPr>
          <a:xfrm>
            <a:off x="6667500" y="1762125"/>
            <a:ext cx="4857750" cy="547249"/>
          </a:xfrm>
          <a:prstGeom prst="rect">
            <a:avLst/>
          </a:prstGeom>
          <a:noFill/>
          <a:ln>
            <a:noFill/>
          </a:ln>
        </p:spPr>
        <p:txBody>
          <a:bodyPr wrap="square" lIns="0" rIns="0" tIns="0" bIns="0" anchor="t">
            <a:noAutofit/>
          </a:bodyPr>
          <a:lstStyle/>
          <a:p>
            <a:pPr>
              <a:lnSpc>
                <a:spcPct val="130000"/>
              </a:lnSpc>
            </a:pPr>
            <a:r>
              <a:rPr lang="en-US" sz="2325" b="1">
                <a:solidFill>
                  <a:srgbClr val="102E40"/>
                </a:solidFill>
                <a:latin typeface="Arial"/>
              </a:rPr>
              <a:t xml:space="preserve">Proposed or awaiting evidence</a:t>
            </a:r>
            <a:endParaRPr lang="en-US"/>
          </a:p>
        </p:txBody>
      </p:sp>
      <p:sp>
        <p:nvSpPr>
          <p:cNvPr id="12" name="•"/>
          <p:cNvSpPr txBox="1"/>
          <p:nvPr/>
        </p:nvSpPr>
        <p:spPr>
          <a:xfrm>
            <a:off x="6667500" y="2400300"/>
            <a:ext cx="171450" cy="488804"/>
          </a:xfrm>
          <a:prstGeom prst="rect">
            <a:avLst/>
          </a:prstGeom>
          <a:noFill/>
          <a:ln>
            <a:noFill/>
          </a:ln>
        </p:spPr>
        <p:txBody>
          <a:bodyPr wrap="square" lIns="0" rIns="0" tIns="0" bIns="0" anchor="t">
            <a:noAutofit/>
          </a:bodyPr>
          <a:lstStyle/>
          <a:p>
            <a:pPr>
              <a:lnSpc>
                <a:spcPct val="130000"/>
              </a:lnSpc>
            </a:pPr>
            <a:r>
              <a:rPr lang="en-US" sz="2025" b="0">
                <a:solidFill>
                  <a:srgbClr val="126978"/>
                </a:solidFill>
                <a:latin typeface="Arial"/>
              </a:rPr>
              <a:t xml:space="preserve">•</a:t>
            </a:r>
            <a:endParaRPr lang="en-US"/>
          </a:p>
        </p:txBody>
      </p:sp>
      <p:sp>
        <p:nvSpPr>
          <p:cNvPr id="13" name="Explicit Discard and saving warning"/>
          <p:cNvSpPr txBox="1"/>
          <p:nvPr/>
        </p:nvSpPr>
        <p:spPr>
          <a:xfrm>
            <a:off x="6896100" y="2400300"/>
            <a:ext cx="4629150" cy="488804"/>
          </a:xfrm>
          <a:prstGeom prst="rect">
            <a:avLst/>
          </a:prstGeom>
          <a:noFill/>
          <a:ln>
            <a:noFill/>
          </a:ln>
        </p:spPr>
        <p:txBody>
          <a:bodyPr wrap="square" lIns="0" rIns="0" tIns="0" bIns="0" anchor="t">
            <a:noAutofit/>
          </a:bodyPr>
          <a:lstStyle/>
          <a:p>
            <a:pPr>
              <a:lnSpc>
                <a:spcPct val="130000"/>
              </a:lnSpc>
            </a:pPr>
            <a:r>
              <a:rPr lang="en-US" sz="2025" b="0">
                <a:solidFill>
                  <a:srgbClr val="102E40"/>
                </a:solidFill>
                <a:latin typeface="Arial"/>
              </a:rPr>
              <a:t xml:space="preserve">Explicit Discard and saving warning</a:t>
            </a:r>
            <a:endParaRPr lang="en-US"/>
          </a:p>
        </p:txBody>
      </p:sp>
      <p:sp>
        <p:nvSpPr>
          <p:cNvPr id="14" name="•"/>
          <p:cNvSpPr txBox="1"/>
          <p:nvPr/>
        </p:nvSpPr>
        <p:spPr>
          <a:xfrm>
            <a:off x="6667500" y="3029902"/>
            <a:ext cx="171450" cy="488804"/>
          </a:xfrm>
          <a:prstGeom prst="rect">
            <a:avLst/>
          </a:prstGeom>
          <a:noFill/>
          <a:ln>
            <a:noFill/>
          </a:ln>
        </p:spPr>
        <p:txBody>
          <a:bodyPr wrap="square" lIns="0" rIns="0" tIns="0" bIns="0" anchor="t">
            <a:noAutofit/>
          </a:bodyPr>
          <a:lstStyle/>
          <a:p>
            <a:pPr>
              <a:lnSpc>
                <a:spcPct val="130000"/>
              </a:lnSpc>
            </a:pPr>
            <a:r>
              <a:rPr lang="en-US" sz="2025" b="0">
                <a:solidFill>
                  <a:srgbClr val="126978"/>
                </a:solidFill>
                <a:latin typeface="Arial"/>
              </a:rPr>
              <a:t xml:space="preserve">•</a:t>
            </a:r>
            <a:endParaRPr lang="en-US"/>
          </a:p>
        </p:txBody>
      </p:sp>
      <p:sp>
        <p:nvSpPr>
          <p:cNvPr id="15" name="Interview-backed persona validation"/>
          <p:cNvSpPr txBox="1"/>
          <p:nvPr/>
        </p:nvSpPr>
        <p:spPr>
          <a:xfrm>
            <a:off x="6896100" y="3029902"/>
            <a:ext cx="4629150" cy="488804"/>
          </a:xfrm>
          <a:prstGeom prst="rect">
            <a:avLst/>
          </a:prstGeom>
          <a:noFill/>
          <a:ln>
            <a:noFill/>
          </a:ln>
        </p:spPr>
        <p:txBody>
          <a:bodyPr wrap="square" lIns="0" rIns="0" tIns="0" bIns="0" anchor="t">
            <a:noAutofit/>
          </a:bodyPr>
          <a:lstStyle/>
          <a:p>
            <a:pPr>
              <a:lnSpc>
                <a:spcPct val="130000"/>
              </a:lnSpc>
            </a:pPr>
            <a:r>
              <a:rPr lang="en-US" sz="2025" b="0">
                <a:solidFill>
                  <a:srgbClr val="102E40"/>
                </a:solidFill>
                <a:latin typeface="Arial"/>
              </a:rPr>
              <a:t xml:space="preserve">Interview-backed persona validation</a:t>
            </a:r>
            <a:endParaRPr lang="en-US"/>
          </a:p>
        </p:txBody>
      </p:sp>
      <p:sp>
        <p:nvSpPr>
          <p:cNvPr id="16" name="•"/>
          <p:cNvSpPr txBox="1"/>
          <p:nvPr/>
        </p:nvSpPr>
        <p:spPr>
          <a:xfrm>
            <a:off x="6667500" y="3659505"/>
            <a:ext cx="171450" cy="488804"/>
          </a:xfrm>
          <a:prstGeom prst="rect">
            <a:avLst/>
          </a:prstGeom>
          <a:noFill/>
          <a:ln>
            <a:noFill/>
          </a:ln>
        </p:spPr>
        <p:txBody>
          <a:bodyPr wrap="square" lIns="0" rIns="0" tIns="0" bIns="0" anchor="t">
            <a:noAutofit/>
          </a:bodyPr>
          <a:lstStyle/>
          <a:p>
            <a:pPr>
              <a:lnSpc>
                <a:spcPct val="130000"/>
              </a:lnSpc>
            </a:pPr>
            <a:r>
              <a:rPr lang="en-US" sz="2025" b="0">
                <a:solidFill>
                  <a:srgbClr val="126978"/>
                </a:solidFill>
                <a:latin typeface="Arial"/>
              </a:rPr>
              <a:t xml:space="preserve">•</a:t>
            </a:r>
            <a:endParaRPr lang="en-US"/>
          </a:p>
        </p:txBody>
      </p:sp>
      <p:sp>
        <p:nvSpPr>
          <p:cNvPr id="17" name="Actual peer critique and fairness playtests"/>
          <p:cNvSpPr txBox="1"/>
          <p:nvPr/>
        </p:nvSpPr>
        <p:spPr>
          <a:xfrm>
            <a:off x="6896100" y="3659505"/>
            <a:ext cx="4629150" cy="883310"/>
          </a:xfrm>
          <a:prstGeom prst="rect">
            <a:avLst/>
          </a:prstGeom>
          <a:noFill/>
          <a:ln>
            <a:noFill/>
          </a:ln>
        </p:spPr>
        <p:txBody>
          <a:bodyPr wrap="square" lIns="0" rIns="0" tIns="0" bIns="0" anchor="t">
            <a:noAutofit/>
          </a:bodyPr>
          <a:lstStyle/>
          <a:p>
            <a:pPr>
              <a:lnSpc>
                <a:spcPct val="130000"/>
              </a:lnSpc>
            </a:pPr>
            <a:r>
              <a:rPr lang="en-US" sz="2025" b="0">
                <a:solidFill>
                  <a:srgbClr val="102E40"/>
                </a:solidFill>
                <a:latin typeface="Arial"/>
              </a:rPr>
              <a:t xml:space="preserve">Actual peer critique and fairness playtests</a:t>
            </a:r>
            <a:endParaRPr lang="en-US"/>
          </a:p>
        </p:txBody>
      </p:sp>
      <p:sp>
        <p:nvSpPr>
          <p:cNvPr id="18" name="Supporting packet: 15 screens, 5 flows, 28 wireframes a"/>
          <p:cNvSpPr txBox="1"/>
          <p:nvPr/>
        </p:nvSpPr>
        <p:spPr>
          <a:xfrm>
            <a:off x="609600" y="5734050"/>
            <a:ext cx="10858500" cy="444970"/>
          </a:xfrm>
          <a:prstGeom prst="rect">
            <a:avLst/>
          </a:prstGeom>
          <a:noFill/>
          <a:ln>
            <a:noFill/>
          </a:ln>
        </p:spPr>
        <p:txBody>
          <a:bodyPr wrap="square" lIns="0" rIns="0" tIns="0" bIns="0" anchor="t">
            <a:noAutofit/>
          </a:bodyPr>
          <a:lstStyle/>
          <a:p>
            <a:pPr>
              <a:lnSpc>
                <a:spcPct val="130000"/>
              </a:lnSpc>
            </a:pPr>
            <a:r>
              <a:rPr lang="en-US" sz="1800" b="0">
                <a:solidFill>
                  <a:srgbClr val="126978"/>
                </a:solidFill>
                <a:latin typeface="Arial"/>
              </a:rPr>
              <a:t xml:space="preserve">Supporting packet: 15 screens, 5 flows, 28 wireframes and exact AI evidence.</a:t>
            </a:r>
            <a:endParaRPr lang="en-US"/>
          </a:p>
        </p:txBody>
      </p:sp>
      <p:sp>
        <p:nvSpPr>
          <p:cNvPr id="19" name="Farshore / Phase 2 / 12"/>
          <p:cNvSpPr txBox="1"/>
          <p:nvPr/>
        </p:nvSpPr>
        <p:spPr>
          <a:xfrm>
            <a:off x="609600" y="6343650"/>
            <a:ext cx="10972800" cy="298856"/>
          </a:xfrm>
          <a:prstGeom prst="rect">
            <a:avLst/>
          </a:prstGeom>
          <a:noFill/>
          <a:ln>
            <a:noFill/>
          </a:ln>
        </p:spPr>
        <p:txBody>
          <a:bodyPr wrap="square" lIns="0" rIns="0" tIns="0" bIns="0" anchor="t">
            <a:noAutofit/>
          </a:bodyPr>
          <a:lstStyle/>
          <a:p>
            <a:pPr>
              <a:lnSpc>
                <a:spcPct val="130000"/>
              </a:lnSpc>
            </a:pPr>
            <a:r>
              <a:rPr lang="en-US" sz="1050" b="0">
                <a:solidFill>
                  <a:srgbClr val="526875"/>
                </a:solidFill>
                <a:latin typeface="Arial"/>
              </a:rPr>
              <a:t xml:space="preserve">Farshore / Phase 2 / 12</a:t>
            </a:r>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