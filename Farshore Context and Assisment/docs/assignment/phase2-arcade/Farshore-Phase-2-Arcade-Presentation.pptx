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Types>
</file>

<file path=_rels/.rels><?xml version="1.0" encoding="UTF-8" standalone="yes"?><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 id="262" r:id="rId9"/>
    <p:sldId id="263" r:id="rId10"/>
  </p:sldIdLst>
  <p:notesMasterIdLst>
    <p:notesMasterId r:id="rId2"/>
  </p:notesMasterIdLst>
  <p:sldSz cx="12192000" cy="6858000" type="screen16x9"/>
  <p:notesSz cx="6858000" cy="9144000"/>
  <p:defaultTextStyle/>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35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Farshore turns Odysseus' journey into five distinct arcade trials. Phase 2 focuses on how a player learns a trial, reviews an optional model strategy and recovers from failure. The new direction keeps the Odyssey setting and makes each shore a recognizable game. Source: user arcade design, current src/ArcadeApp.tsx. Original project artwork: public/art/title.png.</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65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Explain the variety briefly. The player moves on a grid, solves a puzzle duel, echoes a melody, controls a shield while rowing, then aims through twelve axe rings. Rivals take turns or visibly react. The myth provides context, while the arcade rules are adaptations. Antinous' competitive shots are an arcade invention. In Book XXI he postpones the contest before taking his turn. Source: src/lib/arcade.ts and src/lib/mythic.ts; Odyssey Books IX, X, XII, XXI. https://www.gutenberg.org/files/1727/1727-h/1727-h.htm#chap21, accessed October 8, 2026.</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75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Maya is the gamer concerned about fairness, Daniel is the reader with limited technical comfort, and Rosa is skeptical of AI. Their ages and sketches come from my Phase 1 slide. The arcade needs are design hypotheses, not new interview findings. Each of the five full task flows names the persona it serves. Source: original/Farshore_Phase12nd.pptx, slide 4; design packet persona page.</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first path is Title, Introduction, Map and Briefing. A briefing opens one of five games, then a result either retries or unlocks the next shore. The fifth passage reaches Homecoming. Settings, Pause/leave, Restart and Assistance are shared overlays. The full packet inventories all fifteen screens and their content. F1 handles starting and learning. F5 handles progress, assistance and finishing. Source: src/ArcadeApp.tsx, round component and design packet S01-S15.</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80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browser sends a shore ID, difficulty and at most two numeric attempts. The server derives the player observations and gives Llama a finite strategy catalog. It validates planId and focus and supplies an authored description. The player reviews it, then local game logic runs the match. Completed records and preferences stay in browser localStorage. The server sends derived habits and win count, rather than raw attempt objects, to the model. The game fixes focus while Llama chooses one of two strategies. Our measured endpoint is loopback Ollama. No third-party model provider receives these calls. A hosted endpoint would require a changed disclosure. Sources: server/arcade.ts, src/lib/arcade.ts, https://docs.ollama.com/api/openai-compatibility and https://docs.ollama.com/capabilities/structured-outputs, accessed October 8, 2026.</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85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Maya needs visible warnings and fixed scoring. Daniel needs a clear objective and short practice. Rosa needs control over the model result. These are design hypotheses based on the supplied Phase 1 sketches. F1: Begin or Continue, read or skip the introduction, choose the first available shore, read the briefing, then practice or play. Restart needs confirmation. F2: select AI Rival Battle, prepare, watch elapsed time with Cancel, validate the allowed plan and focus, review the strategy, then explicitly start. Regenerate replaces the candidate. Changing difficulty or mode discards it. A dedicated Discard is proposed. F3: act with the encounter controls, observe the rival, then reach a result. Pause or lost focus stops clocks and releases controls. A loss offers retry or practice. F4: read the error, retain progress, check settings, then retry or explicitly choose Solo/local AI. No match starts from an invalid response. F5: clear or confirm assistance, continue to the next shore, and reach Homecoming after all five passages. Assistance is labeled and a later clear can replace it. Sources: design packet F1-F5; src/ArcadeApp.tsx; src/components/arcade-round.tsx; server/arcade.ts.</a:t>
            </a:r>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80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These grayscale wireframes summarize W05-W09. Initial makes optional model preparation visible. Loading shows elapsed time and Cancel and consumes no gameplay time. Success names the strategy and keeps difficulty fixed. The player starts, regenerates or changes settings. An unsupported or empty response cannot start a model-planned match. Error preserves the voyage and offers explicit retry or local play. Invalid input stops before inference. No confidence percentage is shown because the model supplies no calibrated probability. Timeout and a busy-provider path are implemented, but they were not induced live in this experiment. Full wireframes cover all fifteen screens, gameplay turns, pause, practice, assistance and save warnings. Sources: design packet W01-W28; src/ArcadeApp.tsx; server/arcade.ts; Phase 2 brief page 2.</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95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A standalone script calls the production adapter with six synthetic, realistic use-case inputs and captures real provider outputs. Temperature is zero, structured schema is strict, output cap is one hundred tokens and streaming is off. The six archived durations sum to 49.671 seconds. The exact arithmetic mean is 8.2785 seconds, rounded half up to 8.279. The raw JSON retains its original floating-point display of 8.278. All outputs are legal. First-time Cyclops and one-loss Strait differ from advisory preferences. S6 injects left-side lane durations that current new-game summaries do not collect. Its focus is constrained by the schema, rather than discovered by the model. Siren targeting uses current-round misses and begins fresh each round. This is feasibility evidence, not a tactical accuracy or enjoyment benchmark. Sources: evidence/phase2-arcade-spike-2026-10-08.json, quality-review.json, scripts/phase2-arcade-spike.mjs and src/lib/mythic.ts mythicSummary.</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85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Two probes actually reach the model service: a nonexistent model returns 404 and malformed provider JSON returns 400 with unexpected EOF. Unsupported difficulty stops at the app boundary and returns 400. Exact error bodies are archived. No live rate-limit threshold or sustained load is measured. The adapter has a busy-service path for 429. Local inference produces no billed API fee in this run, but hardware and electricity cost are unmeasured. These results support visible preparation, elapsed time and Cancel, validated plans and retained progress with explicit fallback. Source: raw spike failure records and one-page summary.</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prototype implements the core arcade loop and the model controls discussed today. Discard and explicit provider privacy detail remain proposals. Storage failure already triggers a persistent warning. Actual interviews and class critique require real people and are not invented in this package. The model remains provisional until player evaluation shows whether its strategy choices help. The supporting packet has every screen, five persona-labeled tasks, twenty-eight wireframes and exact technical evidence. Finish at ten minutes and invite the separate three-to-five-minute Q&amp;A. Sources: design packet and peer-critique record.</a:t>
            </a:r>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E40"/>
        </a:solidFill>
        <a:effectLst/>
      </p:bgPr>
    </p:bg>
    <p:spTree>
      <p:nvGrpSpPr>
        <p:cNvPr id="1" name=""/>
        <p:cNvGrpSpPr/>
        <p:nvPr/>
      </p:nvGrpSpPr>
      <p:grpSpPr>
        <a:xfrm>
          <a:off x="0" y="0"/>
          <a:ext cx="0" cy="0"/>
          <a:chOff x="0" y="0"/>
          <a:chExt cx="0" cy="0"/>
        </a:xfrm>
      </p:grpSpPr>
      <p:sp>
        <p:nvSpPr>
          <p:cNvPr id="2" name="FARSHORE"/>
          <p:cNvSpPr txBox="1"/>
          <p:nvPr/>
        </p:nvSpPr>
        <p:spPr>
          <a:xfrm>
            <a:off x="609600" y="1190625"/>
            <a:ext cx="5000625" cy="941756"/>
          </a:xfrm>
          <a:prstGeom prst="rect">
            <a:avLst/>
          </a:prstGeom>
          <a:noFill/>
          <a:ln>
            <a:noFill/>
          </a:ln>
        </p:spPr>
        <p:txBody>
          <a:bodyPr wrap="square" lIns="0" rIns="0" tIns="0" bIns="0" anchor="t">
            <a:noAutofit/>
          </a:bodyPr>
          <a:lstStyle/>
          <a:p>
            <a:pPr>
              <a:lnSpc>
                <a:spcPct val="130000"/>
              </a:lnSpc>
            </a:pPr>
            <a:r>
              <a:rPr lang="en-US" sz="4350" b="1">
                <a:solidFill>
                  <a:srgbClr val="FFFFFF"/>
                </a:solidFill>
                <a:latin typeface="Arial"/>
              </a:rPr>
              <a:t xml:space="preserve">FARSHORE</a:t>
            </a:r>
            <a:endParaRPr lang="en-US"/>
          </a:p>
        </p:txBody>
      </p:sp>
      <p:sp>
        <p:nvSpPr>
          <p:cNvPr id="3" name="The Odyssey: Arcade Trials"/>
          <p:cNvSpPr txBox="1"/>
          <p:nvPr/>
        </p:nvSpPr>
        <p:spPr>
          <a:xfrm>
            <a:off x="609600" y="2047875"/>
            <a:ext cx="5000625" cy="1409319"/>
          </a:xfrm>
          <a:prstGeom prst="rect">
            <a:avLst/>
          </a:prstGeom>
          <a:noFill/>
          <a:ln>
            <a:noFill/>
          </a:ln>
        </p:spPr>
        <p:txBody>
          <a:bodyPr wrap="square" lIns="0" rIns="0" tIns="0" bIns="0" anchor="t">
            <a:noAutofit/>
          </a:bodyPr>
          <a:lstStyle/>
          <a:p>
            <a:pPr>
              <a:lnSpc>
                <a:spcPct val="130000"/>
              </a:lnSpc>
            </a:pPr>
            <a:r>
              <a:rPr lang="en-US" sz="3375" b="0">
                <a:solidFill>
                  <a:srgbClr val="FFFFFF"/>
                </a:solidFill>
                <a:latin typeface="Arial"/>
              </a:rPr>
              <a:t xml:space="preserve">The Odyssey:</a:t>
            </a:r>
            <a:endParaRPr lang="en-US"/>
          </a:p>
          <a:p>
            <a:pPr>
              <a:lnSpc>
                <a:spcPct val="130000"/>
              </a:lnSpc>
            </a:pPr>
            <a:r>
              <a:rPr lang="en-US" sz="3375" b="0">
                <a:solidFill>
                  <a:srgbClr val="FFFFFF"/>
                </a:solidFill>
                <a:latin typeface="Arial"/>
              </a:rPr>
              <a:t xml:space="preserve">Arcade Trials</a:t>
            </a:r>
            <a:endParaRPr lang="en-US"/>
          </a:p>
        </p:txBody>
      </p:sp>
      <p:sp>
        <p:nvSpPr>
          <p:cNvPr id="4" name="Phase 2: Interface structure and AI interaction design"/>
          <p:cNvSpPr txBox="1"/>
          <p:nvPr/>
        </p:nvSpPr>
        <p:spPr>
          <a:xfrm>
            <a:off x="609600" y="3667125"/>
            <a:ext cx="5000625" cy="854088"/>
          </a:xfrm>
          <a:prstGeom prst="rect">
            <a:avLst/>
          </a:prstGeom>
          <a:noFill/>
          <a:ln>
            <a:noFill/>
          </a:ln>
        </p:spPr>
        <p:txBody>
          <a:bodyPr wrap="square" lIns="0" rIns="0" tIns="0" bIns="0" anchor="t">
            <a:noAutofit/>
          </a:bodyPr>
          <a:lstStyle/>
          <a:p>
            <a:pPr>
              <a:lnSpc>
                <a:spcPct val="130000"/>
              </a:lnSpc>
            </a:pPr>
            <a:r>
              <a:rPr lang="en-US" sz="1950" b="0">
                <a:solidFill>
                  <a:srgbClr val="BFD6DE"/>
                </a:solidFill>
                <a:latin typeface="Arial"/>
              </a:rPr>
              <a:t xml:space="preserve">Phase 2: Interface structure</a:t>
            </a:r>
            <a:endParaRPr lang="en-US"/>
          </a:p>
          <a:p>
            <a:pPr>
              <a:lnSpc>
                <a:spcPct val="130000"/>
              </a:lnSpc>
            </a:pPr>
            <a:r>
              <a:rPr lang="en-US" sz="1950" b="0">
                <a:solidFill>
                  <a:srgbClr val="BFD6DE"/>
                </a:solidFill>
                <a:latin typeface="Arial"/>
              </a:rPr>
              <a:t xml:space="preserve">and AI interaction design</a:t>
            </a:r>
            <a:endParaRPr lang="en-US"/>
          </a:p>
        </p:txBody>
      </p:sp>
      <p:sp>
        <p:nvSpPr>
          <p:cNvPr id="5" name="Bibek Pathak CMPS 4200 HCI / October 8, 2026"/>
          <p:cNvSpPr txBox="1"/>
          <p:nvPr/>
        </p:nvSpPr>
        <p:spPr>
          <a:xfrm>
            <a:off x="609600" y="5143500"/>
            <a:ext cx="5000625" cy="766420"/>
          </a:xfrm>
          <a:prstGeom prst="rect">
            <a:avLst/>
          </a:prstGeom>
          <a:noFill/>
          <a:ln>
            <a:noFill/>
          </a:ln>
        </p:spPr>
        <p:txBody>
          <a:bodyPr wrap="square" lIns="0" rIns="0" tIns="0" bIns="0" anchor="t">
            <a:noAutofit/>
          </a:bodyPr>
          <a:lstStyle/>
          <a:p>
            <a:pPr>
              <a:lnSpc>
                <a:spcPct val="130000"/>
              </a:lnSpc>
            </a:pPr>
            <a:r>
              <a:rPr lang="en-US" sz="1725" b="0">
                <a:solidFill>
                  <a:srgbClr val="BFD6DE"/>
                </a:solidFill>
                <a:latin typeface="Arial"/>
              </a:rPr>
              <a:t xml:space="preserve">Bibek Pathak</a:t>
            </a:r>
            <a:endParaRPr lang="en-US"/>
          </a:p>
          <a:p>
            <a:pPr>
              <a:lnSpc>
                <a:spcPct val="130000"/>
              </a:lnSpc>
            </a:pPr>
            <a:r>
              <a:rPr lang="en-US" sz="1725" b="0">
                <a:solidFill>
                  <a:srgbClr val="BFD6DE"/>
                </a:solidFill>
                <a:latin typeface="Arial"/>
              </a:rPr>
              <a:t xml:space="preserve">CMPS 4200 HCI / October 8, 2026</a:t>
            </a:r>
            <a:endParaRPr lang="en-US"/>
          </a:p>
        </p:txBody>
      </p:sp>
      <p:pic>
        <p:nvPicPr>
          <p:cNvPr id="6" name="Original title art"/>
          <p:cNvPicPr>
            <a:picLocks noChangeAspect="1"/>
          </p:cNvPicPr>
          <p:nvPr/>
        </p:nvPicPr>
        <p:blipFill>
          <a:blip r:embed="rId3"/>
          <a:stretch>
            <a:fillRect/>
          </a:stretch>
        </p:blipFill>
        <p:spPr>
          <a:xfrm>
            <a:off x="6191250" y="1524000"/>
            <a:ext cx="5381625" cy="3028773"/>
          </a:xfrm>
          <a:prstGeom prst="rect">
            <a:avLst/>
          </a:prstGeom>
        </p:spPr>
      </p:pic>
      <p:sp>
        <p:nvSpPr>
          <p:cNvPr id="7" name="Farshore / Phase 2 / 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9EB9C5"/>
                </a:solidFill>
                <a:latin typeface="Arial"/>
              </a:rPr>
              <a:t xml:space="preserve">Farshore / Phase 2 / 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he five arcade trial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The five arcade trials</a:t>
            </a:r>
            <a:endParaRPr lang="en-US"/>
          </a:p>
        </p:txBody>
      </p:sp>
      <p:sp>
        <p:nvSpPr>
          <p:cNvPr id="3" name="Each shore uses different controls and shows an activ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Each shore uses different controls and shows an active rival</a:t>
            </a:r>
            <a:endParaRPr lang="en-US"/>
          </a:p>
        </p:txBody>
      </p:sp>
      <p:graphicFrame>
        <p:nvGraphicFramePr>
          <p:cNvPr id="4" name="Editable evidence table"/>
          <p:cNvGraphicFramePr/>
          <p:nvPr/>
        </p:nvGraphicFramePr>
        <p:xfrm>
          <a:off x="609600" y="1714500"/>
          <a:ext cx="10953750" cy="3228975"/>
        </p:xfrm>
        <a:graphic>
          <a:graphicData uri="http://schemas.openxmlformats.org/drawingml/2006/table">
            <a:tbl>
              <a:tblPr firstRow="1" bandRow="0"/>
              <a:tblGrid>
                <a:gridCol w="2857500"/>
                <a:gridCol w="3476625"/>
                <a:gridCol w="4619625"/>
              </a:tblGrid>
              <a:tr h="538162">
                <a:tc>
                  <a:txBody>
                    <a:bodyPr lIns="114300" rIns="114300" tIns="76200" bIns="0"/>
                    <a:lstStyle/>
                    <a:p>
                      <a:pPr>
                        <a:lnSpc>
                          <a:spcPct val="130000"/>
                        </a:lnSpc>
                      </a:pPr>
                      <a:r>
                        <a:rPr lang="en-US" sz="1875" b="1">
                          <a:solidFill>
                            <a:srgbClr val="102E40"/>
                          </a:solidFill>
                          <a:latin typeface="Arial"/>
                        </a:rPr>
                        <a:t xml:space="preserve">Shore</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Player interaction</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Visible rival action</a:t>
                      </a:r>
                      <a:endParaRPr lang="en-US"/>
                    </a:p>
                  </a:txBody>
                  <a:tcPr>
                    <a:solidFill>
                      <a:srgbClr val="DCE8EE"/>
                    </a:solidFill>
                  </a:tcPr>
                </a:tc>
              </a:tr>
              <a:tr h="538162">
                <a:tc>
                  <a:txBody>
                    <a:bodyPr lIns="114300" rIns="114300" tIns="76200" bIns="0"/>
                    <a:lstStyle/>
                    <a:p>
                      <a:pPr>
                        <a:lnSpc>
                          <a:spcPct val="130000"/>
                        </a:lnSpc>
                      </a:pPr>
                      <a:r>
                        <a:rPr lang="en-US" sz="1875" b="0">
                          <a:solidFill>
                            <a:srgbClr val="102E40"/>
                          </a:solidFill>
                          <a:latin typeface="Arial"/>
                        </a:rPr>
                        <a:t xml:space="preserve">Cyclops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Grid stealth</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Blind smash from noise clues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Circe</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Falling-potion match-3</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Own board, chains and curses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Sirens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Four-lane melody memory</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Composes and targets missed lanes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Scylla &amp; Charybdis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Shield paddle and rowing</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Six heads with pulsing vortex</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Ithaca</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Turn-based archery</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Own scored shot or ring block</a:t>
                      </a:r>
                      <a:endParaRPr lang="en-US"/>
                    </a:p>
                  </a:txBody>
                  <a:tcPr>
                    <a:solidFill>
                      <a:srgbClr val="FFFFFF"/>
                    </a:solidFill>
                  </a:tcPr>
                </a:tc>
              </a:tr>
            </a:tbl>
          </a:graphicData>
        </a:graphic>
      </p:graphicFrame>
      <p:sp>
        <p:nvSpPr>
          <p:cNvPr id="5" name="Farshore / Phase 2 / 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creen hierarch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Screen hierarchy</a:t>
            </a:r>
            <a:endParaRPr lang="en-US"/>
          </a:p>
        </p:txBody>
      </p:sp>
      <p:sp>
        <p:nvSpPr>
          <p:cNvPr id="3" name="A1 in the briefing is the only model feature in arcad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A1 in the briefing is the only model feature in arcade mode</a:t>
            </a:r>
            <a:endParaRPr lang="en-US"/>
          </a:p>
        </p:txBody>
      </p:sp>
      <p:sp>
        <p:nvSpPr>
          <p:cNvPr id="4" name="rect"/>
          <p:cNvSpPr txBox="0"/>
          <p:nvPr/>
        </p:nvSpPr>
        <p:spPr>
          <a:xfrm>
            <a:off x="609600" y="1666875"/>
            <a:ext cx="1888435" cy="516007"/>
          </a:xfrm>
          <a:prstGeom prst="rect">
            <a:avLst/>
          </a:prstGeom>
          <a:solidFill>
            <a:srgbClr val="F7FAFB"/>
          </a:solidFill>
          <a:ln w="12700">
            <a:solidFill>
              <a:srgbClr val="79909B"/>
            </a:solidFill>
          </a:ln>
        </p:spPr>
      </p:sp>
      <p:sp>
        <p:nvSpPr>
          <p:cNvPr id="5" name="S01 Title"/>
          <p:cNvSpPr txBox="1"/>
          <p:nvPr/>
        </p:nvSpPr>
        <p:spPr>
          <a:xfrm>
            <a:off x="704022" y="1759019"/>
            <a:ext cx="1699591"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S01 Title</a:t>
            </a:r>
            <a:endParaRPr lang="en-US"/>
          </a:p>
        </p:txBody>
      </p:sp>
      <p:sp>
        <p:nvSpPr>
          <p:cNvPr id="6" name="rect"/>
          <p:cNvSpPr txBox="0"/>
          <p:nvPr/>
        </p:nvSpPr>
        <p:spPr>
          <a:xfrm>
            <a:off x="3064565" y="1666875"/>
            <a:ext cx="1982857" cy="516007"/>
          </a:xfrm>
          <a:prstGeom prst="rect">
            <a:avLst/>
          </a:prstGeom>
          <a:solidFill>
            <a:srgbClr val="F7FAFB"/>
          </a:solidFill>
          <a:ln w="12700">
            <a:solidFill>
              <a:srgbClr val="79909B"/>
            </a:solidFill>
          </a:ln>
        </p:spPr>
      </p:sp>
      <p:sp>
        <p:nvSpPr>
          <p:cNvPr id="7" name="S02 Intro"/>
          <p:cNvSpPr txBox="1"/>
          <p:nvPr/>
        </p:nvSpPr>
        <p:spPr>
          <a:xfrm>
            <a:off x="3158987" y="1759019"/>
            <a:ext cx="1794013"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S02 Intro</a:t>
            </a:r>
            <a:endParaRPr lang="en-US"/>
          </a:p>
        </p:txBody>
      </p:sp>
      <p:sp>
        <p:nvSpPr>
          <p:cNvPr id="8" name="rect"/>
          <p:cNvSpPr txBox="0"/>
          <p:nvPr/>
        </p:nvSpPr>
        <p:spPr>
          <a:xfrm>
            <a:off x="5613952" y="1666875"/>
            <a:ext cx="2077278" cy="516007"/>
          </a:xfrm>
          <a:prstGeom prst="rect">
            <a:avLst/>
          </a:prstGeom>
          <a:solidFill>
            <a:srgbClr val="F7FAFB"/>
          </a:solidFill>
          <a:ln w="12700">
            <a:solidFill>
              <a:srgbClr val="79909B"/>
            </a:solidFill>
          </a:ln>
        </p:spPr>
      </p:sp>
      <p:sp>
        <p:nvSpPr>
          <p:cNvPr id="9" name="S03 Map"/>
          <p:cNvSpPr txBox="1"/>
          <p:nvPr/>
        </p:nvSpPr>
        <p:spPr>
          <a:xfrm>
            <a:off x="5708374" y="1759019"/>
            <a:ext cx="1888435"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S03 Map</a:t>
            </a:r>
            <a:endParaRPr lang="en-US"/>
          </a:p>
        </p:txBody>
      </p:sp>
      <p:sp>
        <p:nvSpPr>
          <p:cNvPr id="10" name="rect"/>
          <p:cNvSpPr txBox="0"/>
          <p:nvPr/>
        </p:nvSpPr>
        <p:spPr>
          <a:xfrm>
            <a:off x="8257761" y="1666875"/>
            <a:ext cx="3115917" cy="516007"/>
          </a:xfrm>
          <a:prstGeom prst="rect">
            <a:avLst/>
          </a:prstGeom>
          <a:solidFill>
            <a:srgbClr val="F7FAFB"/>
          </a:solidFill>
          <a:ln w="12700">
            <a:solidFill>
              <a:srgbClr val="79909B"/>
            </a:solidFill>
          </a:ln>
        </p:spPr>
      </p:sp>
      <p:sp>
        <p:nvSpPr>
          <p:cNvPr id="11" name="S04 Briefing [A1]"/>
          <p:cNvSpPr txBox="1"/>
          <p:nvPr/>
        </p:nvSpPr>
        <p:spPr>
          <a:xfrm>
            <a:off x="8352183" y="1759019"/>
            <a:ext cx="2927074"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S04 Briefing [A1]</a:t>
            </a:r>
            <a:endParaRPr lang="en-US"/>
          </a:p>
        </p:txBody>
      </p:sp>
      <p:cxnSp>
        <p:nvCxnSpPr>
          <p:cNvPr id="12" name="Connector 12"/>
          <p:cNvCxnSpPr/>
          <p:nvPr/>
        </p:nvCxnSpPr>
        <p:spPr>
          <a:xfrm>
            <a:off x="2498035" y="1924878"/>
            <a:ext cx="566530" cy="0"/>
          </a:xfrm>
          <a:prstGeom prst="line">
            <a:avLst/>
          </a:prstGeom>
          <a:ln w="19050">
            <a:solidFill>
              <a:srgbClr val="526875"/>
            </a:solidFill>
            <a:tailEnd type="triangle"/>
          </a:ln>
        </p:spPr>
      </p:cxnSp>
      <p:cxnSp>
        <p:nvCxnSpPr>
          <p:cNvPr id="13" name="Connector 13"/>
          <p:cNvCxnSpPr/>
          <p:nvPr/>
        </p:nvCxnSpPr>
        <p:spPr>
          <a:xfrm>
            <a:off x="5047422" y="1924878"/>
            <a:ext cx="566530" cy="0"/>
          </a:xfrm>
          <a:prstGeom prst="line">
            <a:avLst/>
          </a:prstGeom>
          <a:ln w="19050">
            <a:solidFill>
              <a:srgbClr val="526875"/>
            </a:solidFill>
            <a:tailEnd type="triangle"/>
          </a:ln>
        </p:spPr>
      </p:cxnSp>
      <p:cxnSp>
        <p:nvCxnSpPr>
          <p:cNvPr id="14" name="Connector 14"/>
          <p:cNvCxnSpPr/>
          <p:nvPr/>
        </p:nvCxnSpPr>
        <p:spPr>
          <a:xfrm>
            <a:off x="7691230" y="1924878"/>
            <a:ext cx="566530" cy="0"/>
          </a:xfrm>
          <a:prstGeom prst="line">
            <a:avLst/>
          </a:prstGeom>
          <a:ln w="19050">
            <a:solidFill>
              <a:srgbClr val="526875"/>
            </a:solidFill>
            <a:tailEnd type="triangle"/>
          </a:ln>
        </p:spPr>
      </p:cxnSp>
      <p:sp>
        <p:nvSpPr>
          <p:cNvPr id="15" name="rect"/>
          <p:cNvSpPr txBox="0"/>
          <p:nvPr/>
        </p:nvSpPr>
        <p:spPr>
          <a:xfrm>
            <a:off x="609600" y="3002963"/>
            <a:ext cx="1982857" cy="783224"/>
          </a:xfrm>
          <a:prstGeom prst="rect">
            <a:avLst/>
          </a:prstGeom>
          <a:solidFill>
            <a:srgbClr val="F7FAFB"/>
          </a:solidFill>
          <a:ln w="12700">
            <a:solidFill>
              <a:srgbClr val="79909B"/>
            </a:solidFill>
          </a:ln>
        </p:spPr>
      </p:sp>
      <p:sp>
        <p:nvSpPr>
          <p:cNvPr id="16" name="S05 Cyclops Grid stealth"/>
          <p:cNvSpPr txBox="1"/>
          <p:nvPr/>
        </p:nvSpPr>
        <p:spPr>
          <a:xfrm>
            <a:off x="7040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S05 Cyclops</a:t>
            </a:r>
            <a:endParaRPr lang="en-US"/>
          </a:p>
          <a:p>
            <a:pPr>
              <a:lnSpc>
                <a:spcPct val="130000"/>
              </a:lnSpc>
            </a:pPr>
            <a:r>
              <a:rPr lang="en-US" sz="1561" b="1">
                <a:solidFill>
                  <a:srgbClr val="102E40"/>
                </a:solidFill>
                <a:latin typeface="Arial"/>
              </a:rPr>
              <a:t xml:space="preserve">Grid stealth</a:t>
            </a:r>
            <a:endParaRPr lang="en-US"/>
          </a:p>
        </p:txBody>
      </p:sp>
      <p:cxnSp>
        <p:nvCxnSpPr>
          <p:cNvPr id="17" name="Connector 17"/>
          <p:cNvCxnSpPr/>
          <p:nvPr/>
        </p:nvCxnSpPr>
        <p:spPr>
          <a:xfrm flipH="1">
            <a:off x="1601028" y="2182882"/>
            <a:ext cx="8214691" cy="820082"/>
          </a:xfrm>
          <a:prstGeom prst="line">
            <a:avLst/>
          </a:prstGeom>
          <a:ln w="19050">
            <a:solidFill>
              <a:srgbClr val="526875"/>
            </a:solidFill>
            <a:tailEnd type="triangle"/>
          </a:ln>
        </p:spPr>
      </p:cxnSp>
      <p:cxnSp>
        <p:nvCxnSpPr>
          <p:cNvPr id="18" name="Connector 18"/>
          <p:cNvCxnSpPr/>
          <p:nvPr/>
        </p:nvCxnSpPr>
        <p:spPr>
          <a:xfrm>
            <a:off x="1601028" y="3786188"/>
            <a:ext cx="3163128" cy="737152"/>
          </a:xfrm>
          <a:prstGeom prst="line">
            <a:avLst/>
          </a:prstGeom>
          <a:ln w="19050">
            <a:solidFill>
              <a:srgbClr val="526875"/>
            </a:solidFill>
            <a:tailEnd type="triangle"/>
          </a:ln>
        </p:spPr>
      </p:cxnSp>
      <p:sp>
        <p:nvSpPr>
          <p:cNvPr id="19" name="rect"/>
          <p:cNvSpPr txBox="0"/>
          <p:nvPr/>
        </p:nvSpPr>
        <p:spPr>
          <a:xfrm>
            <a:off x="2781300" y="3002963"/>
            <a:ext cx="1982857" cy="783224"/>
          </a:xfrm>
          <a:prstGeom prst="rect">
            <a:avLst/>
          </a:prstGeom>
          <a:solidFill>
            <a:srgbClr val="F7FAFB"/>
          </a:solidFill>
          <a:ln w="12700">
            <a:solidFill>
              <a:srgbClr val="79909B"/>
            </a:solidFill>
          </a:ln>
        </p:spPr>
      </p:sp>
      <p:sp>
        <p:nvSpPr>
          <p:cNvPr id="20" name="S06 Circe Puzzle duel"/>
          <p:cNvSpPr txBox="1"/>
          <p:nvPr/>
        </p:nvSpPr>
        <p:spPr>
          <a:xfrm>
            <a:off x="28757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S06 Circe</a:t>
            </a:r>
            <a:endParaRPr lang="en-US"/>
          </a:p>
          <a:p>
            <a:pPr>
              <a:lnSpc>
                <a:spcPct val="130000"/>
              </a:lnSpc>
            </a:pPr>
            <a:r>
              <a:rPr lang="en-US" sz="1561" b="1">
                <a:solidFill>
                  <a:srgbClr val="102E40"/>
                </a:solidFill>
                <a:latin typeface="Arial"/>
              </a:rPr>
              <a:t xml:space="preserve">Puzzle duel</a:t>
            </a:r>
            <a:endParaRPr lang="en-US"/>
          </a:p>
        </p:txBody>
      </p:sp>
      <p:cxnSp>
        <p:nvCxnSpPr>
          <p:cNvPr id="21" name="Connector 21"/>
          <p:cNvCxnSpPr/>
          <p:nvPr/>
        </p:nvCxnSpPr>
        <p:spPr>
          <a:xfrm flipH="1">
            <a:off x="3772728" y="2182882"/>
            <a:ext cx="6042991" cy="820082"/>
          </a:xfrm>
          <a:prstGeom prst="line">
            <a:avLst/>
          </a:prstGeom>
          <a:ln w="19050">
            <a:solidFill>
              <a:srgbClr val="526875"/>
            </a:solidFill>
            <a:tailEnd type="triangle"/>
          </a:ln>
        </p:spPr>
      </p:cxnSp>
      <p:cxnSp>
        <p:nvCxnSpPr>
          <p:cNvPr id="22" name="Connector 22"/>
          <p:cNvCxnSpPr/>
          <p:nvPr/>
        </p:nvCxnSpPr>
        <p:spPr>
          <a:xfrm>
            <a:off x="3772728" y="3786188"/>
            <a:ext cx="991428" cy="737152"/>
          </a:xfrm>
          <a:prstGeom prst="line">
            <a:avLst/>
          </a:prstGeom>
          <a:ln w="19050">
            <a:solidFill>
              <a:srgbClr val="526875"/>
            </a:solidFill>
            <a:tailEnd type="triangle"/>
          </a:ln>
        </p:spPr>
      </p:cxnSp>
      <p:sp>
        <p:nvSpPr>
          <p:cNvPr id="23" name="rect"/>
          <p:cNvSpPr txBox="0"/>
          <p:nvPr/>
        </p:nvSpPr>
        <p:spPr>
          <a:xfrm>
            <a:off x="4953000" y="3002963"/>
            <a:ext cx="1982857" cy="783224"/>
          </a:xfrm>
          <a:prstGeom prst="rect">
            <a:avLst/>
          </a:prstGeom>
          <a:solidFill>
            <a:srgbClr val="F7FAFB"/>
          </a:solidFill>
          <a:ln w="12700">
            <a:solidFill>
              <a:srgbClr val="79909B"/>
            </a:solidFill>
          </a:ln>
        </p:spPr>
      </p:sp>
      <p:sp>
        <p:nvSpPr>
          <p:cNvPr id="24" name="S07 Sirens Melody memory"/>
          <p:cNvSpPr txBox="1"/>
          <p:nvPr/>
        </p:nvSpPr>
        <p:spPr>
          <a:xfrm>
            <a:off x="50474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S07 Sirens</a:t>
            </a:r>
            <a:endParaRPr lang="en-US"/>
          </a:p>
          <a:p>
            <a:pPr>
              <a:lnSpc>
                <a:spcPct val="130000"/>
              </a:lnSpc>
            </a:pPr>
            <a:r>
              <a:rPr lang="en-US" sz="1561" b="1">
                <a:solidFill>
                  <a:srgbClr val="102E40"/>
                </a:solidFill>
                <a:latin typeface="Arial"/>
              </a:rPr>
              <a:t xml:space="preserve">Melody memory</a:t>
            </a:r>
            <a:endParaRPr lang="en-US"/>
          </a:p>
        </p:txBody>
      </p:sp>
      <p:cxnSp>
        <p:nvCxnSpPr>
          <p:cNvPr id="25" name="Connector 25"/>
          <p:cNvCxnSpPr/>
          <p:nvPr/>
        </p:nvCxnSpPr>
        <p:spPr>
          <a:xfrm flipH="1">
            <a:off x="5944428" y="2182882"/>
            <a:ext cx="3871291" cy="820082"/>
          </a:xfrm>
          <a:prstGeom prst="line">
            <a:avLst/>
          </a:prstGeom>
          <a:ln w="19050">
            <a:solidFill>
              <a:srgbClr val="526875"/>
            </a:solidFill>
            <a:tailEnd type="triangle"/>
          </a:ln>
        </p:spPr>
      </p:cxnSp>
      <p:cxnSp>
        <p:nvCxnSpPr>
          <p:cNvPr id="26" name="Connector 26"/>
          <p:cNvCxnSpPr/>
          <p:nvPr/>
        </p:nvCxnSpPr>
        <p:spPr>
          <a:xfrm flipH="1">
            <a:off x="4764157" y="3786188"/>
            <a:ext cx="1180272" cy="737152"/>
          </a:xfrm>
          <a:prstGeom prst="line">
            <a:avLst/>
          </a:prstGeom>
          <a:ln w="19050">
            <a:solidFill>
              <a:srgbClr val="526875"/>
            </a:solidFill>
            <a:tailEnd type="triangle"/>
          </a:ln>
        </p:spPr>
      </p:cxnSp>
      <p:sp>
        <p:nvSpPr>
          <p:cNvPr id="27" name="rect"/>
          <p:cNvSpPr txBox="0"/>
          <p:nvPr/>
        </p:nvSpPr>
        <p:spPr>
          <a:xfrm>
            <a:off x="7124700" y="3002963"/>
            <a:ext cx="1982857" cy="783224"/>
          </a:xfrm>
          <a:prstGeom prst="rect">
            <a:avLst/>
          </a:prstGeom>
          <a:solidFill>
            <a:srgbClr val="F7FAFB"/>
          </a:solidFill>
          <a:ln w="12700">
            <a:solidFill>
              <a:srgbClr val="79909B"/>
            </a:solidFill>
          </a:ln>
        </p:spPr>
      </p:sp>
      <p:sp>
        <p:nvSpPr>
          <p:cNvPr id="28" name="S08 Strait Paddle deflector"/>
          <p:cNvSpPr txBox="1"/>
          <p:nvPr/>
        </p:nvSpPr>
        <p:spPr>
          <a:xfrm>
            <a:off x="72191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S08 Strait</a:t>
            </a:r>
            <a:endParaRPr lang="en-US"/>
          </a:p>
          <a:p>
            <a:pPr>
              <a:lnSpc>
                <a:spcPct val="130000"/>
              </a:lnSpc>
            </a:pPr>
            <a:r>
              <a:rPr lang="en-US" sz="1561" b="1">
                <a:solidFill>
                  <a:srgbClr val="102E40"/>
                </a:solidFill>
                <a:latin typeface="Arial"/>
              </a:rPr>
              <a:t xml:space="preserve">Paddle deflector</a:t>
            </a:r>
            <a:endParaRPr lang="en-US"/>
          </a:p>
        </p:txBody>
      </p:sp>
      <p:cxnSp>
        <p:nvCxnSpPr>
          <p:cNvPr id="29" name="Connector 29"/>
          <p:cNvCxnSpPr/>
          <p:nvPr/>
        </p:nvCxnSpPr>
        <p:spPr>
          <a:xfrm flipH="1">
            <a:off x="8116128" y="2182882"/>
            <a:ext cx="1699591" cy="820082"/>
          </a:xfrm>
          <a:prstGeom prst="line">
            <a:avLst/>
          </a:prstGeom>
          <a:ln w="19050">
            <a:solidFill>
              <a:srgbClr val="526875"/>
            </a:solidFill>
            <a:tailEnd type="triangle"/>
          </a:ln>
        </p:spPr>
      </p:cxnSp>
      <p:cxnSp>
        <p:nvCxnSpPr>
          <p:cNvPr id="30" name="Connector 30"/>
          <p:cNvCxnSpPr/>
          <p:nvPr/>
        </p:nvCxnSpPr>
        <p:spPr>
          <a:xfrm flipH="1">
            <a:off x="4764157" y="3786188"/>
            <a:ext cx="3351972" cy="737152"/>
          </a:xfrm>
          <a:prstGeom prst="line">
            <a:avLst/>
          </a:prstGeom>
          <a:ln w="19050">
            <a:solidFill>
              <a:srgbClr val="526875"/>
            </a:solidFill>
            <a:tailEnd type="triangle"/>
          </a:ln>
        </p:spPr>
      </p:cxnSp>
      <p:sp>
        <p:nvSpPr>
          <p:cNvPr id="31" name="rect"/>
          <p:cNvSpPr txBox="0"/>
          <p:nvPr/>
        </p:nvSpPr>
        <p:spPr>
          <a:xfrm>
            <a:off x="9296400" y="3002963"/>
            <a:ext cx="1982857" cy="783224"/>
          </a:xfrm>
          <a:prstGeom prst="rect">
            <a:avLst/>
          </a:prstGeom>
          <a:solidFill>
            <a:srgbClr val="F7FAFB"/>
          </a:solidFill>
          <a:ln w="12700">
            <a:solidFill>
              <a:srgbClr val="79909B"/>
            </a:solidFill>
          </a:ln>
        </p:spPr>
      </p:sp>
      <p:sp>
        <p:nvSpPr>
          <p:cNvPr id="32" name="S09 Bow Turn-based shots"/>
          <p:cNvSpPr txBox="1"/>
          <p:nvPr/>
        </p:nvSpPr>
        <p:spPr>
          <a:xfrm>
            <a:off x="93908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S09 Bow</a:t>
            </a:r>
            <a:endParaRPr lang="en-US"/>
          </a:p>
          <a:p>
            <a:pPr>
              <a:lnSpc>
                <a:spcPct val="130000"/>
              </a:lnSpc>
            </a:pPr>
            <a:r>
              <a:rPr lang="en-US" sz="1561" b="1">
                <a:solidFill>
                  <a:srgbClr val="102E40"/>
                </a:solidFill>
                <a:latin typeface="Arial"/>
              </a:rPr>
              <a:t xml:space="preserve">Turn-based shots</a:t>
            </a:r>
            <a:endParaRPr lang="en-US"/>
          </a:p>
        </p:txBody>
      </p:sp>
      <p:cxnSp>
        <p:nvCxnSpPr>
          <p:cNvPr id="33" name="Connector 33"/>
          <p:cNvCxnSpPr/>
          <p:nvPr/>
        </p:nvCxnSpPr>
        <p:spPr>
          <a:xfrm>
            <a:off x="9815720" y="2182882"/>
            <a:ext cx="472109" cy="820082"/>
          </a:xfrm>
          <a:prstGeom prst="line">
            <a:avLst/>
          </a:prstGeom>
          <a:ln w="19050">
            <a:solidFill>
              <a:srgbClr val="526875"/>
            </a:solidFill>
            <a:tailEnd type="triangle"/>
          </a:ln>
        </p:spPr>
      </p:cxnSp>
      <p:cxnSp>
        <p:nvCxnSpPr>
          <p:cNvPr id="34" name="Connector 34"/>
          <p:cNvCxnSpPr/>
          <p:nvPr/>
        </p:nvCxnSpPr>
        <p:spPr>
          <a:xfrm flipH="1">
            <a:off x="4764157" y="3786188"/>
            <a:ext cx="5523672" cy="737152"/>
          </a:xfrm>
          <a:prstGeom prst="line">
            <a:avLst/>
          </a:prstGeom>
          <a:ln w="19050">
            <a:solidFill>
              <a:srgbClr val="526875"/>
            </a:solidFill>
            <a:tailEnd type="triangle"/>
          </a:ln>
        </p:spPr>
      </p:cxnSp>
      <p:sp>
        <p:nvSpPr>
          <p:cNvPr id="35" name="rect"/>
          <p:cNvSpPr txBox="0"/>
          <p:nvPr/>
        </p:nvSpPr>
        <p:spPr>
          <a:xfrm>
            <a:off x="3300620" y="4523340"/>
            <a:ext cx="2927074" cy="516007"/>
          </a:xfrm>
          <a:prstGeom prst="rect">
            <a:avLst/>
          </a:prstGeom>
          <a:solidFill>
            <a:srgbClr val="F7FAFB"/>
          </a:solidFill>
          <a:ln w="12700">
            <a:solidFill>
              <a:srgbClr val="79909B"/>
            </a:solidFill>
          </a:ln>
        </p:spPr>
      </p:sp>
      <p:sp>
        <p:nvSpPr>
          <p:cNvPr id="36" name="S10 Round result"/>
          <p:cNvSpPr txBox="1"/>
          <p:nvPr/>
        </p:nvSpPr>
        <p:spPr>
          <a:xfrm>
            <a:off x="3395041" y="4615484"/>
            <a:ext cx="2738230"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S10 Round result</a:t>
            </a:r>
            <a:endParaRPr lang="en-US"/>
          </a:p>
        </p:txBody>
      </p:sp>
      <p:sp>
        <p:nvSpPr>
          <p:cNvPr id="37" name="rect"/>
          <p:cNvSpPr txBox="0"/>
          <p:nvPr/>
        </p:nvSpPr>
        <p:spPr>
          <a:xfrm>
            <a:off x="7880074" y="4523340"/>
            <a:ext cx="3304761" cy="516007"/>
          </a:xfrm>
          <a:prstGeom prst="rect">
            <a:avLst/>
          </a:prstGeom>
          <a:solidFill>
            <a:srgbClr val="F7FAFB"/>
          </a:solidFill>
          <a:ln w="12700">
            <a:solidFill>
              <a:srgbClr val="79909B"/>
            </a:solidFill>
          </a:ln>
        </p:spPr>
      </p:sp>
      <p:sp>
        <p:nvSpPr>
          <p:cNvPr id="38" name="S11 Homecoming"/>
          <p:cNvSpPr txBox="1"/>
          <p:nvPr/>
        </p:nvSpPr>
        <p:spPr>
          <a:xfrm>
            <a:off x="7974496" y="4615484"/>
            <a:ext cx="3115917"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S11 Homecoming</a:t>
            </a:r>
            <a:endParaRPr lang="en-US"/>
          </a:p>
        </p:txBody>
      </p:sp>
      <p:cxnSp>
        <p:nvCxnSpPr>
          <p:cNvPr id="39" name="Connector 39"/>
          <p:cNvCxnSpPr/>
          <p:nvPr/>
        </p:nvCxnSpPr>
        <p:spPr>
          <a:xfrm>
            <a:off x="6227693" y="4781343"/>
            <a:ext cx="1652380" cy="0"/>
          </a:xfrm>
          <a:prstGeom prst="line">
            <a:avLst/>
          </a:prstGeom>
          <a:ln w="19050">
            <a:solidFill>
              <a:srgbClr val="526875"/>
            </a:solidFill>
            <a:tailEnd type="triangle"/>
          </a:ln>
        </p:spPr>
      </p:cxnSp>
      <p:sp>
        <p:nvSpPr>
          <p:cNvPr id="40" name="Next trial opens its briefing after a clear or assist. "/>
          <p:cNvSpPr txBox="1"/>
          <p:nvPr/>
        </p:nvSpPr>
        <p:spPr>
          <a:xfrm>
            <a:off x="609600" y="5251277"/>
            <a:ext cx="10858500" cy="383983"/>
          </a:xfrm>
          <a:prstGeom prst="rect">
            <a:avLst/>
          </a:prstGeom>
          <a:noFill/>
          <a:ln>
            <a:noFill/>
          </a:ln>
        </p:spPr>
        <p:txBody>
          <a:bodyPr wrap="square" lIns="0" rIns="0" tIns="0" bIns="0" anchor="t">
            <a:noAutofit/>
          </a:bodyPr>
          <a:lstStyle/>
          <a:p>
            <a:pPr>
              <a:lnSpc>
                <a:spcPct val="130000"/>
              </a:lnSpc>
            </a:pPr>
            <a:r>
              <a:rPr lang="en-US" sz="1487" b="0">
                <a:solidFill>
                  <a:srgbClr val="526875"/>
                </a:solidFill>
                <a:latin typeface="Arial"/>
              </a:rPr>
              <a:t xml:space="preserve">Next trial opens its briefing after a clear or assist. The fifth passage opens Homecoming.</a:t>
            </a:r>
            <a:endParaRPr lang="en-US"/>
          </a:p>
        </p:txBody>
      </p:sp>
      <p:sp>
        <p:nvSpPr>
          <p:cNvPr id="41" name="Shared overlays: S12 Settings, S13 Pause/leave, S14 Res"/>
          <p:cNvSpPr txBox="1"/>
          <p:nvPr/>
        </p:nvSpPr>
        <p:spPr>
          <a:xfrm>
            <a:off x="609600" y="5610639"/>
            <a:ext cx="10858500" cy="383983"/>
          </a:xfrm>
          <a:prstGeom prst="rect">
            <a:avLst/>
          </a:prstGeom>
          <a:noFill/>
          <a:ln>
            <a:noFill/>
          </a:ln>
        </p:spPr>
        <p:txBody>
          <a:bodyPr wrap="square" lIns="0" rIns="0" tIns="0" bIns="0" anchor="t">
            <a:noAutofit/>
          </a:bodyPr>
          <a:lstStyle/>
          <a:p>
            <a:pPr>
              <a:lnSpc>
                <a:spcPct val="130000"/>
              </a:lnSpc>
            </a:pPr>
            <a:r>
              <a:rPr lang="en-US" sz="1487" b="0">
                <a:solidFill>
                  <a:srgbClr val="526875"/>
                </a:solidFill>
                <a:latin typeface="Arial"/>
              </a:rPr>
              <a:t xml:space="preserve">Shared overlays: S12 Settings, S13 Pause/leave, S14 Restart, S15 Assisted passage</a:t>
            </a:r>
            <a:endParaRPr lang="en-US"/>
          </a:p>
        </p:txBody>
      </p:sp>
      <p:sp>
        <p:nvSpPr>
          <p:cNvPr id="42" name="Farshore / Phase 2 / 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odel data flow and privac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Model data flow and privacy</a:t>
            </a:r>
            <a:endParaRPr lang="en-US"/>
          </a:p>
        </p:txBody>
      </p:sp>
      <p:sp>
        <p:nvSpPr>
          <p:cNvPr id="3" name="One of two allowed strategies. Local game logic plays t"/>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One of two allowed strategies. Local game logic plays the round.</a:t>
            </a:r>
            <a:endParaRPr lang="en-US"/>
          </a:p>
        </p:txBody>
      </p:sp>
      <p:sp>
        <p:nvSpPr>
          <p:cNvPr id="4" name="rect"/>
          <p:cNvSpPr txBox="0"/>
          <p:nvPr/>
        </p:nvSpPr>
        <p:spPr>
          <a:xfrm>
            <a:off x="609600" y="1666875"/>
            <a:ext cx="3068707" cy="775173"/>
          </a:xfrm>
          <a:prstGeom prst="rect">
            <a:avLst/>
          </a:prstGeom>
          <a:solidFill>
            <a:srgbClr val="F7FAFB"/>
          </a:solidFill>
          <a:ln w="12700">
            <a:solidFill>
              <a:srgbClr val="79909B"/>
            </a:solidFill>
          </a:ln>
        </p:spPr>
      </p:sp>
      <p:sp>
        <p:nvSpPr>
          <p:cNvPr id="5" name="Selected shore, difficulty, up to 2 numeric summaries"/>
          <p:cNvSpPr txBox="1"/>
          <p:nvPr/>
        </p:nvSpPr>
        <p:spPr>
          <a:xfrm>
            <a:off x="722906" y="1794551"/>
            <a:ext cx="2842094"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Selected shore, difficulty,</a:t>
            </a:r>
            <a:endParaRPr lang="en-US"/>
          </a:p>
          <a:p>
            <a:pPr>
              <a:lnSpc>
                <a:spcPct val="130000"/>
              </a:lnSpc>
            </a:pPr>
            <a:r>
              <a:rPr lang="en-US" sz="1636" b="1">
                <a:solidFill>
                  <a:srgbClr val="102E40"/>
                </a:solidFill>
                <a:latin typeface="Arial"/>
              </a:rPr>
              <a:t xml:space="preserve">up to 2 numeric summaries</a:t>
            </a:r>
            <a:endParaRPr lang="en-US"/>
          </a:p>
        </p:txBody>
      </p:sp>
      <p:sp>
        <p:nvSpPr>
          <p:cNvPr id="6" name="rect"/>
          <p:cNvSpPr txBox="0"/>
          <p:nvPr/>
        </p:nvSpPr>
        <p:spPr>
          <a:xfrm>
            <a:off x="4669735" y="1666875"/>
            <a:ext cx="2549387" cy="775173"/>
          </a:xfrm>
          <a:prstGeom prst="rect">
            <a:avLst/>
          </a:prstGeom>
          <a:solidFill>
            <a:srgbClr val="F7FAFB"/>
          </a:solidFill>
          <a:ln w="12700">
            <a:solidFill>
              <a:srgbClr val="79909B"/>
            </a:solidFill>
          </a:ln>
        </p:spPr>
      </p:sp>
      <p:sp>
        <p:nvSpPr>
          <p:cNvPr id="7" name="React preparation Request + Cancel"/>
          <p:cNvSpPr txBox="1"/>
          <p:nvPr/>
        </p:nvSpPr>
        <p:spPr>
          <a:xfrm>
            <a:off x="4783041" y="1794551"/>
            <a:ext cx="2322775"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React preparation</a:t>
            </a:r>
            <a:endParaRPr lang="en-US"/>
          </a:p>
          <a:p>
            <a:pPr>
              <a:lnSpc>
                <a:spcPct val="130000"/>
              </a:lnSpc>
            </a:pPr>
            <a:r>
              <a:rPr lang="en-US" sz="1636" b="1">
                <a:solidFill>
                  <a:srgbClr val="102E40"/>
                </a:solidFill>
                <a:latin typeface="Arial"/>
              </a:rPr>
              <a:t xml:space="preserve">Request + Cancel</a:t>
            </a:r>
            <a:endParaRPr lang="en-US"/>
          </a:p>
        </p:txBody>
      </p:sp>
      <p:sp>
        <p:nvSpPr>
          <p:cNvPr id="8" name="rect"/>
          <p:cNvSpPr txBox="0"/>
          <p:nvPr/>
        </p:nvSpPr>
        <p:spPr>
          <a:xfrm>
            <a:off x="8210550" y="1666875"/>
            <a:ext cx="3210339" cy="775173"/>
          </a:xfrm>
          <a:prstGeom prst="rect">
            <a:avLst/>
          </a:prstGeom>
          <a:solidFill>
            <a:srgbClr val="F7FAFB"/>
          </a:solidFill>
          <a:ln w="12700">
            <a:solidFill>
              <a:srgbClr val="79909B"/>
            </a:solidFill>
          </a:ln>
        </p:spPr>
      </p:sp>
      <p:sp>
        <p:nvSpPr>
          <p:cNvPr id="9" name="POST /api/arcade Derive observations"/>
          <p:cNvSpPr txBox="1"/>
          <p:nvPr/>
        </p:nvSpPr>
        <p:spPr>
          <a:xfrm>
            <a:off x="8323856" y="1794551"/>
            <a:ext cx="2983727"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POST /api/arcade</a:t>
            </a:r>
            <a:endParaRPr lang="en-US"/>
          </a:p>
          <a:p>
            <a:pPr>
              <a:lnSpc>
                <a:spcPct val="130000"/>
              </a:lnSpc>
            </a:pPr>
            <a:r>
              <a:rPr lang="en-US" sz="1636" b="1">
                <a:solidFill>
                  <a:srgbClr val="102E40"/>
                </a:solidFill>
                <a:latin typeface="Arial"/>
              </a:rPr>
              <a:t xml:space="preserve">Derive observations</a:t>
            </a:r>
            <a:endParaRPr lang="en-US"/>
          </a:p>
        </p:txBody>
      </p:sp>
      <p:sp>
        <p:nvSpPr>
          <p:cNvPr id="10" name="rect"/>
          <p:cNvSpPr txBox="0"/>
          <p:nvPr/>
        </p:nvSpPr>
        <p:spPr>
          <a:xfrm>
            <a:off x="8210550" y="3399614"/>
            <a:ext cx="3210339" cy="775173"/>
          </a:xfrm>
          <a:prstGeom prst="rect">
            <a:avLst/>
          </a:prstGeom>
          <a:solidFill>
            <a:srgbClr val="F7FAFB"/>
          </a:solidFill>
          <a:ln w="12700">
            <a:solidFill>
              <a:srgbClr val="79909B"/>
            </a:solidFill>
          </a:ln>
        </p:spPr>
      </p:sp>
      <p:sp>
        <p:nvSpPr>
          <p:cNvPr id="11" name="Local Ollama Llama 3.2 3B"/>
          <p:cNvSpPr txBox="1"/>
          <p:nvPr/>
        </p:nvSpPr>
        <p:spPr>
          <a:xfrm>
            <a:off x="8323856" y="3527290"/>
            <a:ext cx="2983727"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Local Ollama</a:t>
            </a:r>
            <a:endParaRPr lang="en-US"/>
          </a:p>
          <a:p>
            <a:pPr>
              <a:lnSpc>
                <a:spcPct val="130000"/>
              </a:lnSpc>
            </a:pPr>
            <a:r>
              <a:rPr lang="en-US" sz="1636" b="1">
                <a:solidFill>
                  <a:srgbClr val="102E40"/>
                </a:solidFill>
                <a:latin typeface="Arial"/>
              </a:rPr>
              <a:t xml:space="preserve">Llama 3.2 3B</a:t>
            </a:r>
            <a:endParaRPr lang="en-US"/>
          </a:p>
        </p:txBody>
      </p:sp>
      <p:sp>
        <p:nvSpPr>
          <p:cNvPr id="12" name="rect"/>
          <p:cNvSpPr txBox="0"/>
          <p:nvPr/>
        </p:nvSpPr>
        <p:spPr>
          <a:xfrm>
            <a:off x="4669735" y="3399614"/>
            <a:ext cx="2832652" cy="775173"/>
          </a:xfrm>
          <a:prstGeom prst="rect">
            <a:avLst/>
          </a:prstGeom>
          <a:solidFill>
            <a:srgbClr val="F7FAFB"/>
          </a:solidFill>
          <a:ln w="12700">
            <a:solidFill>
              <a:srgbClr val="79909B"/>
            </a:solidFill>
          </a:ln>
        </p:spPr>
      </p:sp>
      <p:sp>
        <p:nvSpPr>
          <p:cNvPr id="13" name="Validate planId + focus Authored description"/>
          <p:cNvSpPr txBox="1"/>
          <p:nvPr/>
        </p:nvSpPr>
        <p:spPr>
          <a:xfrm>
            <a:off x="4783041" y="3527290"/>
            <a:ext cx="2606040"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Validate planId + focus</a:t>
            </a:r>
            <a:endParaRPr lang="en-US"/>
          </a:p>
          <a:p>
            <a:pPr>
              <a:lnSpc>
                <a:spcPct val="130000"/>
              </a:lnSpc>
            </a:pPr>
            <a:r>
              <a:rPr lang="en-US" sz="1636" b="1">
                <a:solidFill>
                  <a:srgbClr val="102E40"/>
                </a:solidFill>
                <a:latin typeface="Arial"/>
              </a:rPr>
              <a:t xml:space="preserve">Authored description</a:t>
            </a:r>
            <a:endParaRPr lang="en-US"/>
          </a:p>
        </p:txBody>
      </p:sp>
      <p:sp>
        <p:nvSpPr>
          <p:cNvPr id="14" name="rect"/>
          <p:cNvSpPr txBox="0"/>
          <p:nvPr/>
        </p:nvSpPr>
        <p:spPr>
          <a:xfrm>
            <a:off x="609600" y="3399614"/>
            <a:ext cx="3068707" cy="775173"/>
          </a:xfrm>
          <a:prstGeom prst="rect">
            <a:avLst/>
          </a:prstGeom>
          <a:solidFill>
            <a:srgbClr val="F7FAFB"/>
          </a:solidFill>
          <a:ln w="12700">
            <a:solidFill>
              <a:srgbClr val="79909B"/>
            </a:solidFill>
          </a:ln>
        </p:spPr>
      </p:sp>
      <p:sp>
        <p:nvSpPr>
          <p:cNvPr id="15" name="Review, then start Local rival simulation"/>
          <p:cNvSpPr txBox="1"/>
          <p:nvPr/>
        </p:nvSpPr>
        <p:spPr>
          <a:xfrm>
            <a:off x="722906" y="3527290"/>
            <a:ext cx="2842094"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Review, then start</a:t>
            </a:r>
            <a:endParaRPr lang="en-US"/>
          </a:p>
          <a:p>
            <a:pPr>
              <a:lnSpc>
                <a:spcPct val="130000"/>
              </a:lnSpc>
            </a:pPr>
            <a:r>
              <a:rPr lang="en-US" sz="1636" b="1">
                <a:solidFill>
                  <a:srgbClr val="102E40"/>
                </a:solidFill>
                <a:latin typeface="Arial"/>
              </a:rPr>
              <a:t xml:space="preserve">Local rival simulation</a:t>
            </a:r>
            <a:endParaRPr lang="en-US"/>
          </a:p>
        </p:txBody>
      </p:sp>
      <p:cxnSp>
        <p:nvCxnSpPr>
          <p:cNvPr id="16" name="Connector 16"/>
          <p:cNvCxnSpPr/>
          <p:nvPr/>
        </p:nvCxnSpPr>
        <p:spPr>
          <a:xfrm>
            <a:off x="3678307" y="2049902"/>
            <a:ext cx="991428" cy="0"/>
          </a:xfrm>
          <a:prstGeom prst="line">
            <a:avLst/>
          </a:prstGeom>
          <a:ln w="19050">
            <a:solidFill>
              <a:srgbClr val="526875"/>
            </a:solidFill>
            <a:tailEnd type="triangle"/>
          </a:ln>
        </p:spPr>
      </p:cxnSp>
      <p:cxnSp>
        <p:nvCxnSpPr>
          <p:cNvPr id="17" name="Connector 17"/>
          <p:cNvCxnSpPr/>
          <p:nvPr/>
        </p:nvCxnSpPr>
        <p:spPr>
          <a:xfrm>
            <a:off x="7219122" y="2049902"/>
            <a:ext cx="991428" cy="0"/>
          </a:xfrm>
          <a:prstGeom prst="line">
            <a:avLst/>
          </a:prstGeom>
          <a:ln w="19050">
            <a:solidFill>
              <a:srgbClr val="526875"/>
            </a:solidFill>
            <a:tailEnd type="triangle"/>
          </a:ln>
        </p:spPr>
      </p:cxnSp>
      <p:cxnSp>
        <p:nvCxnSpPr>
          <p:cNvPr id="18" name="Connector 18"/>
          <p:cNvCxnSpPr/>
          <p:nvPr/>
        </p:nvCxnSpPr>
        <p:spPr>
          <a:xfrm>
            <a:off x="9815720" y="2442048"/>
            <a:ext cx="0" cy="957566"/>
          </a:xfrm>
          <a:prstGeom prst="line">
            <a:avLst/>
          </a:prstGeom>
          <a:ln w="19050">
            <a:solidFill>
              <a:srgbClr val="526875"/>
            </a:solidFill>
            <a:tailEnd type="triangle"/>
          </a:ln>
        </p:spPr>
      </p:cxnSp>
      <p:cxnSp>
        <p:nvCxnSpPr>
          <p:cNvPr id="19" name="Connector 19"/>
          <p:cNvCxnSpPr/>
          <p:nvPr/>
        </p:nvCxnSpPr>
        <p:spPr>
          <a:xfrm flipH="1">
            <a:off x="7502387" y="3782641"/>
            <a:ext cx="708163" cy="0"/>
          </a:xfrm>
          <a:prstGeom prst="line">
            <a:avLst/>
          </a:prstGeom>
          <a:ln w="19050">
            <a:solidFill>
              <a:srgbClr val="526875"/>
            </a:solidFill>
            <a:tailEnd type="triangle"/>
          </a:ln>
        </p:spPr>
      </p:cxnSp>
      <p:cxnSp>
        <p:nvCxnSpPr>
          <p:cNvPr id="20" name="Connector 20"/>
          <p:cNvCxnSpPr/>
          <p:nvPr/>
        </p:nvCxnSpPr>
        <p:spPr>
          <a:xfrm flipH="1">
            <a:off x="3678307" y="3782641"/>
            <a:ext cx="991428" cy="0"/>
          </a:xfrm>
          <a:prstGeom prst="line">
            <a:avLst/>
          </a:prstGeom>
          <a:ln w="19050">
            <a:solidFill>
              <a:srgbClr val="526875"/>
            </a:solidFill>
            <a:tailEnd type="triangle"/>
          </a:ln>
        </p:spPr>
      </p:cxnSp>
      <p:sp>
        <p:nvSpPr>
          <p:cNvPr id="21" name="rect"/>
          <p:cNvSpPr txBox="0"/>
          <p:nvPr/>
        </p:nvSpPr>
        <p:spPr>
          <a:xfrm>
            <a:off x="609600" y="4813165"/>
            <a:ext cx="5382039" cy="729574"/>
          </a:xfrm>
          <a:prstGeom prst="rect">
            <a:avLst/>
          </a:prstGeom>
          <a:solidFill>
            <a:srgbClr val="F7FAFB"/>
          </a:solidFill>
          <a:ln w="12700">
            <a:solidFill>
              <a:srgbClr val="79909B"/>
            </a:solidFill>
          </a:ln>
        </p:spPr>
      </p:sp>
      <p:sp>
        <p:nvSpPr>
          <p:cNvPr id="22" name="Browser localStorage: campaign records, recent summarie"/>
          <p:cNvSpPr txBox="1"/>
          <p:nvPr/>
        </p:nvSpPr>
        <p:spPr>
          <a:xfrm>
            <a:off x="722906" y="4940840"/>
            <a:ext cx="5098774" cy="731606"/>
          </a:xfrm>
          <a:prstGeom prst="rect">
            <a:avLst/>
          </a:prstGeom>
          <a:noFill/>
          <a:ln>
            <a:noFill/>
          </a:ln>
        </p:spPr>
        <p:txBody>
          <a:bodyPr wrap="square" lIns="0" rIns="0" tIns="0" bIns="0" anchor="t">
            <a:noAutofit/>
          </a:bodyPr>
          <a:lstStyle/>
          <a:p>
            <a:pPr>
              <a:lnSpc>
                <a:spcPct val="130000"/>
              </a:lnSpc>
            </a:pPr>
            <a:r>
              <a:rPr lang="en-US" sz="1636" b="0">
                <a:solidFill>
                  <a:srgbClr val="102E40"/>
                </a:solidFill>
                <a:latin typeface="Arial"/>
              </a:rPr>
              <a:t xml:space="preserve">Browser localStorage: campaign records, recent summaries and preferences</a:t>
            </a:r>
            <a:endParaRPr lang="en-US"/>
          </a:p>
        </p:txBody>
      </p:sp>
      <p:cxnSp>
        <p:nvCxnSpPr>
          <p:cNvPr id="23" name="Connector 23"/>
          <p:cNvCxnSpPr/>
          <p:nvPr/>
        </p:nvCxnSpPr>
        <p:spPr>
          <a:xfrm>
            <a:off x="2148674" y="4174787"/>
            <a:ext cx="0" cy="638378"/>
          </a:xfrm>
          <a:prstGeom prst="line">
            <a:avLst/>
          </a:prstGeom>
          <a:ln w="19050">
            <a:solidFill>
              <a:srgbClr val="526875"/>
            </a:solidFill>
            <a:tailEnd type="triangle"/>
          </a:ln>
        </p:spPr>
      </p:cxnSp>
      <p:sp>
        <p:nvSpPr>
          <p:cNvPr id="24" name="Round results and settings"/>
          <p:cNvSpPr txBox="1"/>
          <p:nvPr/>
        </p:nvSpPr>
        <p:spPr>
          <a:xfrm>
            <a:off x="2422497" y="4384540"/>
            <a:ext cx="3115917" cy="355015"/>
          </a:xfrm>
          <a:prstGeom prst="rect">
            <a:avLst/>
          </a:prstGeom>
          <a:noFill/>
          <a:ln>
            <a:noFill/>
          </a:ln>
        </p:spPr>
        <p:txBody>
          <a:bodyPr wrap="square" lIns="0" rIns="0" tIns="0" bIns="0" anchor="t">
            <a:noAutofit/>
          </a:bodyPr>
          <a:lstStyle/>
          <a:p>
            <a:pPr>
              <a:lnSpc>
                <a:spcPct val="130000"/>
              </a:lnSpc>
            </a:pPr>
            <a:r>
              <a:rPr lang="en-US" sz="1338" b="0">
                <a:solidFill>
                  <a:srgbClr val="526875"/>
                </a:solidFill>
                <a:latin typeface="Arial"/>
              </a:rPr>
              <a:t xml:space="preserve">Round results and settings</a:t>
            </a:r>
            <a:endParaRPr lang="en-US"/>
          </a:p>
        </p:txBody>
      </p:sp>
      <p:sp>
        <p:nvSpPr>
          <p:cNvPr id="25" name="Measured boundary: loopback inference. No third-party A"/>
          <p:cNvSpPr txBox="1"/>
          <p:nvPr/>
        </p:nvSpPr>
        <p:spPr>
          <a:xfrm>
            <a:off x="6747013" y="4813165"/>
            <a:ext cx="4626665" cy="1310978"/>
          </a:xfrm>
          <a:prstGeom prst="rect">
            <a:avLst/>
          </a:prstGeom>
          <a:noFill/>
          <a:ln>
            <a:noFill/>
          </a:ln>
        </p:spPr>
        <p:txBody>
          <a:bodyPr wrap="square" lIns="0" rIns="0" tIns="0" bIns="0" anchor="t">
            <a:noAutofit/>
          </a:bodyPr>
          <a:lstStyle/>
          <a:p>
            <a:pPr>
              <a:lnSpc>
                <a:spcPct val="130000"/>
              </a:lnSpc>
            </a:pPr>
            <a:r>
              <a:rPr lang="en-US" sz="1561" b="0">
                <a:solidFill>
                  <a:srgbClr val="126978"/>
                </a:solidFill>
                <a:latin typeface="Arial"/>
              </a:rPr>
              <a:t xml:space="preserve">Measured boundary: loopback inference. No third-party AI provider. A future hosted endpoint would receive derived habits and selected game settings.</a:t>
            </a:r>
            <a:endParaRPr lang="en-US"/>
          </a:p>
        </p:txBody>
      </p:sp>
      <p:sp>
        <p:nvSpPr>
          <p:cNvPr id="26" name="Farshore / Phase 2 / 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yer task flow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Player task flows</a:t>
            </a:r>
            <a:endParaRPr lang="en-US"/>
          </a:p>
        </p:txBody>
      </p:sp>
      <p:sp>
        <p:nvSpPr>
          <p:cNvPr id="3" name="Five persona-linked paths. Full steps and branches ar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Five persona-linked paths. Full steps and branches are in the design packet.</a:t>
            </a:r>
            <a:endParaRPr lang="en-US"/>
          </a:p>
        </p:txBody>
      </p:sp>
      <p:sp>
        <p:nvSpPr>
          <p:cNvPr id="4" name="F1  Start and learn"/>
          <p:cNvSpPr txBox="1"/>
          <p:nvPr/>
        </p:nvSpPr>
        <p:spPr>
          <a:xfrm>
            <a:off x="609600" y="1676400"/>
            <a:ext cx="2428875" cy="444970"/>
          </a:xfrm>
          <a:prstGeom prst="rect">
            <a:avLst/>
          </a:prstGeom>
          <a:noFill/>
          <a:ln>
            <a:noFill/>
          </a:ln>
        </p:spPr>
        <p:txBody>
          <a:bodyPr wrap="square" lIns="0" rIns="0" tIns="0" bIns="0" anchor="t">
            <a:noAutofit/>
          </a:bodyPr>
          <a:lstStyle/>
          <a:p>
            <a:pPr>
              <a:lnSpc>
                <a:spcPct val="130000"/>
              </a:lnSpc>
            </a:pPr>
            <a:r>
              <a:rPr lang="en-US" sz="1800" b="1">
                <a:solidFill>
                  <a:srgbClr val="102E40"/>
                </a:solidFill>
                <a:latin typeface="Arial"/>
              </a:rPr>
              <a:t xml:space="preserve">F1  Start and learn</a:t>
            </a:r>
            <a:endParaRPr lang="en-US"/>
          </a:p>
        </p:txBody>
      </p:sp>
      <p:sp>
        <p:nvSpPr>
          <p:cNvPr id="5" name="Daniel"/>
          <p:cNvSpPr txBox="1"/>
          <p:nvPr/>
        </p:nvSpPr>
        <p:spPr>
          <a:xfrm>
            <a:off x="609600" y="2019300"/>
            <a:ext cx="2428875"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Daniel</a:t>
            </a:r>
            <a:endParaRPr lang="en-US"/>
          </a:p>
        </p:txBody>
      </p:sp>
      <p:sp>
        <p:nvSpPr>
          <p:cNvPr id="6" name="rect"/>
          <p:cNvSpPr txBox="0"/>
          <p:nvPr/>
        </p:nvSpPr>
        <p:spPr>
          <a:xfrm>
            <a:off x="3286125" y="1657350"/>
            <a:ext cx="2476500" cy="628650"/>
          </a:xfrm>
          <a:prstGeom prst="rect">
            <a:avLst/>
          </a:prstGeom>
          <a:solidFill>
            <a:srgbClr val="F7FAFB"/>
          </a:solidFill>
          <a:ln w="12700">
            <a:solidFill>
              <a:srgbClr val="79909B"/>
            </a:solidFill>
          </a:ln>
        </p:spPr>
      </p:sp>
      <p:sp>
        <p:nvSpPr>
          <p:cNvPr id="7" name="Begin / Continue"/>
          <p:cNvSpPr txBox="1"/>
          <p:nvPr/>
        </p:nvSpPr>
        <p:spPr>
          <a:xfrm>
            <a:off x="3419475" y="1819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Begin / Continue</a:t>
            </a:r>
            <a:endParaRPr lang="en-US"/>
          </a:p>
        </p:txBody>
      </p:sp>
      <p:cxnSp>
        <p:nvCxnSpPr>
          <p:cNvPr id="8" name="Connector 8"/>
          <p:cNvCxnSpPr/>
          <p:nvPr/>
        </p:nvCxnSpPr>
        <p:spPr>
          <a:xfrm>
            <a:off x="5762625" y="1971675"/>
            <a:ext cx="381000" cy="0"/>
          </a:xfrm>
          <a:prstGeom prst="line">
            <a:avLst/>
          </a:prstGeom>
          <a:ln w="19050">
            <a:solidFill>
              <a:srgbClr val="526875"/>
            </a:solidFill>
            <a:tailEnd type="triangle"/>
          </a:ln>
        </p:spPr>
      </p:cxnSp>
      <p:sp>
        <p:nvSpPr>
          <p:cNvPr id="9" name="rect"/>
          <p:cNvSpPr txBox="0"/>
          <p:nvPr/>
        </p:nvSpPr>
        <p:spPr>
          <a:xfrm>
            <a:off x="6143625" y="1657350"/>
            <a:ext cx="2476500" cy="628650"/>
          </a:xfrm>
          <a:prstGeom prst="rect">
            <a:avLst/>
          </a:prstGeom>
          <a:solidFill>
            <a:srgbClr val="F7FAFB"/>
          </a:solidFill>
          <a:ln w="12700">
            <a:solidFill>
              <a:srgbClr val="79909B"/>
            </a:solidFill>
          </a:ln>
        </p:spPr>
      </p:sp>
      <p:sp>
        <p:nvSpPr>
          <p:cNvPr id="10" name="Map and briefing"/>
          <p:cNvSpPr txBox="1"/>
          <p:nvPr/>
        </p:nvSpPr>
        <p:spPr>
          <a:xfrm>
            <a:off x="6276975" y="1819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Map and briefing</a:t>
            </a:r>
            <a:endParaRPr lang="en-US"/>
          </a:p>
        </p:txBody>
      </p:sp>
      <p:cxnSp>
        <p:nvCxnSpPr>
          <p:cNvPr id="11" name="Connector 11"/>
          <p:cNvCxnSpPr/>
          <p:nvPr/>
        </p:nvCxnSpPr>
        <p:spPr>
          <a:xfrm>
            <a:off x="8620125" y="1971675"/>
            <a:ext cx="381000" cy="0"/>
          </a:xfrm>
          <a:prstGeom prst="line">
            <a:avLst/>
          </a:prstGeom>
          <a:ln w="19050">
            <a:solidFill>
              <a:srgbClr val="526875"/>
            </a:solidFill>
            <a:tailEnd type="triangle"/>
          </a:ln>
        </p:spPr>
      </p:cxnSp>
      <p:sp>
        <p:nvSpPr>
          <p:cNvPr id="12" name="rect"/>
          <p:cNvSpPr txBox="0"/>
          <p:nvPr/>
        </p:nvSpPr>
        <p:spPr>
          <a:xfrm>
            <a:off x="9001125" y="1657350"/>
            <a:ext cx="2476500" cy="628650"/>
          </a:xfrm>
          <a:prstGeom prst="rect">
            <a:avLst/>
          </a:prstGeom>
          <a:solidFill>
            <a:srgbClr val="F7FAFB"/>
          </a:solidFill>
          <a:ln w="12700">
            <a:solidFill>
              <a:srgbClr val="79909B"/>
            </a:solidFill>
          </a:ln>
        </p:spPr>
      </p:sp>
      <p:sp>
        <p:nvSpPr>
          <p:cNvPr id="13" name="Practice or play"/>
          <p:cNvSpPr txBox="1"/>
          <p:nvPr/>
        </p:nvSpPr>
        <p:spPr>
          <a:xfrm>
            <a:off x="9134475" y="1819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Practice or play</a:t>
            </a:r>
            <a:endParaRPr lang="en-US"/>
          </a:p>
        </p:txBody>
      </p:sp>
      <p:sp>
        <p:nvSpPr>
          <p:cNvPr id="14" name="F2  Model strategy"/>
          <p:cNvSpPr txBox="1"/>
          <p:nvPr/>
        </p:nvSpPr>
        <p:spPr>
          <a:xfrm>
            <a:off x="609600" y="2533650"/>
            <a:ext cx="2428875" cy="444970"/>
          </a:xfrm>
          <a:prstGeom prst="rect">
            <a:avLst/>
          </a:prstGeom>
          <a:noFill/>
          <a:ln>
            <a:noFill/>
          </a:ln>
        </p:spPr>
        <p:txBody>
          <a:bodyPr wrap="square" lIns="0" rIns="0" tIns="0" bIns="0" anchor="t">
            <a:noAutofit/>
          </a:bodyPr>
          <a:lstStyle/>
          <a:p>
            <a:pPr>
              <a:lnSpc>
                <a:spcPct val="130000"/>
              </a:lnSpc>
            </a:pPr>
            <a:r>
              <a:rPr lang="en-US" sz="1800" b="1">
                <a:solidFill>
                  <a:srgbClr val="102E40"/>
                </a:solidFill>
                <a:latin typeface="Arial"/>
              </a:rPr>
              <a:t xml:space="preserve">F2  Model strategy</a:t>
            </a:r>
            <a:endParaRPr lang="en-US"/>
          </a:p>
        </p:txBody>
      </p:sp>
      <p:sp>
        <p:nvSpPr>
          <p:cNvPr id="15" name="Maya and Rosa"/>
          <p:cNvSpPr txBox="1"/>
          <p:nvPr/>
        </p:nvSpPr>
        <p:spPr>
          <a:xfrm>
            <a:off x="609600" y="2876550"/>
            <a:ext cx="2428875"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Maya and Rosa</a:t>
            </a:r>
            <a:endParaRPr lang="en-US"/>
          </a:p>
        </p:txBody>
      </p:sp>
      <p:sp>
        <p:nvSpPr>
          <p:cNvPr id="16" name="rect"/>
          <p:cNvSpPr txBox="0"/>
          <p:nvPr/>
        </p:nvSpPr>
        <p:spPr>
          <a:xfrm>
            <a:off x="3286125" y="2514600"/>
            <a:ext cx="2476500" cy="628650"/>
          </a:xfrm>
          <a:prstGeom prst="rect">
            <a:avLst/>
          </a:prstGeom>
          <a:solidFill>
            <a:srgbClr val="F7FAFB"/>
          </a:solidFill>
          <a:ln w="12700">
            <a:solidFill>
              <a:srgbClr val="79909B"/>
            </a:solidFill>
          </a:ln>
        </p:spPr>
      </p:sp>
      <p:sp>
        <p:nvSpPr>
          <p:cNvPr id="17" name="Choose and prepare"/>
          <p:cNvSpPr txBox="1"/>
          <p:nvPr/>
        </p:nvSpPr>
        <p:spPr>
          <a:xfrm>
            <a:off x="3419475" y="26765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Choose and prepare</a:t>
            </a:r>
            <a:endParaRPr lang="en-US"/>
          </a:p>
        </p:txBody>
      </p:sp>
      <p:cxnSp>
        <p:nvCxnSpPr>
          <p:cNvPr id="18" name="Connector 18"/>
          <p:cNvCxnSpPr/>
          <p:nvPr/>
        </p:nvCxnSpPr>
        <p:spPr>
          <a:xfrm>
            <a:off x="5762625" y="2828925"/>
            <a:ext cx="381000" cy="0"/>
          </a:xfrm>
          <a:prstGeom prst="line">
            <a:avLst/>
          </a:prstGeom>
          <a:ln w="19050">
            <a:solidFill>
              <a:srgbClr val="526875"/>
            </a:solidFill>
            <a:tailEnd type="triangle"/>
          </a:ln>
        </p:spPr>
      </p:cxnSp>
      <p:sp>
        <p:nvSpPr>
          <p:cNvPr id="19" name="rect"/>
          <p:cNvSpPr txBox="0"/>
          <p:nvPr/>
        </p:nvSpPr>
        <p:spPr>
          <a:xfrm>
            <a:off x="6143625" y="2514600"/>
            <a:ext cx="2476500" cy="628650"/>
          </a:xfrm>
          <a:prstGeom prst="rect">
            <a:avLst/>
          </a:prstGeom>
          <a:solidFill>
            <a:srgbClr val="F7FAFB"/>
          </a:solidFill>
          <a:ln w="12700">
            <a:solidFill>
              <a:srgbClr val="79909B"/>
            </a:solidFill>
          </a:ln>
        </p:spPr>
      </p:sp>
      <p:sp>
        <p:nvSpPr>
          <p:cNvPr id="20" name="Review strategy"/>
          <p:cNvSpPr txBox="1"/>
          <p:nvPr/>
        </p:nvSpPr>
        <p:spPr>
          <a:xfrm>
            <a:off x="6276975" y="26765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Review strategy</a:t>
            </a:r>
            <a:endParaRPr lang="en-US"/>
          </a:p>
        </p:txBody>
      </p:sp>
      <p:cxnSp>
        <p:nvCxnSpPr>
          <p:cNvPr id="21" name="Connector 21"/>
          <p:cNvCxnSpPr/>
          <p:nvPr/>
        </p:nvCxnSpPr>
        <p:spPr>
          <a:xfrm>
            <a:off x="8620125" y="2828925"/>
            <a:ext cx="381000" cy="0"/>
          </a:xfrm>
          <a:prstGeom prst="line">
            <a:avLst/>
          </a:prstGeom>
          <a:ln w="19050">
            <a:solidFill>
              <a:srgbClr val="526875"/>
            </a:solidFill>
            <a:tailEnd type="triangle"/>
          </a:ln>
        </p:spPr>
      </p:cxnSp>
      <p:sp>
        <p:nvSpPr>
          <p:cNvPr id="22" name="rect"/>
          <p:cNvSpPr txBox="0"/>
          <p:nvPr/>
        </p:nvSpPr>
        <p:spPr>
          <a:xfrm>
            <a:off x="9001125" y="2514600"/>
            <a:ext cx="2476500" cy="628650"/>
          </a:xfrm>
          <a:prstGeom prst="rect">
            <a:avLst/>
          </a:prstGeom>
          <a:solidFill>
            <a:srgbClr val="F7FAFB"/>
          </a:solidFill>
          <a:ln w="12700">
            <a:solidFill>
              <a:srgbClr val="79909B"/>
            </a:solidFill>
          </a:ln>
        </p:spPr>
      </p:sp>
      <p:sp>
        <p:nvSpPr>
          <p:cNvPr id="23" name="Start or regenerate"/>
          <p:cNvSpPr txBox="1"/>
          <p:nvPr/>
        </p:nvSpPr>
        <p:spPr>
          <a:xfrm>
            <a:off x="9134475" y="26765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Start or regenerate</a:t>
            </a:r>
            <a:endParaRPr lang="en-US"/>
          </a:p>
        </p:txBody>
      </p:sp>
      <p:sp>
        <p:nvSpPr>
          <p:cNvPr id="24" name="F3  Active play"/>
          <p:cNvSpPr txBox="1"/>
          <p:nvPr/>
        </p:nvSpPr>
        <p:spPr>
          <a:xfrm>
            <a:off x="609600" y="3390900"/>
            <a:ext cx="2428875" cy="444970"/>
          </a:xfrm>
          <a:prstGeom prst="rect">
            <a:avLst/>
          </a:prstGeom>
          <a:noFill/>
          <a:ln>
            <a:noFill/>
          </a:ln>
        </p:spPr>
        <p:txBody>
          <a:bodyPr wrap="square" lIns="0" rIns="0" tIns="0" bIns="0" anchor="t">
            <a:noAutofit/>
          </a:bodyPr>
          <a:lstStyle/>
          <a:p>
            <a:pPr>
              <a:lnSpc>
                <a:spcPct val="130000"/>
              </a:lnSpc>
            </a:pPr>
            <a:r>
              <a:rPr lang="en-US" sz="1800" b="1">
                <a:solidFill>
                  <a:srgbClr val="102E40"/>
                </a:solidFill>
                <a:latin typeface="Arial"/>
              </a:rPr>
              <a:t xml:space="preserve">F3  Active play</a:t>
            </a:r>
            <a:endParaRPr lang="en-US"/>
          </a:p>
        </p:txBody>
      </p:sp>
      <p:sp>
        <p:nvSpPr>
          <p:cNvPr id="25" name="Maya and Daniel"/>
          <p:cNvSpPr txBox="1"/>
          <p:nvPr/>
        </p:nvSpPr>
        <p:spPr>
          <a:xfrm>
            <a:off x="609600" y="3733800"/>
            <a:ext cx="2428875"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Maya and Daniel</a:t>
            </a:r>
            <a:endParaRPr lang="en-US"/>
          </a:p>
        </p:txBody>
      </p:sp>
      <p:sp>
        <p:nvSpPr>
          <p:cNvPr id="26" name="rect"/>
          <p:cNvSpPr txBox="0"/>
          <p:nvPr/>
        </p:nvSpPr>
        <p:spPr>
          <a:xfrm>
            <a:off x="3286125" y="3371850"/>
            <a:ext cx="2476500" cy="628650"/>
          </a:xfrm>
          <a:prstGeom prst="rect">
            <a:avLst/>
          </a:prstGeom>
          <a:solidFill>
            <a:srgbClr val="F7FAFB"/>
          </a:solidFill>
          <a:ln w="12700">
            <a:solidFill>
              <a:srgbClr val="79909B"/>
            </a:solidFill>
          </a:ln>
        </p:spPr>
      </p:sp>
      <p:sp>
        <p:nvSpPr>
          <p:cNvPr id="27" name="Player action"/>
          <p:cNvSpPr txBox="1"/>
          <p:nvPr/>
        </p:nvSpPr>
        <p:spPr>
          <a:xfrm>
            <a:off x="3419475" y="35337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Player action</a:t>
            </a:r>
            <a:endParaRPr lang="en-US"/>
          </a:p>
        </p:txBody>
      </p:sp>
      <p:cxnSp>
        <p:nvCxnSpPr>
          <p:cNvPr id="28" name="Connector 28"/>
          <p:cNvCxnSpPr/>
          <p:nvPr/>
        </p:nvCxnSpPr>
        <p:spPr>
          <a:xfrm>
            <a:off x="5762625" y="3686175"/>
            <a:ext cx="381000" cy="0"/>
          </a:xfrm>
          <a:prstGeom prst="line">
            <a:avLst/>
          </a:prstGeom>
          <a:ln w="19050">
            <a:solidFill>
              <a:srgbClr val="526875"/>
            </a:solidFill>
            <a:tailEnd type="triangle"/>
          </a:ln>
        </p:spPr>
      </p:cxnSp>
      <p:sp>
        <p:nvSpPr>
          <p:cNvPr id="29" name="rect"/>
          <p:cNvSpPr txBox="0"/>
          <p:nvPr/>
        </p:nvSpPr>
        <p:spPr>
          <a:xfrm>
            <a:off x="6143625" y="3371850"/>
            <a:ext cx="2476500" cy="628650"/>
          </a:xfrm>
          <a:prstGeom prst="rect">
            <a:avLst/>
          </a:prstGeom>
          <a:solidFill>
            <a:srgbClr val="F7FAFB"/>
          </a:solidFill>
          <a:ln w="12700">
            <a:solidFill>
              <a:srgbClr val="79909B"/>
            </a:solidFill>
          </a:ln>
        </p:spPr>
      </p:sp>
      <p:sp>
        <p:nvSpPr>
          <p:cNvPr id="30" name="Rival response"/>
          <p:cNvSpPr txBox="1"/>
          <p:nvPr/>
        </p:nvSpPr>
        <p:spPr>
          <a:xfrm>
            <a:off x="6276975" y="35337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Rival response</a:t>
            </a:r>
            <a:endParaRPr lang="en-US"/>
          </a:p>
        </p:txBody>
      </p:sp>
      <p:cxnSp>
        <p:nvCxnSpPr>
          <p:cNvPr id="31" name="Connector 31"/>
          <p:cNvCxnSpPr/>
          <p:nvPr/>
        </p:nvCxnSpPr>
        <p:spPr>
          <a:xfrm>
            <a:off x="8620125" y="3686175"/>
            <a:ext cx="381000" cy="0"/>
          </a:xfrm>
          <a:prstGeom prst="line">
            <a:avLst/>
          </a:prstGeom>
          <a:ln w="19050">
            <a:solidFill>
              <a:srgbClr val="526875"/>
            </a:solidFill>
            <a:tailEnd type="triangle"/>
          </a:ln>
        </p:spPr>
      </p:cxnSp>
      <p:sp>
        <p:nvSpPr>
          <p:cNvPr id="32" name="rect"/>
          <p:cNvSpPr txBox="0"/>
          <p:nvPr/>
        </p:nvSpPr>
        <p:spPr>
          <a:xfrm>
            <a:off x="9001125" y="3371850"/>
            <a:ext cx="2476500" cy="628650"/>
          </a:xfrm>
          <a:prstGeom prst="rect">
            <a:avLst/>
          </a:prstGeom>
          <a:solidFill>
            <a:srgbClr val="F7FAFB"/>
          </a:solidFill>
          <a:ln w="12700">
            <a:solidFill>
              <a:srgbClr val="79909B"/>
            </a:solidFill>
          </a:ln>
        </p:spPr>
      </p:sp>
      <p:sp>
        <p:nvSpPr>
          <p:cNvPr id="33" name="Result or retry"/>
          <p:cNvSpPr txBox="1"/>
          <p:nvPr/>
        </p:nvSpPr>
        <p:spPr>
          <a:xfrm>
            <a:off x="9134475" y="35337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Result or retry</a:t>
            </a:r>
            <a:endParaRPr lang="en-US"/>
          </a:p>
        </p:txBody>
      </p:sp>
      <p:sp>
        <p:nvSpPr>
          <p:cNvPr id="34" name="F4  AI recovery"/>
          <p:cNvSpPr txBox="1"/>
          <p:nvPr/>
        </p:nvSpPr>
        <p:spPr>
          <a:xfrm>
            <a:off x="609600" y="4248150"/>
            <a:ext cx="2428875" cy="444970"/>
          </a:xfrm>
          <a:prstGeom prst="rect">
            <a:avLst/>
          </a:prstGeom>
          <a:noFill/>
          <a:ln>
            <a:noFill/>
          </a:ln>
        </p:spPr>
        <p:txBody>
          <a:bodyPr wrap="square" lIns="0" rIns="0" tIns="0" bIns="0" anchor="t">
            <a:noAutofit/>
          </a:bodyPr>
          <a:lstStyle/>
          <a:p>
            <a:pPr>
              <a:lnSpc>
                <a:spcPct val="130000"/>
              </a:lnSpc>
            </a:pPr>
            <a:r>
              <a:rPr lang="en-US" sz="1800" b="1">
                <a:solidFill>
                  <a:srgbClr val="102E40"/>
                </a:solidFill>
                <a:latin typeface="Arial"/>
              </a:rPr>
              <a:t xml:space="preserve">F4  AI recovery</a:t>
            </a:r>
            <a:endParaRPr lang="en-US"/>
          </a:p>
        </p:txBody>
      </p:sp>
      <p:sp>
        <p:nvSpPr>
          <p:cNvPr id="35" name="Rosa and Maya"/>
          <p:cNvSpPr txBox="1"/>
          <p:nvPr/>
        </p:nvSpPr>
        <p:spPr>
          <a:xfrm>
            <a:off x="609600" y="4591050"/>
            <a:ext cx="2428875"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Rosa and Maya</a:t>
            </a:r>
            <a:endParaRPr lang="en-US"/>
          </a:p>
        </p:txBody>
      </p:sp>
      <p:sp>
        <p:nvSpPr>
          <p:cNvPr id="36" name="rect"/>
          <p:cNvSpPr txBox="0"/>
          <p:nvPr/>
        </p:nvSpPr>
        <p:spPr>
          <a:xfrm>
            <a:off x="3286125" y="4229100"/>
            <a:ext cx="2476500" cy="628650"/>
          </a:xfrm>
          <a:prstGeom prst="rect">
            <a:avLst/>
          </a:prstGeom>
          <a:solidFill>
            <a:srgbClr val="F7FAFB"/>
          </a:solidFill>
          <a:ln w="12700">
            <a:solidFill>
              <a:srgbClr val="79909B"/>
            </a:solidFill>
          </a:ln>
        </p:spPr>
      </p:sp>
      <p:sp>
        <p:nvSpPr>
          <p:cNvPr id="37" name="Read failure"/>
          <p:cNvSpPr txBox="1"/>
          <p:nvPr/>
        </p:nvSpPr>
        <p:spPr>
          <a:xfrm>
            <a:off x="3419475" y="43910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Read failure</a:t>
            </a:r>
            <a:endParaRPr lang="en-US"/>
          </a:p>
        </p:txBody>
      </p:sp>
      <p:cxnSp>
        <p:nvCxnSpPr>
          <p:cNvPr id="38" name="Connector 38"/>
          <p:cNvCxnSpPr/>
          <p:nvPr/>
        </p:nvCxnSpPr>
        <p:spPr>
          <a:xfrm>
            <a:off x="5762625" y="4543425"/>
            <a:ext cx="381000" cy="0"/>
          </a:xfrm>
          <a:prstGeom prst="line">
            <a:avLst/>
          </a:prstGeom>
          <a:ln w="19050">
            <a:solidFill>
              <a:srgbClr val="526875"/>
            </a:solidFill>
            <a:tailEnd type="triangle"/>
          </a:ln>
        </p:spPr>
      </p:cxnSp>
      <p:sp>
        <p:nvSpPr>
          <p:cNvPr id="39" name="rect"/>
          <p:cNvSpPr txBox="0"/>
          <p:nvPr/>
        </p:nvSpPr>
        <p:spPr>
          <a:xfrm>
            <a:off x="6143625" y="4229100"/>
            <a:ext cx="2476500" cy="628650"/>
          </a:xfrm>
          <a:prstGeom prst="rect">
            <a:avLst/>
          </a:prstGeom>
          <a:solidFill>
            <a:srgbClr val="F7FAFB"/>
          </a:solidFill>
          <a:ln w="12700">
            <a:solidFill>
              <a:srgbClr val="79909B"/>
            </a:solidFill>
          </a:ln>
        </p:spPr>
      </p:sp>
      <p:sp>
        <p:nvSpPr>
          <p:cNvPr id="40" name="Retry or local play"/>
          <p:cNvSpPr txBox="1"/>
          <p:nvPr/>
        </p:nvSpPr>
        <p:spPr>
          <a:xfrm>
            <a:off x="6276975" y="43910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Retry or local play</a:t>
            </a:r>
            <a:endParaRPr lang="en-US"/>
          </a:p>
        </p:txBody>
      </p:sp>
      <p:cxnSp>
        <p:nvCxnSpPr>
          <p:cNvPr id="41" name="Connector 41"/>
          <p:cNvCxnSpPr/>
          <p:nvPr/>
        </p:nvCxnSpPr>
        <p:spPr>
          <a:xfrm>
            <a:off x="8620125" y="4543425"/>
            <a:ext cx="381000" cy="0"/>
          </a:xfrm>
          <a:prstGeom prst="line">
            <a:avLst/>
          </a:prstGeom>
          <a:ln w="19050">
            <a:solidFill>
              <a:srgbClr val="526875"/>
            </a:solidFill>
            <a:tailEnd type="triangle"/>
          </a:ln>
        </p:spPr>
      </p:cxnSp>
      <p:sp>
        <p:nvSpPr>
          <p:cNvPr id="42" name="rect"/>
          <p:cNvSpPr txBox="0"/>
          <p:nvPr/>
        </p:nvSpPr>
        <p:spPr>
          <a:xfrm>
            <a:off x="9001125" y="4229100"/>
            <a:ext cx="2476500" cy="628650"/>
          </a:xfrm>
          <a:prstGeom prst="rect">
            <a:avLst/>
          </a:prstGeom>
          <a:solidFill>
            <a:srgbClr val="F7FAFB"/>
          </a:solidFill>
          <a:ln w="12700">
            <a:solidFill>
              <a:srgbClr val="79909B"/>
            </a:solidFill>
          </a:ln>
        </p:spPr>
      </p:sp>
      <p:sp>
        <p:nvSpPr>
          <p:cNvPr id="43" name="Explicit start"/>
          <p:cNvSpPr txBox="1"/>
          <p:nvPr/>
        </p:nvSpPr>
        <p:spPr>
          <a:xfrm>
            <a:off x="9134475" y="439102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Explicit start</a:t>
            </a:r>
            <a:endParaRPr lang="en-US"/>
          </a:p>
        </p:txBody>
      </p:sp>
      <p:sp>
        <p:nvSpPr>
          <p:cNvPr id="44" name="F5  Voyage progress"/>
          <p:cNvSpPr txBox="1"/>
          <p:nvPr/>
        </p:nvSpPr>
        <p:spPr>
          <a:xfrm>
            <a:off x="609600" y="5105400"/>
            <a:ext cx="2428875" cy="444970"/>
          </a:xfrm>
          <a:prstGeom prst="rect">
            <a:avLst/>
          </a:prstGeom>
          <a:noFill/>
          <a:ln>
            <a:noFill/>
          </a:ln>
        </p:spPr>
        <p:txBody>
          <a:bodyPr wrap="square" lIns="0" rIns="0" tIns="0" bIns="0" anchor="t">
            <a:noAutofit/>
          </a:bodyPr>
          <a:lstStyle/>
          <a:p>
            <a:pPr>
              <a:lnSpc>
                <a:spcPct val="130000"/>
              </a:lnSpc>
            </a:pPr>
            <a:r>
              <a:rPr lang="en-US" sz="1800" b="1">
                <a:solidFill>
                  <a:srgbClr val="102E40"/>
                </a:solidFill>
                <a:latin typeface="Arial"/>
              </a:rPr>
              <a:t xml:space="preserve">F5  Voyage progress</a:t>
            </a:r>
            <a:endParaRPr lang="en-US"/>
          </a:p>
        </p:txBody>
      </p:sp>
      <p:sp>
        <p:nvSpPr>
          <p:cNvPr id="45" name="All three personas"/>
          <p:cNvSpPr txBox="1"/>
          <p:nvPr/>
        </p:nvSpPr>
        <p:spPr>
          <a:xfrm>
            <a:off x="609600" y="5448300"/>
            <a:ext cx="2428875"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All three personas</a:t>
            </a:r>
            <a:endParaRPr lang="en-US"/>
          </a:p>
        </p:txBody>
      </p:sp>
      <p:sp>
        <p:nvSpPr>
          <p:cNvPr id="46" name="rect"/>
          <p:cNvSpPr txBox="0"/>
          <p:nvPr/>
        </p:nvSpPr>
        <p:spPr>
          <a:xfrm>
            <a:off x="3286125" y="5086350"/>
            <a:ext cx="2476500" cy="628650"/>
          </a:xfrm>
          <a:prstGeom prst="rect">
            <a:avLst/>
          </a:prstGeom>
          <a:solidFill>
            <a:srgbClr val="F7FAFB"/>
          </a:solidFill>
          <a:ln w="12700">
            <a:solidFill>
              <a:srgbClr val="79909B"/>
            </a:solidFill>
          </a:ln>
        </p:spPr>
      </p:sp>
      <p:sp>
        <p:nvSpPr>
          <p:cNvPr id="47" name="Clear or assistance"/>
          <p:cNvSpPr txBox="1"/>
          <p:nvPr/>
        </p:nvSpPr>
        <p:spPr>
          <a:xfrm>
            <a:off x="3419475" y="5248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Clear or assistance</a:t>
            </a:r>
            <a:endParaRPr lang="en-US"/>
          </a:p>
        </p:txBody>
      </p:sp>
      <p:cxnSp>
        <p:nvCxnSpPr>
          <p:cNvPr id="48" name="Connector 48"/>
          <p:cNvCxnSpPr/>
          <p:nvPr/>
        </p:nvCxnSpPr>
        <p:spPr>
          <a:xfrm>
            <a:off x="5762625" y="5400675"/>
            <a:ext cx="381000" cy="0"/>
          </a:xfrm>
          <a:prstGeom prst="line">
            <a:avLst/>
          </a:prstGeom>
          <a:ln w="19050">
            <a:solidFill>
              <a:srgbClr val="526875"/>
            </a:solidFill>
            <a:tailEnd type="triangle"/>
          </a:ln>
        </p:spPr>
      </p:cxnSp>
      <p:sp>
        <p:nvSpPr>
          <p:cNvPr id="49" name="rect"/>
          <p:cNvSpPr txBox="0"/>
          <p:nvPr/>
        </p:nvSpPr>
        <p:spPr>
          <a:xfrm>
            <a:off x="6143625" y="5086350"/>
            <a:ext cx="2476500" cy="628650"/>
          </a:xfrm>
          <a:prstGeom prst="rect">
            <a:avLst/>
          </a:prstGeom>
          <a:solidFill>
            <a:srgbClr val="F7FAFB"/>
          </a:solidFill>
          <a:ln w="12700">
            <a:solidFill>
              <a:srgbClr val="79909B"/>
            </a:solidFill>
          </a:ln>
        </p:spPr>
      </p:sp>
      <p:sp>
        <p:nvSpPr>
          <p:cNvPr id="50" name="Next shore"/>
          <p:cNvSpPr txBox="1"/>
          <p:nvPr/>
        </p:nvSpPr>
        <p:spPr>
          <a:xfrm>
            <a:off x="6276975" y="5248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Next shore</a:t>
            </a:r>
            <a:endParaRPr lang="en-US"/>
          </a:p>
        </p:txBody>
      </p:sp>
      <p:cxnSp>
        <p:nvCxnSpPr>
          <p:cNvPr id="51" name="Connector 51"/>
          <p:cNvCxnSpPr/>
          <p:nvPr/>
        </p:nvCxnSpPr>
        <p:spPr>
          <a:xfrm>
            <a:off x="8620125" y="5400675"/>
            <a:ext cx="381000" cy="0"/>
          </a:xfrm>
          <a:prstGeom prst="line">
            <a:avLst/>
          </a:prstGeom>
          <a:ln w="19050">
            <a:solidFill>
              <a:srgbClr val="526875"/>
            </a:solidFill>
            <a:tailEnd type="triangle"/>
          </a:ln>
        </p:spPr>
      </p:cxnSp>
      <p:sp>
        <p:nvSpPr>
          <p:cNvPr id="52" name="rect"/>
          <p:cNvSpPr txBox="0"/>
          <p:nvPr/>
        </p:nvSpPr>
        <p:spPr>
          <a:xfrm>
            <a:off x="9001125" y="5086350"/>
            <a:ext cx="2476500" cy="628650"/>
          </a:xfrm>
          <a:prstGeom prst="rect">
            <a:avLst/>
          </a:prstGeom>
          <a:solidFill>
            <a:srgbClr val="F7FAFB"/>
          </a:solidFill>
          <a:ln w="12700">
            <a:solidFill>
              <a:srgbClr val="79909B"/>
            </a:solidFill>
          </a:ln>
        </p:spPr>
      </p:sp>
      <p:sp>
        <p:nvSpPr>
          <p:cNvPr id="53" name="Homecoming"/>
          <p:cNvSpPr txBox="1"/>
          <p:nvPr/>
        </p:nvSpPr>
        <p:spPr>
          <a:xfrm>
            <a:off x="9134475" y="5248275"/>
            <a:ext cx="2209800" cy="415747"/>
          </a:xfrm>
          <a:prstGeom prst="rect">
            <a:avLst/>
          </a:prstGeom>
          <a:noFill/>
          <a:ln>
            <a:noFill/>
          </a:ln>
        </p:spPr>
        <p:txBody>
          <a:bodyPr wrap="square" lIns="0" rIns="0" tIns="0" bIns="0" anchor="t">
            <a:noAutofit/>
          </a:bodyPr>
          <a:lstStyle/>
          <a:p>
            <a:pPr>
              <a:lnSpc>
                <a:spcPct val="130000"/>
              </a:lnSpc>
            </a:pPr>
            <a:r>
              <a:rPr lang="en-US" sz="1650" b="1">
                <a:solidFill>
                  <a:srgbClr val="102E40"/>
                </a:solidFill>
                <a:latin typeface="Arial"/>
              </a:rPr>
              <a:t xml:space="preserve">Homecoming</a:t>
            </a:r>
            <a:endParaRPr lang="en-US"/>
          </a:p>
        </p:txBody>
      </p:sp>
      <p:sp>
        <p:nvSpPr>
          <p:cNvPr id="54" name="Pause preserves the round. Practice awards no clear. As"/>
          <p:cNvSpPr txBox="1"/>
          <p:nvPr/>
        </p:nvSpPr>
        <p:spPr>
          <a:xfrm>
            <a:off x="609600" y="604837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126978"/>
                </a:solidFill>
                <a:latin typeface="Arial"/>
              </a:rPr>
              <a:t xml:space="preserve">Pause preserves the round. Practice awards no clear. Assistance has its own label.</a:t>
            </a:r>
            <a:endParaRPr lang="en-US"/>
          </a:p>
        </p:txBody>
      </p:sp>
      <p:sp>
        <p:nvSpPr>
          <p:cNvPr id="55" name="Farshore / Phase 2 / 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I preparation state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AI preparation states</a:t>
            </a:r>
            <a:endParaRPr lang="en-US"/>
          </a:p>
        </p:txBody>
      </p:sp>
      <p:sp>
        <p:nvSpPr>
          <p:cNvPr id="3" name="Five low-fidelity states keep progress and player choic"/>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Five low-fidelity states keep progress and player choice visible</a:t>
            </a:r>
            <a:endParaRPr lang="en-US"/>
          </a:p>
        </p:txBody>
      </p:sp>
      <p:sp>
        <p:nvSpPr>
          <p:cNvPr id="4" name="Initial"/>
          <p:cNvSpPr txBox="1"/>
          <p:nvPr/>
        </p:nvSpPr>
        <p:spPr>
          <a:xfrm>
            <a:off x="609600" y="1638300"/>
            <a:ext cx="3333750"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Initial</a:t>
            </a:r>
            <a:endParaRPr lang="en-US"/>
          </a:p>
        </p:txBody>
      </p:sp>
      <p:sp>
        <p:nvSpPr>
          <p:cNvPr id="5" name="rect"/>
          <p:cNvSpPr txBox="0"/>
          <p:nvPr/>
        </p:nvSpPr>
        <p:spPr>
          <a:xfrm>
            <a:off x="609600" y="2095500"/>
            <a:ext cx="3333750" cy="1581150"/>
          </a:xfrm>
          <a:prstGeom prst="rect">
            <a:avLst/>
          </a:prstGeom>
          <a:solidFill>
            <a:srgbClr val="FFFFFF"/>
          </a:solidFill>
          <a:ln w="12700">
            <a:solidFill>
              <a:srgbClr val="777777"/>
            </a:solidFill>
          </a:ln>
        </p:spPr>
      </p:sp>
      <p:sp>
        <p:nvSpPr>
          <p:cNvPr id="6" name="Difficulty and mode"/>
          <p:cNvSpPr txBox="1"/>
          <p:nvPr/>
        </p:nvSpPr>
        <p:spPr>
          <a:xfrm>
            <a:off x="781050" y="222885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Difficulty and mode</a:t>
            </a:r>
            <a:endParaRPr lang="en-US"/>
          </a:p>
        </p:txBody>
      </p:sp>
      <p:sp>
        <p:nvSpPr>
          <p:cNvPr id="7" name="rect"/>
          <p:cNvSpPr txBox="0"/>
          <p:nvPr/>
        </p:nvSpPr>
        <p:spPr>
          <a:xfrm>
            <a:off x="619125" y="2628900"/>
            <a:ext cx="3314700" cy="9525"/>
          </a:xfrm>
          <a:prstGeom prst="rect">
            <a:avLst/>
          </a:prstGeom>
          <a:solidFill>
            <a:srgbClr val="AAAAAA"/>
          </a:solidFill>
          <a:ln w="12700">
            <a:solidFill>
              <a:srgbClr val="AAAAAA"/>
            </a:solidFill>
          </a:ln>
        </p:spPr>
      </p:sp>
      <p:sp>
        <p:nvSpPr>
          <p:cNvPr id="8" name="Local rival available"/>
          <p:cNvSpPr txBox="1"/>
          <p:nvPr/>
        </p:nvSpPr>
        <p:spPr>
          <a:xfrm>
            <a:off x="781050" y="2752725"/>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Local rival available</a:t>
            </a:r>
            <a:endParaRPr lang="en-US"/>
          </a:p>
        </p:txBody>
      </p:sp>
      <p:sp>
        <p:nvSpPr>
          <p:cNvPr id="9" name="rect"/>
          <p:cNvSpPr txBox="0"/>
          <p:nvPr/>
        </p:nvSpPr>
        <p:spPr>
          <a:xfrm>
            <a:off x="619125" y="3152775"/>
            <a:ext cx="3314700" cy="9525"/>
          </a:xfrm>
          <a:prstGeom prst="rect">
            <a:avLst/>
          </a:prstGeom>
          <a:solidFill>
            <a:srgbClr val="AAAAAA"/>
          </a:solidFill>
          <a:ln w="12700">
            <a:solidFill>
              <a:srgbClr val="AAAAAA"/>
            </a:solidFill>
          </a:ln>
        </p:spPr>
      </p:sp>
      <p:sp>
        <p:nvSpPr>
          <p:cNvPr id="10" name="Prepare with model"/>
          <p:cNvSpPr txBox="1"/>
          <p:nvPr/>
        </p:nvSpPr>
        <p:spPr>
          <a:xfrm>
            <a:off x="781050" y="327660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Prepare with model</a:t>
            </a:r>
            <a:endParaRPr lang="en-US"/>
          </a:p>
        </p:txBody>
      </p:sp>
      <p:sp>
        <p:nvSpPr>
          <p:cNvPr id="11" name="Loading"/>
          <p:cNvSpPr txBox="1"/>
          <p:nvPr/>
        </p:nvSpPr>
        <p:spPr>
          <a:xfrm>
            <a:off x="4419600" y="1638300"/>
            <a:ext cx="3333750"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Loading</a:t>
            </a:r>
            <a:endParaRPr lang="en-US"/>
          </a:p>
        </p:txBody>
      </p:sp>
      <p:sp>
        <p:nvSpPr>
          <p:cNvPr id="12" name="rect"/>
          <p:cNvSpPr txBox="0"/>
          <p:nvPr/>
        </p:nvSpPr>
        <p:spPr>
          <a:xfrm>
            <a:off x="4419600" y="2095500"/>
            <a:ext cx="3333750" cy="1581150"/>
          </a:xfrm>
          <a:prstGeom prst="rect">
            <a:avLst/>
          </a:prstGeom>
          <a:solidFill>
            <a:srgbClr val="FFFFFF"/>
          </a:solidFill>
          <a:ln w="12700">
            <a:solidFill>
              <a:srgbClr val="777777"/>
            </a:solidFill>
          </a:ln>
        </p:spPr>
      </p:sp>
      <p:sp>
        <p:nvSpPr>
          <p:cNvPr id="13" name="Preparing strategy"/>
          <p:cNvSpPr txBox="1"/>
          <p:nvPr/>
        </p:nvSpPr>
        <p:spPr>
          <a:xfrm>
            <a:off x="4591050" y="222885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Preparing strategy</a:t>
            </a:r>
            <a:endParaRPr lang="en-US"/>
          </a:p>
        </p:txBody>
      </p:sp>
      <p:sp>
        <p:nvSpPr>
          <p:cNvPr id="14" name="rect"/>
          <p:cNvSpPr txBox="0"/>
          <p:nvPr/>
        </p:nvSpPr>
        <p:spPr>
          <a:xfrm>
            <a:off x="4429125" y="2628900"/>
            <a:ext cx="3314700" cy="9525"/>
          </a:xfrm>
          <a:prstGeom prst="rect">
            <a:avLst/>
          </a:prstGeom>
          <a:solidFill>
            <a:srgbClr val="AAAAAA"/>
          </a:solidFill>
          <a:ln w="12700">
            <a:solidFill>
              <a:srgbClr val="AAAAAA"/>
            </a:solidFill>
          </a:ln>
        </p:spPr>
      </p:sp>
      <p:sp>
        <p:nvSpPr>
          <p:cNvPr id="15" name="Elapsed time and Cancel"/>
          <p:cNvSpPr txBox="1"/>
          <p:nvPr/>
        </p:nvSpPr>
        <p:spPr>
          <a:xfrm>
            <a:off x="4591050" y="2752725"/>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Elapsed time and Cancel</a:t>
            </a:r>
            <a:endParaRPr lang="en-US"/>
          </a:p>
        </p:txBody>
      </p:sp>
      <p:sp>
        <p:nvSpPr>
          <p:cNvPr id="16" name="rect"/>
          <p:cNvSpPr txBox="0"/>
          <p:nvPr/>
        </p:nvSpPr>
        <p:spPr>
          <a:xfrm>
            <a:off x="4429125" y="3152775"/>
            <a:ext cx="3314700" cy="9525"/>
          </a:xfrm>
          <a:prstGeom prst="rect">
            <a:avLst/>
          </a:prstGeom>
          <a:solidFill>
            <a:srgbClr val="AAAAAA"/>
          </a:solidFill>
          <a:ln w="12700">
            <a:solidFill>
              <a:srgbClr val="AAAAAA"/>
            </a:solidFill>
          </a:ln>
        </p:spPr>
      </p:sp>
      <p:sp>
        <p:nvSpPr>
          <p:cNvPr id="17" name="Gameplay clock stopped"/>
          <p:cNvSpPr txBox="1"/>
          <p:nvPr/>
        </p:nvSpPr>
        <p:spPr>
          <a:xfrm>
            <a:off x="4591050" y="327660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Gameplay clock stopped</a:t>
            </a:r>
            <a:endParaRPr lang="en-US"/>
          </a:p>
        </p:txBody>
      </p:sp>
      <p:sp>
        <p:nvSpPr>
          <p:cNvPr id="18" name="Success"/>
          <p:cNvSpPr txBox="1"/>
          <p:nvPr/>
        </p:nvSpPr>
        <p:spPr>
          <a:xfrm>
            <a:off x="8229600" y="1638300"/>
            <a:ext cx="3333750"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Success</a:t>
            </a:r>
            <a:endParaRPr lang="en-US"/>
          </a:p>
        </p:txBody>
      </p:sp>
      <p:sp>
        <p:nvSpPr>
          <p:cNvPr id="19" name="rect"/>
          <p:cNvSpPr txBox="0"/>
          <p:nvPr/>
        </p:nvSpPr>
        <p:spPr>
          <a:xfrm>
            <a:off x="8229600" y="2095500"/>
            <a:ext cx="3333750" cy="1581150"/>
          </a:xfrm>
          <a:prstGeom prst="rect">
            <a:avLst/>
          </a:prstGeom>
          <a:solidFill>
            <a:srgbClr val="FFFFFF"/>
          </a:solidFill>
          <a:ln w="12700">
            <a:solidFill>
              <a:srgbClr val="777777"/>
            </a:solidFill>
          </a:ln>
        </p:spPr>
      </p:sp>
      <p:sp>
        <p:nvSpPr>
          <p:cNvPr id="20" name="Strategy and fixed rules"/>
          <p:cNvSpPr txBox="1"/>
          <p:nvPr/>
        </p:nvSpPr>
        <p:spPr>
          <a:xfrm>
            <a:off x="8401050" y="222885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Strategy and fixed rules</a:t>
            </a:r>
            <a:endParaRPr lang="en-US"/>
          </a:p>
        </p:txBody>
      </p:sp>
      <p:sp>
        <p:nvSpPr>
          <p:cNvPr id="21" name="rect"/>
          <p:cNvSpPr txBox="0"/>
          <p:nvPr/>
        </p:nvSpPr>
        <p:spPr>
          <a:xfrm>
            <a:off x="8239125" y="2628900"/>
            <a:ext cx="3314700" cy="9525"/>
          </a:xfrm>
          <a:prstGeom prst="rect">
            <a:avLst/>
          </a:prstGeom>
          <a:solidFill>
            <a:srgbClr val="AAAAAA"/>
          </a:solidFill>
          <a:ln w="12700">
            <a:solidFill>
              <a:srgbClr val="AAAAAA"/>
            </a:solidFill>
          </a:ln>
        </p:spPr>
      </p:sp>
      <p:sp>
        <p:nvSpPr>
          <p:cNvPr id="22" name="Start / Prepare another"/>
          <p:cNvSpPr txBox="1"/>
          <p:nvPr/>
        </p:nvSpPr>
        <p:spPr>
          <a:xfrm>
            <a:off x="8401050" y="2752725"/>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Start / Prepare another</a:t>
            </a:r>
            <a:endParaRPr lang="en-US"/>
          </a:p>
        </p:txBody>
      </p:sp>
      <p:sp>
        <p:nvSpPr>
          <p:cNvPr id="23" name="rect"/>
          <p:cNvSpPr txBox="0"/>
          <p:nvPr/>
        </p:nvSpPr>
        <p:spPr>
          <a:xfrm>
            <a:off x="8239125" y="3152775"/>
            <a:ext cx="3314700" cy="9525"/>
          </a:xfrm>
          <a:prstGeom prst="rect">
            <a:avLst/>
          </a:prstGeom>
          <a:solidFill>
            <a:srgbClr val="AAAAAA"/>
          </a:solidFill>
          <a:ln w="12700">
            <a:solidFill>
              <a:srgbClr val="AAAAAA"/>
            </a:solidFill>
          </a:ln>
        </p:spPr>
      </p:sp>
      <p:sp>
        <p:nvSpPr>
          <p:cNvPr id="24" name="Edit difficulty or mode"/>
          <p:cNvSpPr txBox="1"/>
          <p:nvPr/>
        </p:nvSpPr>
        <p:spPr>
          <a:xfrm>
            <a:off x="8401050" y="3276600"/>
            <a:ext cx="29908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Edit difficulty or mode</a:t>
            </a:r>
            <a:endParaRPr lang="en-US"/>
          </a:p>
        </p:txBody>
      </p:sp>
      <p:sp>
        <p:nvSpPr>
          <p:cNvPr id="25" name="Uncertain"/>
          <p:cNvSpPr txBox="1"/>
          <p:nvPr/>
        </p:nvSpPr>
        <p:spPr>
          <a:xfrm>
            <a:off x="609600" y="3962400"/>
            <a:ext cx="5191125"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Uncertain</a:t>
            </a:r>
            <a:endParaRPr lang="en-US"/>
          </a:p>
        </p:txBody>
      </p:sp>
      <p:sp>
        <p:nvSpPr>
          <p:cNvPr id="26" name="rect"/>
          <p:cNvSpPr txBox="0"/>
          <p:nvPr/>
        </p:nvSpPr>
        <p:spPr>
          <a:xfrm>
            <a:off x="609600" y="4419600"/>
            <a:ext cx="5191125" cy="1581150"/>
          </a:xfrm>
          <a:prstGeom prst="rect">
            <a:avLst/>
          </a:prstGeom>
          <a:solidFill>
            <a:srgbClr val="FFFFFF"/>
          </a:solidFill>
          <a:ln w="12700">
            <a:solidFill>
              <a:srgbClr val="777777"/>
            </a:solidFill>
          </a:ln>
        </p:spPr>
      </p:sp>
      <p:sp>
        <p:nvSpPr>
          <p:cNvPr id="27" name="Unsupported strategy"/>
          <p:cNvSpPr txBox="1"/>
          <p:nvPr/>
        </p:nvSpPr>
        <p:spPr>
          <a:xfrm>
            <a:off x="781050" y="4552950"/>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Unsupported strategy</a:t>
            </a:r>
            <a:endParaRPr lang="en-US"/>
          </a:p>
        </p:txBody>
      </p:sp>
      <p:sp>
        <p:nvSpPr>
          <p:cNvPr id="28" name="rect"/>
          <p:cNvSpPr txBox="0"/>
          <p:nvPr/>
        </p:nvSpPr>
        <p:spPr>
          <a:xfrm>
            <a:off x="619125" y="4953000"/>
            <a:ext cx="5172075" cy="9525"/>
          </a:xfrm>
          <a:prstGeom prst="rect">
            <a:avLst/>
          </a:prstGeom>
          <a:solidFill>
            <a:srgbClr val="AAAAAA"/>
          </a:solidFill>
          <a:ln w="12700">
            <a:solidFill>
              <a:srgbClr val="AAAAAA"/>
            </a:solidFill>
          </a:ln>
        </p:spPr>
      </p:sp>
      <p:sp>
        <p:nvSpPr>
          <p:cNvPr id="29" name="No match has started"/>
          <p:cNvSpPr txBox="1"/>
          <p:nvPr/>
        </p:nvSpPr>
        <p:spPr>
          <a:xfrm>
            <a:off x="781050" y="5076825"/>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No match has started</a:t>
            </a:r>
            <a:endParaRPr lang="en-US"/>
          </a:p>
        </p:txBody>
      </p:sp>
      <p:sp>
        <p:nvSpPr>
          <p:cNvPr id="30" name="rect"/>
          <p:cNvSpPr txBox="0"/>
          <p:nvPr/>
        </p:nvSpPr>
        <p:spPr>
          <a:xfrm>
            <a:off x="619125" y="5476875"/>
            <a:ext cx="5172075" cy="9525"/>
          </a:xfrm>
          <a:prstGeom prst="rect">
            <a:avLst/>
          </a:prstGeom>
          <a:solidFill>
            <a:srgbClr val="AAAAAA"/>
          </a:solidFill>
          <a:ln w="12700">
            <a:solidFill>
              <a:srgbClr val="AAAAAA"/>
            </a:solidFill>
          </a:ln>
        </p:spPr>
      </p:sp>
      <p:sp>
        <p:nvSpPr>
          <p:cNvPr id="31" name="Retry / local AI / Solo"/>
          <p:cNvSpPr txBox="1"/>
          <p:nvPr/>
        </p:nvSpPr>
        <p:spPr>
          <a:xfrm>
            <a:off x="781050" y="5600700"/>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Retry / local AI / Solo</a:t>
            </a:r>
            <a:endParaRPr lang="en-US"/>
          </a:p>
        </p:txBody>
      </p:sp>
      <p:sp>
        <p:nvSpPr>
          <p:cNvPr id="32" name="Error"/>
          <p:cNvSpPr txBox="1"/>
          <p:nvPr/>
        </p:nvSpPr>
        <p:spPr>
          <a:xfrm>
            <a:off x="6372225" y="3962400"/>
            <a:ext cx="5191125"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Error</a:t>
            </a:r>
            <a:endParaRPr lang="en-US"/>
          </a:p>
        </p:txBody>
      </p:sp>
      <p:sp>
        <p:nvSpPr>
          <p:cNvPr id="33" name="rect"/>
          <p:cNvSpPr txBox="0"/>
          <p:nvPr/>
        </p:nvSpPr>
        <p:spPr>
          <a:xfrm>
            <a:off x="6372225" y="4419600"/>
            <a:ext cx="5191125" cy="1581150"/>
          </a:xfrm>
          <a:prstGeom prst="rect">
            <a:avLst/>
          </a:prstGeom>
          <a:solidFill>
            <a:srgbClr val="FFFFFF"/>
          </a:solidFill>
          <a:ln w="12700">
            <a:solidFill>
              <a:srgbClr val="777777"/>
            </a:solidFill>
          </a:ln>
        </p:spPr>
      </p:sp>
      <p:sp>
        <p:nvSpPr>
          <p:cNvPr id="34" name="Service unavailable"/>
          <p:cNvSpPr txBox="1"/>
          <p:nvPr/>
        </p:nvSpPr>
        <p:spPr>
          <a:xfrm>
            <a:off x="6543675" y="4552950"/>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Service unavailable</a:t>
            </a:r>
            <a:endParaRPr lang="en-US"/>
          </a:p>
        </p:txBody>
      </p:sp>
      <p:sp>
        <p:nvSpPr>
          <p:cNvPr id="35" name="rect"/>
          <p:cNvSpPr txBox="0"/>
          <p:nvPr/>
        </p:nvSpPr>
        <p:spPr>
          <a:xfrm>
            <a:off x="6381750" y="4953000"/>
            <a:ext cx="5172075" cy="9525"/>
          </a:xfrm>
          <a:prstGeom prst="rect">
            <a:avLst/>
          </a:prstGeom>
          <a:solidFill>
            <a:srgbClr val="AAAAAA"/>
          </a:solidFill>
          <a:ln w="12700">
            <a:solidFill>
              <a:srgbClr val="AAAAAA"/>
            </a:solidFill>
          </a:ln>
        </p:spPr>
      </p:sp>
      <p:sp>
        <p:nvSpPr>
          <p:cNvPr id="36" name="Voyage progress kept"/>
          <p:cNvSpPr txBox="1"/>
          <p:nvPr/>
        </p:nvSpPr>
        <p:spPr>
          <a:xfrm>
            <a:off x="6543675" y="5076825"/>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Voyage progress kept</a:t>
            </a:r>
            <a:endParaRPr lang="en-US"/>
          </a:p>
        </p:txBody>
      </p:sp>
      <p:sp>
        <p:nvSpPr>
          <p:cNvPr id="37" name="rect"/>
          <p:cNvSpPr txBox="0"/>
          <p:nvPr/>
        </p:nvSpPr>
        <p:spPr>
          <a:xfrm>
            <a:off x="6381750" y="5476875"/>
            <a:ext cx="5172075" cy="9525"/>
          </a:xfrm>
          <a:prstGeom prst="rect">
            <a:avLst/>
          </a:prstGeom>
          <a:solidFill>
            <a:srgbClr val="AAAAAA"/>
          </a:solidFill>
          <a:ln w="12700">
            <a:solidFill>
              <a:srgbClr val="AAAAAA"/>
            </a:solidFill>
          </a:ln>
        </p:spPr>
      </p:sp>
      <p:sp>
        <p:nvSpPr>
          <p:cNvPr id="38" name="Retry / check / local play"/>
          <p:cNvSpPr txBox="1"/>
          <p:nvPr/>
        </p:nvSpPr>
        <p:spPr>
          <a:xfrm>
            <a:off x="6543675" y="5600700"/>
            <a:ext cx="4848225"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Retry / check / local play</a:t>
            </a:r>
            <a:endParaRPr lang="en-US"/>
          </a:p>
        </p:txBody>
      </p:sp>
      <p:sp>
        <p:nvSpPr>
          <p:cNvPr id="39" name="Farshore / Phase 2 / 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I technical spik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AI technical spike</a:t>
            </a:r>
            <a:endParaRPr lang="en-US"/>
          </a:p>
        </p:txBody>
      </p:sp>
      <p:sp>
        <p:nvSpPr>
          <p:cNvPr id="3" name="Six synthetic use-case inputs, real local Llama 3.2 3B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Six synthetic use-case inputs, real local Llama 3.2 3B calls</a:t>
            </a:r>
            <a:endParaRPr lang="en-US"/>
          </a:p>
        </p:txBody>
      </p:sp>
      <p:sp>
        <p:nvSpPr>
          <p:cNvPr id="4" name="Min 7.317s     Mean 8.279s     Max 11.613s"/>
          <p:cNvSpPr txBox="1"/>
          <p:nvPr/>
        </p:nvSpPr>
        <p:spPr>
          <a:xfrm>
            <a:off x="609600" y="1638300"/>
            <a:ext cx="10858500" cy="591083"/>
          </a:xfrm>
          <a:prstGeom prst="rect">
            <a:avLst/>
          </a:prstGeom>
          <a:noFill/>
          <a:ln>
            <a:noFill/>
          </a:ln>
        </p:spPr>
        <p:txBody>
          <a:bodyPr wrap="square" lIns="0" rIns="0" tIns="0" bIns="0" anchor="t">
            <a:noAutofit/>
          </a:bodyPr>
          <a:lstStyle/>
          <a:p>
            <a:pPr>
              <a:lnSpc>
                <a:spcPct val="130000"/>
              </a:lnSpc>
            </a:pPr>
            <a:r>
              <a:rPr lang="en-US" sz="2550" b="1">
                <a:solidFill>
                  <a:srgbClr val="126978"/>
                </a:solidFill>
                <a:latin typeface="Arial"/>
              </a:rPr>
              <a:t xml:space="preserve">Min 7.317s     Mean 8.279s     Max 11.613s</a:t>
            </a:r>
            <a:endParaRPr lang="en-US"/>
          </a:p>
        </p:txBody>
      </p:sp>
      <p:graphicFrame>
        <p:nvGraphicFramePr>
          <p:cNvPr id="5" name="Editable evidence table"/>
          <p:cNvGraphicFramePr/>
          <p:nvPr/>
        </p:nvGraphicFramePr>
        <p:xfrm>
          <a:off x="609600" y="2362200"/>
          <a:ext cx="10858500" cy="3400425"/>
        </p:xfrm>
        <a:graphic>
          <a:graphicData uri="http://schemas.openxmlformats.org/drawingml/2006/table">
            <a:tbl>
              <a:tblPr firstRow="1" bandRow="0"/>
              <a:tblGrid>
                <a:gridCol w="3143250"/>
                <a:gridCol w="1381125"/>
                <a:gridCol w="2476500"/>
                <a:gridCol w="3857625"/>
              </a:tblGrid>
              <a:tr h="485775">
                <a:tc>
                  <a:txBody>
                    <a:bodyPr lIns="114300" rIns="114300" tIns="76200" bIns="0"/>
                    <a:lstStyle/>
                    <a:p>
                      <a:pPr>
                        <a:lnSpc>
                          <a:spcPct val="130000"/>
                        </a:lnSpc>
                      </a:pPr>
                      <a:r>
                        <a:rPr lang="en-US" sz="1575" b="1">
                          <a:solidFill>
                            <a:srgbClr val="102E40"/>
                          </a:solidFill>
                          <a:latin typeface="Arial"/>
                        </a:rPr>
                        <a:t xml:space="preserve">Sample</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Seconds</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Selected plan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Review</a:t>
                      </a:r>
                      <a:endParaRPr lang="en-US"/>
                    </a:p>
                  </a:txBody>
                  <a:tcPr>
                    <a:solidFill>
                      <a:srgbClr val="DCE8EE"/>
                    </a:solidFill>
                  </a:tcPr>
                </a:tc>
              </a:tr>
              <a:tr h="485775">
                <a:tc>
                  <a:txBody>
                    <a:bodyPr lIns="114300" rIns="114300" tIns="76200" bIns="0"/>
                    <a:lstStyle/>
                    <a:p>
                      <a:pPr>
                        <a:lnSpc>
                          <a:spcPct val="130000"/>
                        </a:lnSpc>
                      </a:pPr>
                      <a:r>
                        <a:rPr lang="en-US" sz="1575" b="0">
                          <a:solidFill>
                            <a:srgbClr val="102E40"/>
                          </a:solidFill>
                          <a:latin typeface="Arial"/>
                        </a:rPr>
                        <a:t xml:space="preserve">S1 First-time Cyclops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11.613</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focused/center</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advisory mismatch</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S2 Circe after two losses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7.597</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chain/balanced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Matches loss preference</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S3 Sirens with red-lane misses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7.317</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echo/balanced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lane targeting is local</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S4 Strait after one hull loss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7.889</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pincer/balanced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advisory mismatch</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S5 Archery after low ring score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7.614</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feint/balanced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block-shot policy</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S6 Cyclops with left-side habit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7.641</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focused/left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Schema fixes left focus</a:t>
                      </a:r>
                      <a:endParaRPr lang="en-US"/>
                    </a:p>
                  </a:txBody>
                  <a:tcPr>
                    <a:solidFill>
                      <a:srgbClr val="FFFFFF"/>
                    </a:solidFill>
                  </a:tcPr>
                </a:tc>
              </a:tr>
            </a:tbl>
          </a:graphicData>
        </a:graphic>
      </p:graphicFrame>
      <p:sp>
        <p:nvSpPr>
          <p:cNvPr id="6" name="Six legal outputs from one sequential run. Tactical qua"/>
          <p:cNvSpPr txBox="1"/>
          <p:nvPr/>
        </p:nvSpPr>
        <p:spPr>
          <a:xfrm>
            <a:off x="609600" y="5953125"/>
            <a:ext cx="10858500" cy="415747"/>
          </a:xfrm>
          <a:prstGeom prst="rect">
            <a:avLst/>
          </a:prstGeom>
          <a:noFill/>
          <a:ln>
            <a:noFill/>
          </a:ln>
        </p:spPr>
        <p:txBody>
          <a:bodyPr wrap="square" lIns="0" rIns="0" tIns="0" bIns="0" anchor="t">
            <a:noAutofit/>
          </a:bodyPr>
          <a:lstStyle/>
          <a:p>
            <a:pPr>
              <a:lnSpc>
                <a:spcPct val="130000"/>
              </a:lnSpc>
            </a:pPr>
            <a:r>
              <a:rPr lang="en-US" sz="1650" b="0">
                <a:solidFill>
                  <a:srgbClr val="526875"/>
                </a:solidFill>
                <a:latin typeface="Arial"/>
              </a:rPr>
              <a:t xml:space="preserve">Six legal outputs from one sequential run. Tactical quality still needs evaluation.</a:t>
            </a:r>
            <a:endParaRPr lang="en-US"/>
          </a:p>
        </p:txBody>
      </p:sp>
      <p:sp>
        <p:nvSpPr>
          <p:cNvPr id="7" name="Farshore / Phase 2 / 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overy and next step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Recovery and next steps</a:t>
            </a:r>
            <a:endParaRPr lang="en-US"/>
          </a:p>
        </p:txBody>
      </p:sp>
      <p:sp>
        <p:nvSpPr>
          <p:cNvPr id="3" name="Two real provider failures and one application validati"/>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Two real provider failures and one application validation failure</a:t>
            </a:r>
            <a:endParaRPr lang="en-US"/>
          </a:p>
        </p:txBody>
      </p:sp>
      <p:graphicFrame>
        <p:nvGraphicFramePr>
          <p:cNvPr id="4" name="Editable evidence table"/>
          <p:cNvGraphicFramePr/>
          <p:nvPr/>
        </p:nvGraphicFramePr>
        <p:xfrm>
          <a:off x="609600" y="1638300"/>
          <a:ext cx="10858500" cy="2103120"/>
        </p:xfrm>
        <a:graphic>
          <a:graphicData uri="http://schemas.openxmlformats.org/drawingml/2006/table">
            <a:tbl>
              <a:tblPr firstRow="1" bandRow="0"/>
              <a:tblGrid>
                <a:gridCol w="4286250"/>
                <a:gridCol w="2857500"/>
                <a:gridCol w="3714750"/>
              </a:tblGrid>
              <a:tr h="525780">
                <a:tc>
                  <a:txBody>
                    <a:bodyPr lIns="114300" rIns="114300" tIns="76200" bIns="0"/>
                    <a:lstStyle/>
                    <a:p>
                      <a:pPr>
                        <a:lnSpc>
                          <a:spcPct val="130000"/>
                        </a:lnSpc>
                      </a:pPr>
                      <a:r>
                        <a:rPr lang="en-US" sz="1800" b="1">
                          <a:solidFill>
                            <a:srgbClr val="102E40"/>
                          </a:solidFill>
                          <a:latin typeface="Arial"/>
                        </a:rPr>
                        <a:t xml:space="preserve">Triggered condition</a:t>
                      </a:r>
                      <a:endParaRPr lang="en-US"/>
                    </a:p>
                  </a:txBody>
                  <a:tcPr>
                    <a:solidFill>
                      <a:srgbClr val="DCE8EE"/>
                    </a:solidFill>
                  </a:tcPr>
                </a:tc>
                <a:tc>
                  <a:txBody>
                    <a:bodyPr lIns="114300" rIns="114300" tIns="76200" bIns="0"/>
                    <a:lstStyle/>
                    <a:p>
                      <a:pPr>
                        <a:lnSpc>
                          <a:spcPct val="130000"/>
                        </a:lnSpc>
                      </a:pPr>
                      <a:r>
                        <a:rPr lang="en-US" sz="1800" b="1">
                          <a:solidFill>
                            <a:srgbClr val="102E40"/>
                          </a:solidFill>
                          <a:latin typeface="Arial"/>
                        </a:rPr>
                        <a:t xml:space="preserve">Observed response</a:t>
                      </a:r>
                      <a:endParaRPr lang="en-US"/>
                    </a:p>
                  </a:txBody>
                  <a:tcPr>
                    <a:solidFill>
                      <a:srgbClr val="DCE8EE"/>
                    </a:solidFill>
                  </a:tcPr>
                </a:tc>
                <a:tc>
                  <a:txBody>
                    <a:bodyPr lIns="114300" rIns="114300" tIns="76200" bIns="0"/>
                    <a:lstStyle/>
                    <a:p>
                      <a:pPr>
                        <a:lnSpc>
                          <a:spcPct val="130000"/>
                        </a:lnSpc>
                      </a:pPr>
                      <a:r>
                        <a:rPr lang="en-US" sz="1800" b="1">
                          <a:solidFill>
                            <a:srgbClr val="102E40"/>
                          </a:solidFill>
                          <a:latin typeface="Arial"/>
                        </a:rPr>
                        <a:t xml:space="preserve">Designed recovery</a:t>
                      </a:r>
                      <a:endParaRPr lang="en-US"/>
                    </a:p>
                  </a:txBody>
                  <a:tcPr>
                    <a:solidFill>
                      <a:srgbClr val="DCE8EE"/>
                    </a:solidFill>
                  </a:tcPr>
                </a:tc>
              </a:tr>
              <a:tr h="525780">
                <a:tc>
                  <a:txBody>
                    <a:bodyPr lIns="114300" rIns="114300" tIns="76200" bIns="0"/>
                    <a:lstStyle/>
                    <a:p>
                      <a:pPr>
                        <a:lnSpc>
                          <a:spcPct val="130000"/>
                        </a:lnSpc>
                      </a:pPr>
                      <a:r>
                        <a:rPr lang="en-US" sz="1800" b="0">
                          <a:solidFill>
                            <a:srgbClr val="102E40"/>
                          </a:solidFill>
                          <a:latin typeface="Arial"/>
                        </a:rPr>
                        <a:t xml:space="preserve">Nonexistent model</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Provider HTTP 404</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Check / retry / local play</a:t>
                      </a:r>
                      <a:endParaRPr lang="en-US"/>
                    </a:p>
                  </a:txBody>
                  <a:tcPr>
                    <a:solidFill>
                      <a:srgbClr val="FFFFFF"/>
                    </a:solidFill>
                  </a:tcPr>
                </a:tc>
              </a:tr>
              <a:tr h="525780">
                <a:tc>
                  <a:txBody>
                    <a:bodyPr lIns="114300" rIns="114300" tIns="76200" bIns="0"/>
                    <a:lstStyle/>
                    <a:p>
                      <a:pPr>
                        <a:lnSpc>
                          <a:spcPct val="130000"/>
                        </a:lnSpc>
                      </a:pPr>
                      <a:r>
                        <a:rPr lang="en-US" sz="1800" b="0">
                          <a:solidFill>
                            <a:srgbClr val="102E40"/>
                          </a:solidFill>
                          <a:latin typeface="Arial"/>
                        </a:rPr>
                        <a:t xml:space="preserve">Malformed provider JSON</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Provider HTTP 400</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Explain / keep selections</a:t>
                      </a:r>
                      <a:endParaRPr lang="en-US"/>
                    </a:p>
                  </a:txBody>
                  <a:tcPr>
                    <a:solidFill>
                      <a:srgbClr val="FFFFFF"/>
                    </a:solidFill>
                  </a:tcPr>
                </a:tc>
              </a:tr>
              <a:tr h="525780">
                <a:tc>
                  <a:txBody>
                    <a:bodyPr lIns="114300" rIns="114300" tIns="76200" bIns="0"/>
                    <a:lstStyle/>
                    <a:p>
                      <a:pPr>
                        <a:lnSpc>
                          <a:spcPct val="130000"/>
                        </a:lnSpc>
                      </a:pPr>
                      <a:r>
                        <a:rPr lang="en-US" sz="1800" b="0">
                          <a:solidFill>
                            <a:srgbClr val="102E40"/>
                          </a:solidFill>
                          <a:latin typeface="Arial"/>
                        </a:rPr>
                        <a:t xml:space="preserve">Unsupported difficulty</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App HTTP 400</a:t>
                      </a:r>
                      <a:endParaRPr lang="en-US"/>
                    </a:p>
                  </a:txBody>
                  <a:tcPr>
                    <a:solidFill>
                      <a:srgbClr val="FFFFFF"/>
                    </a:solidFill>
                  </a:tcPr>
                </a:tc>
                <a:tc>
                  <a:txBody>
                    <a:bodyPr lIns="114300" rIns="114300" tIns="76200" bIns="0"/>
                    <a:lstStyle/>
                    <a:p>
                      <a:pPr>
                        <a:lnSpc>
                          <a:spcPct val="130000"/>
                        </a:lnSpc>
                      </a:pPr>
                      <a:r>
                        <a:rPr lang="en-US" sz="1800" b="0">
                          <a:solidFill>
                            <a:srgbClr val="102E40"/>
                          </a:solidFill>
                          <a:latin typeface="Arial"/>
                        </a:rPr>
                        <a:t xml:space="preserve">Supported-choice guidance</a:t>
                      </a:r>
                      <a:endParaRPr lang="en-US"/>
                    </a:p>
                  </a:txBody>
                  <a:tcPr>
                    <a:solidFill>
                      <a:srgbClr val="FFFFFF"/>
                    </a:solidFill>
                  </a:tcPr>
                </a:tc>
              </a:tr>
            </a:tbl>
          </a:graphicData>
        </a:graphic>
      </p:graphicFrame>
      <p:sp>
        <p:nvSpPr>
          <p:cNvPr id="5" name="Implemented"/>
          <p:cNvSpPr txBox="1"/>
          <p:nvPr/>
        </p:nvSpPr>
        <p:spPr>
          <a:xfrm>
            <a:off x="609600" y="4476750"/>
            <a:ext cx="5048250" cy="518027"/>
          </a:xfrm>
          <a:prstGeom prst="rect">
            <a:avLst/>
          </a:prstGeom>
          <a:noFill/>
          <a:ln>
            <a:noFill/>
          </a:ln>
        </p:spPr>
        <p:txBody>
          <a:bodyPr wrap="square" lIns="0" rIns="0" tIns="0" bIns="0" anchor="t">
            <a:noAutofit/>
          </a:bodyPr>
          <a:lstStyle/>
          <a:p>
            <a:pPr>
              <a:lnSpc>
                <a:spcPct val="130000"/>
              </a:lnSpc>
            </a:pPr>
            <a:r>
              <a:rPr lang="en-US" sz="2175" b="1">
                <a:solidFill>
                  <a:srgbClr val="102E40"/>
                </a:solidFill>
                <a:latin typeface="Arial"/>
              </a:rPr>
              <a:t xml:space="preserve">Implemented</a:t>
            </a:r>
            <a:endParaRPr lang="en-US"/>
          </a:p>
        </p:txBody>
      </p:sp>
      <p:sp>
        <p:nvSpPr>
          <p:cNvPr id="6" name="Elapsed time, Cancel and plan validation. Local saves, "/>
          <p:cNvSpPr txBox="1"/>
          <p:nvPr/>
        </p:nvSpPr>
        <p:spPr>
          <a:xfrm>
            <a:off x="609600" y="4962525"/>
            <a:ext cx="5048250"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Elapsed time, Cancel and plan validation.</a:t>
            </a:r>
            <a:endParaRPr lang="en-US"/>
          </a:p>
          <a:p>
            <a:pPr>
              <a:lnSpc>
                <a:spcPct val="130000"/>
              </a:lnSpc>
            </a:pPr>
            <a:r>
              <a:rPr lang="en-US" sz="1800" b="0">
                <a:solidFill>
                  <a:srgbClr val="102E40"/>
                </a:solidFill>
                <a:latin typeface="Arial"/>
              </a:rPr>
              <a:t xml:space="preserve">Local saves, practice and assistance.</a:t>
            </a:r>
            <a:endParaRPr lang="en-US"/>
          </a:p>
        </p:txBody>
      </p:sp>
      <p:sp>
        <p:nvSpPr>
          <p:cNvPr id="7" name="Proposed or awaiting evidence"/>
          <p:cNvSpPr txBox="1"/>
          <p:nvPr/>
        </p:nvSpPr>
        <p:spPr>
          <a:xfrm>
            <a:off x="6572250" y="4476750"/>
            <a:ext cx="5000625" cy="518027"/>
          </a:xfrm>
          <a:prstGeom prst="rect">
            <a:avLst/>
          </a:prstGeom>
          <a:noFill/>
          <a:ln>
            <a:noFill/>
          </a:ln>
        </p:spPr>
        <p:txBody>
          <a:bodyPr wrap="square" lIns="0" rIns="0" tIns="0" bIns="0" anchor="t">
            <a:noAutofit/>
          </a:bodyPr>
          <a:lstStyle/>
          <a:p>
            <a:pPr>
              <a:lnSpc>
                <a:spcPct val="130000"/>
              </a:lnSpc>
            </a:pPr>
            <a:r>
              <a:rPr lang="en-US" sz="2175" b="1">
                <a:solidFill>
                  <a:srgbClr val="102E40"/>
                </a:solidFill>
                <a:latin typeface="Arial"/>
              </a:rPr>
              <a:t xml:space="preserve">Proposed or awaiting evidence</a:t>
            </a:r>
            <a:endParaRPr lang="en-US"/>
          </a:p>
        </p:txBody>
      </p:sp>
      <p:sp>
        <p:nvSpPr>
          <p:cNvPr id="8" name="Discard and provider privacy detail. Interviews, peer c"/>
          <p:cNvSpPr txBox="1"/>
          <p:nvPr/>
        </p:nvSpPr>
        <p:spPr>
          <a:xfrm>
            <a:off x="6572250" y="4962525"/>
            <a:ext cx="5000625"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Discard and provider privacy detail.</a:t>
            </a:r>
            <a:endParaRPr lang="en-US"/>
          </a:p>
          <a:p>
            <a:pPr>
              <a:lnSpc>
                <a:spcPct val="130000"/>
              </a:lnSpc>
            </a:pPr>
            <a:r>
              <a:rPr lang="en-US" sz="1800" b="0">
                <a:solidFill>
                  <a:srgbClr val="102E40"/>
                </a:solidFill>
                <a:latin typeface="Arial"/>
              </a:rPr>
              <a:t xml:space="preserve">Interviews, peer critique and fairness tests.</a:t>
            </a:r>
            <a:endParaRPr lang="en-US"/>
          </a:p>
        </p:txBody>
      </p:sp>
      <p:sp>
        <p:nvSpPr>
          <p:cNvPr id="9" name="No live 429 or capacity test. Hardware and future hosti"/>
          <p:cNvSpPr txBox="1"/>
          <p:nvPr/>
        </p:nvSpPr>
        <p:spPr>
          <a:xfrm>
            <a:off x="609600" y="6000750"/>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No live 429 or capacity test. Hardware and future hosting costs are unmeasured.</a:t>
            </a:r>
            <a:endParaRPr lang="en-US"/>
          </a:p>
        </p:txBody>
      </p:sp>
      <p:sp>
        <p:nvSpPr>
          <p:cNvPr id="10" name="Farshore / Phase 2 / 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8</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