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notesMasterIdLst>
    <p:notesMasterId r:id="rId2"/>
  </p:notesMaster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20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Introduce the game: the player uses free language to guide Odysseus home before 240 months. Phase 2 focuses on the structure and behavior of the interaction. This presentation uses current code plus clearly labeled design proposals. Source: Phase 2 brief, page 1; src/lib/game.ts. Original project artwork: public/art/title.png.</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50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Maya cares about fair scoring. Daniel needs a clear start and a text option. Rosa needs to understand the model and why Odysseus refused. These references come from the Phase 1 slide, not a completed interview study. Explain that task flows carry their persona labels. Source: Farshore_Phase12nd.pptx, slide 4; phase2 editable content.</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45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Walk through Title, Introduction, Encounter and Journey report. Shared overlays hold support content without moving the voyage forward. The Encounter contains the Llama feature, optional voice input and spoken output. Settings shows model availability. Source: src/App.tsx screen and Modal types; design packet architecture.</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55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Reviewed text goes through React and the local API to Llama. The model returns text and decision flags. The server determines time and trust changes from authored rules. Accepted results live in browser localStorage. Browser/OS speech may use a remote provider, so voice is a separate privacy boundary. A cloud text endpoint would change the disclosure. Sources: server/turn.ts; src/App.tsx; src/lib/dictation.ts; https://developer.mozilla.org/en-US/docs/Web/API/SpeechRecognition; https://docs.ollama.com/api/openai-compatibility, accessed September 30, 2026.</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60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Describe the primary AI task: valid counsel, processing, structure validation, candidate review and one-time commitment. The proposed review step separates generation from consequences. It preserves a meaningful story refusal while offering a response to model contradiction. Refine counsel, regenerate or discard an unscored candidate. Current code applies a valid result immediately, so this is a Phase 2 design addition. Source: src/App.tsx submit; F2 in design packet.</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40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Voice is optional and never submits automatically. Stop dictation and review names and negation before sending. Brave on Windows uses Windows + H guidance. The browser cannot open the OS panel itself. Dictation latency and actual microphone behavior were not measured in this spike. Sources: src/lib/dictation.ts; src/App.tsx; F3.</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50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No dead end. Distinguish provider failure, invalid model structure and semantic disagreement. Keep the same draft and unchanged score on failure. Story mode is explicit and labeled. Empty JSON errors already reject. Review and discard for plausible but incorrect output are proposed. The complete packet also contains F1 start/resume and F5 consequence/report. Source: server/turn.ts and src/App.tsx recovery; F1-F5.</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65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Show the low-fidelity component structure. The game art and style can remain, but this phase isolates hierarchy and controls. Measurements require more than a spinner: proposed elapsed time and cancellation address waits above ten seconds. The success state includes a proposed unscored review checkpoint. The full packet has 26 wireframes across every screen and five states for interpretation, speech input and spoken replies. Sources: Phase 2 brief page 2; W01-W26; fresh spike.</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55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An LLM confidence percentage would mislead. Use action wording, rationale, sources and player verification. Sources explain the story, not model certainty. A questionable candidate is unscored. A practice-only undo supports learning after commitment and restores branch state. The design does not claim a reliable automatic semantic detector or content moderation system. Sources: Phase 2 brief confidence note; W06; evidence/quality-review.json.</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65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Method: standalone script uses the existing production prompt and adapter, captures raw provider bodies and times six realistic inputs. Local CPU inference, Llama 3.2 3B Q4_K_M, temperature 0.2 and 450 output-token cap. No model was loaded before S1. Report min, arithmetic mean and max across valid calls only. S4 and S5 follow requested actions but say followed=false. S6 has no requested action but says followed=true. This is a small analytic sample, not an accuracy benchmark. Sources: scripts/phase2-spike.mjs; evidence/spike-2026-09-30.json; evidence/quality-review.json.</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45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Two failures actually reached the model service and produced archived HTTP error bodies. The timeout is deliberately client-side with no received model response. Invalid counsel stops at the app boundary. No 429 was observed, and this test says nothing about sustained capacity. Local requests used no billed inference API. Do not claim an invalid API key failure for local Ollama because local keys are ignored. Sources: evidence/spike-2026-09-30.json; https://docs.ollama.com/api/openai-compatibility, accessed September 30, 2026.</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50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Close by distinguishing the working prototype from the Phase 2 design. Keep local Llama provisionally, but the decision flags need improvement and evaluation. Class critique and real research require people. Bibek owns the concept and presentation. Codex assisted with drafting, experiment code and artifacts. The contribution statement is a review draft, not an agreed team attestation. Source: phase2/contribution-statement.md, peer-critique.md and design packet. Invite the allotted 3-5 minutes of Q&amp;A after the 10-minute talk.</a:t>
            </a:r>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arshore"/>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Farshore</a:t>
            </a:r>
            <a:endParaRPr lang="en-US"/>
          </a:p>
        </p:txBody>
      </p:sp>
      <p:sp>
        <p:nvSpPr>
          <p:cNvPr id="3" name="Phase 2 / Bibek Pathak / CMPS 4200 HCI"/>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Phase 2 / Bibek Pathak / CMPS 4200 HCI</a:t>
            </a:r>
            <a:endParaRPr lang="en-US"/>
          </a:p>
        </p:txBody>
      </p:sp>
      <p:sp>
        <p:nvSpPr>
          <p:cNvPr id="4" name="The player advises. Odysseus decides."/>
          <p:cNvSpPr txBox="1"/>
          <p:nvPr/>
        </p:nvSpPr>
        <p:spPr>
          <a:xfrm>
            <a:off x="609600" y="2095500"/>
            <a:ext cx="6000750" cy="1672323"/>
          </a:xfrm>
          <a:prstGeom prst="rect">
            <a:avLst/>
          </a:prstGeom>
          <a:noFill/>
          <a:ln>
            <a:noFill/>
          </a:ln>
        </p:spPr>
        <p:txBody>
          <a:bodyPr wrap="square" lIns="0" rIns="0" tIns="0" bIns="0" anchor="t">
            <a:noAutofit/>
          </a:bodyPr>
          <a:lstStyle/>
          <a:p>
            <a:pPr>
              <a:lnSpc>
                <a:spcPct val="130000"/>
              </a:lnSpc>
            </a:pPr>
            <a:r>
              <a:rPr lang="en-US" sz="4050" b="1">
                <a:solidFill>
                  <a:srgbClr val="102E40"/>
                </a:solidFill>
                <a:latin typeface="Arial"/>
              </a:rPr>
              <a:t xml:space="preserve">The player advises.</a:t>
            </a:r>
            <a:endParaRPr lang="en-US"/>
          </a:p>
          <a:p>
            <a:pPr>
              <a:lnSpc>
                <a:spcPct val="130000"/>
              </a:lnSpc>
            </a:pPr>
            <a:r>
              <a:rPr lang="en-US" sz="4050" b="1">
                <a:solidFill>
                  <a:srgbClr val="102E40"/>
                </a:solidFill>
                <a:latin typeface="Arial"/>
              </a:rPr>
              <a:t xml:space="preserve">Odysseus decides.</a:t>
            </a:r>
            <a:endParaRPr lang="en-US"/>
          </a:p>
        </p:txBody>
      </p:sp>
      <p:sp>
        <p:nvSpPr>
          <p:cNvPr id="5" name="Information architecture, task flows and AI states"/>
          <p:cNvSpPr txBox="1"/>
          <p:nvPr/>
        </p:nvSpPr>
        <p:spPr>
          <a:xfrm>
            <a:off x="609600" y="4048125"/>
            <a:ext cx="6191250" cy="503415"/>
          </a:xfrm>
          <a:prstGeom prst="rect">
            <a:avLst/>
          </a:prstGeom>
          <a:noFill/>
          <a:ln>
            <a:noFill/>
          </a:ln>
        </p:spPr>
        <p:txBody>
          <a:bodyPr wrap="square" lIns="0" rIns="0" tIns="0" bIns="0" anchor="t">
            <a:noAutofit/>
          </a:bodyPr>
          <a:lstStyle/>
          <a:p>
            <a:pPr>
              <a:lnSpc>
                <a:spcPct val="130000"/>
              </a:lnSpc>
            </a:pPr>
            <a:r>
              <a:rPr lang="en-US" sz="2100" b="0">
                <a:solidFill>
                  <a:srgbClr val="526875"/>
                </a:solidFill>
                <a:latin typeface="Arial"/>
              </a:rPr>
              <a:t xml:space="preserve">Information architecture, task flows and AI states</a:t>
            </a:r>
            <a:endParaRPr lang="en-US"/>
          </a:p>
        </p:txBody>
      </p:sp>
      <p:pic>
        <p:nvPicPr>
          <p:cNvPr id="6" name="Original title art"/>
          <p:cNvPicPr>
            <a:picLocks noChangeAspect="1"/>
          </p:cNvPicPr>
          <p:nvPr/>
        </p:nvPicPr>
        <p:blipFill>
          <a:blip r:embed="rId3"/>
          <a:stretch>
            <a:fillRect/>
          </a:stretch>
        </p:blipFill>
        <p:spPr>
          <a:xfrm>
            <a:off x="7620000" y="1857375"/>
            <a:ext cx="3905250" cy="2667000"/>
          </a:xfrm>
          <a:prstGeom prst="rect">
            <a:avLst/>
          </a:prstGeom>
        </p:spPr>
      </p:pic>
      <p:sp>
        <p:nvSpPr>
          <p:cNvPr id="7" name="Farshore / Phase 2 / 1"/>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1</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yers and design needs"/>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Players and design needs</a:t>
            </a:r>
            <a:endParaRPr lang="en-US"/>
          </a:p>
        </p:txBody>
      </p:sp>
      <p:sp>
        <p:nvSpPr>
          <p:cNvPr id="3" name="Persona references from the Phase 1 sketches"/>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Persona references from the Phase 1 sketches</a:t>
            </a:r>
            <a:endParaRPr lang="en-US"/>
          </a:p>
        </p:txBody>
      </p:sp>
      <p:sp>
        <p:nvSpPr>
          <p:cNvPr id="4" name="Maya, 21"/>
          <p:cNvSpPr txBox="1"/>
          <p:nvPr/>
        </p:nvSpPr>
        <p:spPr>
          <a:xfrm>
            <a:off x="609600" y="1762125"/>
            <a:ext cx="3333750" cy="591083"/>
          </a:xfrm>
          <a:prstGeom prst="rect">
            <a:avLst/>
          </a:prstGeom>
          <a:noFill/>
          <a:ln>
            <a:noFill/>
          </a:ln>
        </p:spPr>
        <p:txBody>
          <a:bodyPr wrap="square" lIns="0" rIns="0" tIns="0" bIns="0" anchor="t">
            <a:noAutofit/>
          </a:bodyPr>
          <a:lstStyle/>
          <a:p>
            <a:pPr>
              <a:lnSpc>
                <a:spcPct val="130000"/>
              </a:lnSpc>
            </a:pPr>
            <a:r>
              <a:rPr lang="en-US" sz="2550" b="1">
                <a:solidFill>
                  <a:srgbClr val="102E40"/>
                </a:solidFill>
                <a:latin typeface="Arial"/>
              </a:rPr>
              <a:t xml:space="preserve">Maya, 21</a:t>
            </a:r>
            <a:endParaRPr lang="en-US"/>
          </a:p>
        </p:txBody>
      </p:sp>
      <p:sp>
        <p:nvSpPr>
          <p:cNvPr id="5" name="Reach Ithaca quickly and understand what changes the sc"/>
          <p:cNvSpPr txBox="1"/>
          <p:nvPr/>
        </p:nvSpPr>
        <p:spPr>
          <a:xfrm>
            <a:off x="609600" y="2428875"/>
            <a:ext cx="3333750" cy="123398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Reach Ithaca quickly and understand what changes the score.</a:t>
            </a:r>
            <a:endParaRPr lang="en-US"/>
          </a:p>
        </p:txBody>
      </p:sp>
      <p:sp>
        <p:nvSpPr>
          <p:cNvPr id="6" name="Fair scoring, visible consequences and a way to challen"/>
          <p:cNvSpPr txBox="1"/>
          <p:nvPr/>
        </p:nvSpPr>
        <p:spPr>
          <a:xfrm>
            <a:off x="609600" y="3619500"/>
            <a:ext cx="3333750" cy="1555432"/>
          </a:xfrm>
          <a:prstGeom prst="rect">
            <a:avLst/>
          </a:prstGeom>
          <a:noFill/>
          <a:ln>
            <a:noFill/>
          </a:ln>
        </p:spPr>
        <p:txBody>
          <a:bodyPr wrap="square" lIns="0" rIns="0" tIns="0" bIns="0" anchor="t">
            <a:noAutofit/>
          </a:bodyPr>
          <a:lstStyle/>
          <a:p>
            <a:pPr>
              <a:lnSpc>
                <a:spcPct val="130000"/>
              </a:lnSpc>
            </a:pPr>
            <a:r>
              <a:rPr lang="en-US" sz="1875" b="0">
                <a:solidFill>
                  <a:srgbClr val="126978"/>
                </a:solidFill>
                <a:latin typeface="Arial"/>
              </a:rPr>
              <a:t xml:space="preserve">Fair scoring, visible consequences and a way to challenge a contradictory interpretation.</a:t>
            </a:r>
            <a:endParaRPr lang="en-US"/>
          </a:p>
        </p:txBody>
      </p:sp>
      <p:sp>
        <p:nvSpPr>
          <p:cNvPr id="7" name="Daniel, 19"/>
          <p:cNvSpPr txBox="1"/>
          <p:nvPr/>
        </p:nvSpPr>
        <p:spPr>
          <a:xfrm>
            <a:off x="4438650" y="1762125"/>
            <a:ext cx="3333750" cy="591083"/>
          </a:xfrm>
          <a:prstGeom prst="rect">
            <a:avLst/>
          </a:prstGeom>
          <a:noFill/>
          <a:ln>
            <a:noFill/>
          </a:ln>
        </p:spPr>
        <p:txBody>
          <a:bodyPr wrap="square" lIns="0" rIns="0" tIns="0" bIns="0" anchor="t">
            <a:noAutofit/>
          </a:bodyPr>
          <a:lstStyle/>
          <a:p>
            <a:pPr>
              <a:lnSpc>
                <a:spcPct val="130000"/>
              </a:lnSpc>
            </a:pPr>
            <a:r>
              <a:rPr lang="en-US" sz="2550" b="1">
                <a:solidFill>
                  <a:srgbClr val="102E40"/>
                </a:solidFill>
                <a:latin typeface="Arial"/>
              </a:rPr>
              <a:t xml:space="preserve">Daniel, 19</a:t>
            </a:r>
            <a:endParaRPr lang="en-US"/>
          </a:p>
        </p:txBody>
      </p:sp>
      <p:sp>
        <p:nvSpPr>
          <p:cNvPr id="8" name="Experience the poem through play without a technical se"/>
          <p:cNvSpPr txBox="1"/>
          <p:nvPr/>
        </p:nvSpPr>
        <p:spPr>
          <a:xfrm>
            <a:off x="4438650" y="2428875"/>
            <a:ext cx="3333750" cy="123398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Experience the poem through play without a technical setup burden.</a:t>
            </a:r>
            <a:endParaRPr lang="en-US"/>
          </a:p>
        </p:txBody>
      </p:sp>
      <p:sp>
        <p:nvSpPr>
          <p:cNvPr id="9" name="A clear first turn, plain controls, story context and t"/>
          <p:cNvSpPr txBox="1"/>
          <p:nvPr/>
        </p:nvSpPr>
        <p:spPr>
          <a:xfrm>
            <a:off x="4438650" y="3619500"/>
            <a:ext cx="3333750" cy="1190149"/>
          </a:xfrm>
          <a:prstGeom prst="rect">
            <a:avLst/>
          </a:prstGeom>
          <a:noFill/>
          <a:ln>
            <a:noFill/>
          </a:ln>
        </p:spPr>
        <p:txBody>
          <a:bodyPr wrap="square" lIns="0" rIns="0" tIns="0" bIns="0" anchor="t">
            <a:noAutofit/>
          </a:bodyPr>
          <a:lstStyle/>
          <a:p>
            <a:pPr>
              <a:lnSpc>
                <a:spcPct val="130000"/>
              </a:lnSpc>
            </a:pPr>
            <a:r>
              <a:rPr lang="en-US" sz="1875" b="0">
                <a:solidFill>
                  <a:srgbClr val="126978"/>
                </a:solidFill>
                <a:latin typeface="Arial"/>
              </a:rPr>
              <a:t xml:space="preserve">A clear first turn, plain controls, story context and typing when voice fails.</a:t>
            </a:r>
            <a:endParaRPr lang="en-US"/>
          </a:p>
        </p:txBody>
      </p:sp>
      <p:sp>
        <p:nvSpPr>
          <p:cNvPr id="10" name="Rosa, 34"/>
          <p:cNvSpPr txBox="1"/>
          <p:nvPr/>
        </p:nvSpPr>
        <p:spPr>
          <a:xfrm>
            <a:off x="8267700" y="1762125"/>
            <a:ext cx="3333750" cy="591083"/>
          </a:xfrm>
          <a:prstGeom prst="rect">
            <a:avLst/>
          </a:prstGeom>
          <a:noFill/>
          <a:ln>
            <a:noFill/>
          </a:ln>
        </p:spPr>
        <p:txBody>
          <a:bodyPr wrap="square" lIns="0" rIns="0" tIns="0" bIns="0" anchor="t">
            <a:noAutofit/>
          </a:bodyPr>
          <a:lstStyle/>
          <a:p>
            <a:pPr>
              <a:lnSpc>
                <a:spcPct val="130000"/>
              </a:lnSpc>
            </a:pPr>
            <a:r>
              <a:rPr lang="en-US" sz="2550" b="1">
                <a:solidFill>
                  <a:srgbClr val="102E40"/>
                </a:solidFill>
                <a:latin typeface="Arial"/>
              </a:rPr>
              <a:t xml:space="preserve">Rosa, 34</a:t>
            </a:r>
            <a:endParaRPr lang="en-US"/>
          </a:p>
        </p:txBody>
      </p:sp>
      <p:sp>
        <p:nvSpPr>
          <p:cNvPr id="11" name="Understand why Odysseus accepts or refuses advice."/>
          <p:cNvSpPr txBox="1"/>
          <p:nvPr/>
        </p:nvSpPr>
        <p:spPr>
          <a:xfrm>
            <a:off x="8267700" y="2428875"/>
            <a:ext cx="3333750" cy="854088"/>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Understand why Odysseus accepts or refuses advice.</a:t>
            </a:r>
            <a:endParaRPr lang="en-US"/>
          </a:p>
        </p:txBody>
      </p:sp>
      <p:sp>
        <p:nvSpPr>
          <p:cNvPr id="12" name="Visible AI mode, a short rationale, privacy information"/>
          <p:cNvSpPr txBox="1"/>
          <p:nvPr/>
        </p:nvSpPr>
        <p:spPr>
          <a:xfrm>
            <a:off x="8267700" y="3619500"/>
            <a:ext cx="3333750" cy="1555432"/>
          </a:xfrm>
          <a:prstGeom prst="rect">
            <a:avLst/>
          </a:prstGeom>
          <a:noFill/>
          <a:ln>
            <a:noFill/>
          </a:ln>
        </p:spPr>
        <p:txBody>
          <a:bodyPr wrap="square" lIns="0" rIns="0" tIns="0" bIns="0" anchor="t">
            <a:noAutofit/>
          </a:bodyPr>
          <a:lstStyle/>
          <a:p>
            <a:pPr>
              <a:lnSpc>
                <a:spcPct val="130000"/>
              </a:lnSpc>
            </a:pPr>
            <a:r>
              <a:rPr lang="en-US" sz="1875" b="0">
                <a:solidFill>
                  <a:srgbClr val="126978"/>
                </a:solidFill>
                <a:latin typeface="Arial"/>
              </a:rPr>
              <a:t xml:space="preserve">Visible AI mode, a short rationale, privacy information and control over questionable results.</a:t>
            </a:r>
            <a:endParaRPr lang="en-US"/>
          </a:p>
        </p:txBody>
      </p:sp>
      <p:sp>
        <p:nvSpPr>
          <p:cNvPr id="13" name="Provisional persona sketches. Interview evidence was no"/>
          <p:cNvSpPr txBox="1"/>
          <p:nvPr/>
        </p:nvSpPr>
        <p:spPr>
          <a:xfrm>
            <a:off x="609600" y="5715000"/>
            <a:ext cx="10953750" cy="444970"/>
          </a:xfrm>
          <a:prstGeom prst="rect">
            <a:avLst/>
          </a:prstGeom>
          <a:noFill/>
          <a:ln>
            <a:noFill/>
          </a:ln>
        </p:spPr>
        <p:txBody>
          <a:bodyPr wrap="square" lIns="0" rIns="0" tIns="0" bIns="0" anchor="t">
            <a:noAutofit/>
          </a:bodyPr>
          <a:lstStyle/>
          <a:p>
            <a:pPr>
              <a:lnSpc>
                <a:spcPct val="130000"/>
              </a:lnSpc>
            </a:pPr>
            <a:r>
              <a:rPr lang="en-US" sz="1800" b="0">
                <a:solidFill>
                  <a:srgbClr val="526875"/>
                </a:solidFill>
                <a:latin typeface="Arial"/>
              </a:rPr>
              <a:t xml:space="preserve">Provisional persona sketches. Interview evidence was not supplied.</a:t>
            </a:r>
            <a:endParaRPr lang="en-US"/>
          </a:p>
        </p:txBody>
      </p:sp>
      <p:sp>
        <p:nvSpPr>
          <p:cNvPr id="14" name="Farshore / Phase 2 / 2"/>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reen hierarchy"/>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Screen hierarchy</a:t>
            </a:r>
            <a:endParaRPr lang="en-US"/>
          </a:p>
        </p:txBody>
      </p:sp>
      <p:sp>
        <p:nvSpPr>
          <p:cNvPr id="3" name="All current screens and shared overlays"/>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All current screens and shared overlays</a:t>
            </a:r>
            <a:endParaRPr lang="en-US"/>
          </a:p>
        </p:txBody>
      </p:sp>
      <p:sp>
        <p:nvSpPr>
          <p:cNvPr id="4" name="rect"/>
          <p:cNvSpPr txBox="0"/>
          <p:nvPr/>
        </p:nvSpPr>
        <p:spPr>
          <a:xfrm>
            <a:off x="4953000" y="1619250"/>
            <a:ext cx="2280285" cy="437649"/>
          </a:xfrm>
          <a:prstGeom prst="rect">
            <a:avLst/>
          </a:prstGeom>
          <a:solidFill>
            <a:srgbClr val="F7FAFB"/>
          </a:solidFill>
          <a:ln w="12700">
            <a:solidFill>
              <a:srgbClr val="79909B"/>
            </a:solidFill>
          </a:ln>
        </p:spPr>
      </p:sp>
      <p:sp>
        <p:nvSpPr>
          <p:cNvPr id="5" name="Farshore"/>
          <p:cNvSpPr txBox="1"/>
          <p:nvPr/>
        </p:nvSpPr>
        <p:spPr>
          <a:xfrm>
            <a:off x="5083302" y="1732714"/>
            <a:ext cx="2019681" cy="460750"/>
          </a:xfrm>
          <a:prstGeom prst="rect">
            <a:avLst/>
          </a:prstGeom>
          <a:noFill/>
          <a:ln>
            <a:noFill/>
          </a:ln>
        </p:spPr>
        <p:txBody>
          <a:bodyPr wrap="square" lIns="0" rIns="0" tIns="0" bIns="0" anchor="t">
            <a:noAutofit/>
          </a:bodyPr>
          <a:lstStyle/>
          <a:p>
            <a:pPr>
              <a:lnSpc>
                <a:spcPct val="130000"/>
              </a:lnSpc>
            </a:pPr>
            <a:r>
              <a:rPr lang="en-US" sz="1881" b="1">
                <a:solidFill>
                  <a:srgbClr val="102E40"/>
                </a:solidFill>
                <a:latin typeface="Arial"/>
              </a:rPr>
              <a:t xml:space="preserve">Farshore</a:t>
            </a:r>
            <a:endParaRPr lang="en-US"/>
          </a:p>
        </p:txBody>
      </p:sp>
      <p:sp>
        <p:nvSpPr>
          <p:cNvPr id="6" name="rect"/>
          <p:cNvSpPr txBox="0"/>
          <p:nvPr/>
        </p:nvSpPr>
        <p:spPr>
          <a:xfrm>
            <a:off x="935355" y="2470234"/>
            <a:ext cx="2497455" cy="445753"/>
          </a:xfrm>
          <a:prstGeom prst="rect">
            <a:avLst/>
          </a:prstGeom>
          <a:solidFill>
            <a:srgbClr val="F7FAFB"/>
          </a:solidFill>
          <a:ln w="12700">
            <a:solidFill>
              <a:srgbClr val="79909B"/>
            </a:solidFill>
          </a:ln>
        </p:spPr>
      </p:sp>
      <p:sp>
        <p:nvSpPr>
          <p:cNvPr id="7" name="S01 Title"/>
          <p:cNvSpPr txBox="1"/>
          <p:nvPr/>
        </p:nvSpPr>
        <p:spPr>
          <a:xfrm>
            <a:off x="1065657" y="2583698"/>
            <a:ext cx="2236851" cy="460750"/>
          </a:xfrm>
          <a:prstGeom prst="rect">
            <a:avLst/>
          </a:prstGeom>
          <a:noFill/>
          <a:ln>
            <a:noFill/>
          </a:ln>
        </p:spPr>
        <p:txBody>
          <a:bodyPr wrap="square" lIns="0" rIns="0" tIns="0" bIns="0" anchor="t">
            <a:noAutofit/>
          </a:bodyPr>
          <a:lstStyle/>
          <a:p>
            <a:pPr>
              <a:lnSpc>
                <a:spcPct val="130000"/>
              </a:lnSpc>
            </a:pPr>
            <a:r>
              <a:rPr lang="en-US" sz="1881" b="1">
                <a:solidFill>
                  <a:srgbClr val="102E40"/>
                </a:solidFill>
                <a:latin typeface="Arial"/>
              </a:rPr>
              <a:t xml:space="preserve">S01 Title</a:t>
            </a:r>
            <a:endParaRPr lang="en-US"/>
          </a:p>
        </p:txBody>
      </p:sp>
      <p:sp>
        <p:nvSpPr>
          <p:cNvPr id="8" name="rect"/>
          <p:cNvSpPr txBox="0"/>
          <p:nvPr/>
        </p:nvSpPr>
        <p:spPr>
          <a:xfrm>
            <a:off x="4355782" y="2470234"/>
            <a:ext cx="3094672" cy="445753"/>
          </a:xfrm>
          <a:prstGeom prst="rect">
            <a:avLst/>
          </a:prstGeom>
          <a:solidFill>
            <a:srgbClr val="F7FAFB"/>
          </a:solidFill>
          <a:ln w="12700">
            <a:solidFill>
              <a:srgbClr val="79909B"/>
            </a:solidFill>
          </a:ln>
        </p:spPr>
      </p:sp>
      <p:sp>
        <p:nvSpPr>
          <p:cNvPr id="9" name="S02 Introduction"/>
          <p:cNvSpPr txBox="1"/>
          <p:nvPr/>
        </p:nvSpPr>
        <p:spPr>
          <a:xfrm>
            <a:off x="4486084" y="2583698"/>
            <a:ext cx="2834068" cy="460750"/>
          </a:xfrm>
          <a:prstGeom prst="rect">
            <a:avLst/>
          </a:prstGeom>
          <a:noFill/>
          <a:ln>
            <a:noFill/>
          </a:ln>
        </p:spPr>
        <p:txBody>
          <a:bodyPr wrap="square" lIns="0" rIns="0" tIns="0" bIns="0" anchor="t">
            <a:noAutofit/>
          </a:bodyPr>
          <a:lstStyle/>
          <a:p>
            <a:pPr>
              <a:lnSpc>
                <a:spcPct val="130000"/>
              </a:lnSpc>
            </a:pPr>
            <a:r>
              <a:rPr lang="en-US" sz="1881" b="1">
                <a:solidFill>
                  <a:srgbClr val="102E40"/>
                </a:solidFill>
                <a:latin typeface="Arial"/>
              </a:rPr>
              <a:t xml:space="preserve">S02 Introduction</a:t>
            </a:r>
            <a:endParaRPr lang="en-US"/>
          </a:p>
        </p:txBody>
      </p:sp>
      <p:sp>
        <p:nvSpPr>
          <p:cNvPr id="10" name="rect"/>
          <p:cNvSpPr txBox="0"/>
          <p:nvPr/>
        </p:nvSpPr>
        <p:spPr>
          <a:xfrm>
            <a:off x="8319135" y="2470234"/>
            <a:ext cx="3040380" cy="445753"/>
          </a:xfrm>
          <a:prstGeom prst="rect">
            <a:avLst/>
          </a:prstGeom>
          <a:solidFill>
            <a:srgbClr val="F7FAFB"/>
          </a:solidFill>
          <a:ln w="12700">
            <a:solidFill>
              <a:srgbClr val="79909B"/>
            </a:solidFill>
          </a:ln>
        </p:spPr>
      </p:sp>
      <p:sp>
        <p:nvSpPr>
          <p:cNvPr id="11" name="S03 Encounter [A1-A3]"/>
          <p:cNvSpPr txBox="1"/>
          <p:nvPr/>
        </p:nvSpPr>
        <p:spPr>
          <a:xfrm>
            <a:off x="8449437" y="2583698"/>
            <a:ext cx="2779776" cy="460750"/>
          </a:xfrm>
          <a:prstGeom prst="rect">
            <a:avLst/>
          </a:prstGeom>
          <a:noFill/>
          <a:ln>
            <a:noFill/>
          </a:ln>
        </p:spPr>
        <p:txBody>
          <a:bodyPr wrap="square" lIns="0" rIns="0" tIns="0" bIns="0" anchor="t">
            <a:noAutofit/>
          </a:bodyPr>
          <a:lstStyle/>
          <a:p>
            <a:pPr>
              <a:lnSpc>
                <a:spcPct val="130000"/>
              </a:lnSpc>
            </a:pPr>
            <a:r>
              <a:rPr lang="en-US" sz="1881" b="1">
                <a:solidFill>
                  <a:srgbClr val="102E40"/>
                </a:solidFill>
                <a:latin typeface="Arial"/>
              </a:rPr>
              <a:t xml:space="preserve">S03 Encounter [A1-A3]</a:t>
            </a:r>
            <a:endParaRPr lang="en-US"/>
          </a:p>
        </p:txBody>
      </p:sp>
      <p:sp>
        <p:nvSpPr>
          <p:cNvPr id="12" name="rect"/>
          <p:cNvSpPr txBox="0"/>
          <p:nvPr/>
        </p:nvSpPr>
        <p:spPr>
          <a:xfrm>
            <a:off x="8319135" y="3483309"/>
            <a:ext cx="3040380" cy="445753"/>
          </a:xfrm>
          <a:prstGeom prst="rect">
            <a:avLst/>
          </a:prstGeom>
          <a:solidFill>
            <a:srgbClr val="F7FAFB"/>
          </a:solidFill>
          <a:ln w="12700">
            <a:solidFill>
              <a:srgbClr val="79909B"/>
            </a:solidFill>
          </a:ln>
        </p:spPr>
      </p:sp>
      <p:sp>
        <p:nvSpPr>
          <p:cNvPr id="13" name="S04 Journey report"/>
          <p:cNvSpPr txBox="1"/>
          <p:nvPr/>
        </p:nvSpPr>
        <p:spPr>
          <a:xfrm>
            <a:off x="8449437" y="3596774"/>
            <a:ext cx="2779776" cy="460750"/>
          </a:xfrm>
          <a:prstGeom prst="rect">
            <a:avLst/>
          </a:prstGeom>
          <a:noFill/>
          <a:ln>
            <a:noFill/>
          </a:ln>
        </p:spPr>
        <p:txBody>
          <a:bodyPr wrap="square" lIns="0" rIns="0" tIns="0" bIns="0" anchor="t">
            <a:noAutofit/>
          </a:bodyPr>
          <a:lstStyle/>
          <a:p>
            <a:pPr>
              <a:lnSpc>
                <a:spcPct val="130000"/>
              </a:lnSpc>
            </a:pPr>
            <a:r>
              <a:rPr lang="en-US" sz="1881" b="1">
                <a:solidFill>
                  <a:srgbClr val="102E40"/>
                </a:solidFill>
                <a:latin typeface="Arial"/>
              </a:rPr>
              <a:t xml:space="preserve">S04 Journey report</a:t>
            </a:r>
            <a:endParaRPr lang="en-US"/>
          </a:p>
        </p:txBody>
      </p:sp>
      <p:sp>
        <p:nvSpPr>
          <p:cNvPr id="14" name="rect"/>
          <p:cNvSpPr txBox="0"/>
          <p:nvPr/>
        </p:nvSpPr>
        <p:spPr>
          <a:xfrm>
            <a:off x="935355" y="3483309"/>
            <a:ext cx="6515100" cy="445753"/>
          </a:xfrm>
          <a:prstGeom prst="rect">
            <a:avLst/>
          </a:prstGeom>
          <a:solidFill>
            <a:srgbClr val="F7FAFB"/>
          </a:solidFill>
          <a:ln w="12700">
            <a:solidFill>
              <a:srgbClr val="79909B"/>
            </a:solidFill>
          </a:ln>
        </p:spPr>
      </p:sp>
      <p:sp>
        <p:nvSpPr>
          <p:cNvPr id="15" name="Shared overlays"/>
          <p:cNvSpPr txBox="1"/>
          <p:nvPr/>
        </p:nvSpPr>
        <p:spPr>
          <a:xfrm>
            <a:off x="1065657" y="3596774"/>
            <a:ext cx="6254496" cy="460750"/>
          </a:xfrm>
          <a:prstGeom prst="rect">
            <a:avLst/>
          </a:prstGeom>
          <a:noFill/>
          <a:ln>
            <a:noFill/>
          </a:ln>
        </p:spPr>
        <p:txBody>
          <a:bodyPr wrap="square" lIns="0" rIns="0" tIns="0" bIns="0" anchor="t">
            <a:noAutofit/>
          </a:bodyPr>
          <a:lstStyle/>
          <a:p>
            <a:pPr>
              <a:lnSpc>
                <a:spcPct val="130000"/>
              </a:lnSpc>
            </a:pPr>
            <a:r>
              <a:rPr lang="en-US" sz="1881" b="1">
                <a:solidFill>
                  <a:srgbClr val="102E40"/>
                </a:solidFill>
                <a:latin typeface="Arial"/>
              </a:rPr>
              <a:t xml:space="preserve">Shared overlays</a:t>
            </a:r>
            <a:endParaRPr lang="en-US"/>
          </a:p>
        </p:txBody>
      </p:sp>
      <p:cxnSp>
        <p:nvCxnSpPr>
          <p:cNvPr id="16" name="Connector 16"/>
          <p:cNvCxnSpPr/>
          <p:nvPr/>
        </p:nvCxnSpPr>
        <p:spPr>
          <a:xfrm flipH="1">
            <a:off x="2184082" y="1846179"/>
            <a:ext cx="2768918" cy="624055"/>
          </a:xfrm>
          <a:prstGeom prst="line">
            <a:avLst/>
          </a:prstGeom>
          <a:ln w="19050">
            <a:solidFill>
              <a:srgbClr val="526875"/>
            </a:solidFill>
            <a:tailEnd type="triangle"/>
          </a:ln>
        </p:spPr>
      </p:cxnSp>
      <p:cxnSp>
        <p:nvCxnSpPr>
          <p:cNvPr id="17" name="Connector 17"/>
          <p:cNvCxnSpPr/>
          <p:nvPr/>
        </p:nvCxnSpPr>
        <p:spPr>
          <a:xfrm flipH="1">
            <a:off x="5897689" y="2056899"/>
            <a:ext cx="195453" cy="413335"/>
          </a:xfrm>
          <a:prstGeom prst="line">
            <a:avLst/>
          </a:prstGeom>
          <a:ln w="19050">
            <a:solidFill>
              <a:srgbClr val="526875"/>
            </a:solidFill>
            <a:tailEnd type="triangle"/>
          </a:ln>
        </p:spPr>
      </p:cxnSp>
      <p:cxnSp>
        <p:nvCxnSpPr>
          <p:cNvPr id="18" name="Connector 18"/>
          <p:cNvCxnSpPr/>
          <p:nvPr/>
        </p:nvCxnSpPr>
        <p:spPr>
          <a:xfrm>
            <a:off x="7233285" y="1846179"/>
            <a:ext cx="2606040" cy="624055"/>
          </a:xfrm>
          <a:prstGeom prst="line">
            <a:avLst/>
          </a:prstGeom>
          <a:ln w="19050">
            <a:solidFill>
              <a:srgbClr val="526875"/>
            </a:solidFill>
            <a:tailEnd type="triangle"/>
          </a:ln>
        </p:spPr>
      </p:cxnSp>
      <p:cxnSp>
        <p:nvCxnSpPr>
          <p:cNvPr id="19" name="Connector 19"/>
          <p:cNvCxnSpPr/>
          <p:nvPr/>
        </p:nvCxnSpPr>
        <p:spPr>
          <a:xfrm>
            <a:off x="3432810" y="2689058"/>
            <a:ext cx="922972" cy="0"/>
          </a:xfrm>
          <a:prstGeom prst="line">
            <a:avLst/>
          </a:prstGeom>
          <a:ln w="19050">
            <a:solidFill>
              <a:srgbClr val="526875"/>
            </a:solidFill>
            <a:tailEnd type="triangle"/>
          </a:ln>
        </p:spPr>
      </p:cxnSp>
      <p:cxnSp>
        <p:nvCxnSpPr>
          <p:cNvPr id="20" name="Connector 20"/>
          <p:cNvCxnSpPr/>
          <p:nvPr/>
        </p:nvCxnSpPr>
        <p:spPr>
          <a:xfrm>
            <a:off x="7450455" y="2689058"/>
            <a:ext cx="868680" cy="0"/>
          </a:xfrm>
          <a:prstGeom prst="line">
            <a:avLst/>
          </a:prstGeom>
          <a:ln w="19050">
            <a:solidFill>
              <a:srgbClr val="526875"/>
            </a:solidFill>
            <a:tailEnd type="triangle"/>
          </a:ln>
        </p:spPr>
      </p:cxnSp>
      <p:cxnSp>
        <p:nvCxnSpPr>
          <p:cNvPr id="21" name="Connector 21"/>
          <p:cNvCxnSpPr/>
          <p:nvPr/>
        </p:nvCxnSpPr>
        <p:spPr>
          <a:xfrm>
            <a:off x="9839325" y="2915987"/>
            <a:ext cx="0" cy="567322"/>
          </a:xfrm>
          <a:prstGeom prst="line">
            <a:avLst/>
          </a:prstGeom>
          <a:ln w="19050">
            <a:solidFill>
              <a:srgbClr val="526875"/>
            </a:solidFill>
            <a:tailEnd type="triangle"/>
          </a:ln>
        </p:spPr>
      </p:cxnSp>
      <p:cxnSp>
        <p:nvCxnSpPr>
          <p:cNvPr id="22" name="Connector 22"/>
          <p:cNvCxnSpPr/>
          <p:nvPr/>
        </p:nvCxnSpPr>
        <p:spPr>
          <a:xfrm>
            <a:off x="2184082" y="2915987"/>
            <a:ext cx="0" cy="567322"/>
          </a:xfrm>
          <a:prstGeom prst="line">
            <a:avLst/>
          </a:prstGeom>
          <a:ln w="19050">
            <a:solidFill>
              <a:srgbClr val="526875"/>
            </a:solidFill>
            <a:tailEnd type="triangle"/>
          </a:ln>
        </p:spPr>
      </p:cxnSp>
      <p:sp>
        <p:nvSpPr>
          <p:cNvPr id="23" name="S05 Pause     S06 Characters     S07 Voyage map"/>
          <p:cNvSpPr txBox="1"/>
          <p:nvPr/>
        </p:nvSpPr>
        <p:spPr>
          <a:xfrm>
            <a:off x="1098232" y="4172201"/>
            <a:ext cx="6623685" cy="460750"/>
          </a:xfrm>
          <a:prstGeom prst="rect">
            <a:avLst/>
          </a:prstGeom>
          <a:noFill/>
          <a:ln>
            <a:noFill/>
          </a:ln>
        </p:spPr>
        <p:txBody>
          <a:bodyPr wrap="square" lIns="0" rIns="0" tIns="0" bIns="0" anchor="t">
            <a:noAutofit/>
          </a:bodyPr>
          <a:lstStyle/>
          <a:p>
            <a:pPr>
              <a:lnSpc>
                <a:spcPct val="130000"/>
              </a:lnSpc>
            </a:pPr>
            <a:r>
              <a:rPr lang="en-US" sz="1881" b="0">
                <a:solidFill>
                  <a:srgbClr val="102E40"/>
                </a:solidFill>
                <a:latin typeface="Arial"/>
              </a:rPr>
              <a:t xml:space="preserve">S05 Pause     S06 Characters     S07 Voyage map</a:t>
            </a:r>
            <a:endParaRPr lang="en-US"/>
          </a:p>
        </p:txBody>
      </p:sp>
      <p:sp>
        <p:nvSpPr>
          <p:cNvPr id="24" name="S08 Log     S09 How to play     S10 Story &amp; sources"/>
          <p:cNvSpPr txBox="1"/>
          <p:nvPr/>
        </p:nvSpPr>
        <p:spPr>
          <a:xfrm>
            <a:off x="1098232" y="4536908"/>
            <a:ext cx="6840855" cy="460750"/>
          </a:xfrm>
          <a:prstGeom prst="rect">
            <a:avLst/>
          </a:prstGeom>
          <a:noFill/>
          <a:ln>
            <a:noFill/>
          </a:ln>
        </p:spPr>
        <p:txBody>
          <a:bodyPr wrap="square" lIns="0" rIns="0" tIns="0" bIns="0" anchor="t">
            <a:noAutofit/>
          </a:bodyPr>
          <a:lstStyle/>
          <a:p>
            <a:pPr>
              <a:lnSpc>
                <a:spcPct val="130000"/>
              </a:lnSpc>
            </a:pPr>
            <a:r>
              <a:rPr lang="en-US" sz="1881" b="0">
                <a:solidFill>
                  <a:srgbClr val="102E40"/>
                </a:solidFill>
                <a:latin typeface="Arial"/>
              </a:rPr>
              <a:t xml:space="preserve">S08 Log     S09 How to play     S10 Story &amp; sources</a:t>
            </a:r>
            <a:endParaRPr lang="en-US"/>
          </a:p>
        </p:txBody>
      </p:sp>
      <p:sp>
        <p:nvSpPr>
          <p:cNvPr id="25" name="S11 Settings     S12 New voyage confirmation"/>
          <p:cNvSpPr txBox="1"/>
          <p:nvPr/>
        </p:nvSpPr>
        <p:spPr>
          <a:xfrm>
            <a:off x="1098232" y="4901615"/>
            <a:ext cx="6840855" cy="460750"/>
          </a:xfrm>
          <a:prstGeom prst="rect">
            <a:avLst/>
          </a:prstGeom>
          <a:noFill/>
          <a:ln>
            <a:noFill/>
          </a:ln>
        </p:spPr>
        <p:txBody>
          <a:bodyPr wrap="square" lIns="0" rIns="0" tIns="0" bIns="0" anchor="t">
            <a:noAutofit/>
          </a:bodyPr>
          <a:lstStyle/>
          <a:p>
            <a:pPr>
              <a:lnSpc>
                <a:spcPct val="130000"/>
              </a:lnSpc>
            </a:pPr>
            <a:r>
              <a:rPr lang="en-US" sz="1881" b="0">
                <a:solidFill>
                  <a:srgbClr val="102E40"/>
                </a:solidFill>
                <a:latin typeface="Arial"/>
              </a:rPr>
              <a:t xml:space="preserve">S11 Settings     S12 New voyage confirmation</a:t>
            </a:r>
            <a:endParaRPr lang="en-US"/>
          </a:p>
        </p:txBody>
      </p:sp>
      <p:sp>
        <p:nvSpPr>
          <p:cNvPr id="26" name="Overlays return to their invoking screen. Encounter sta"/>
          <p:cNvSpPr txBox="1"/>
          <p:nvPr/>
        </p:nvSpPr>
        <p:spPr>
          <a:xfrm>
            <a:off x="935355" y="5549984"/>
            <a:ext cx="9989820" cy="760575"/>
          </a:xfrm>
          <a:prstGeom prst="rect">
            <a:avLst/>
          </a:prstGeom>
          <a:noFill/>
          <a:ln>
            <a:noFill/>
          </a:ln>
        </p:spPr>
        <p:txBody>
          <a:bodyPr wrap="square" lIns="0" rIns="0" tIns="0" bIns="0" anchor="t">
            <a:noAutofit/>
          </a:bodyPr>
          <a:lstStyle/>
          <a:p>
            <a:pPr>
              <a:lnSpc>
                <a:spcPct val="130000"/>
              </a:lnSpc>
            </a:pPr>
            <a:r>
              <a:rPr lang="en-US" sz="1710" b="0">
                <a:solidFill>
                  <a:srgbClr val="526875"/>
                </a:solidFill>
                <a:latin typeface="Arial"/>
              </a:rPr>
              <a:t xml:space="preserve">Overlays return to their invoking screen. Encounter states include input, processing, review, uncertainty and errors.</a:t>
            </a:r>
            <a:endParaRPr lang="en-US"/>
          </a:p>
        </p:txBody>
      </p:sp>
      <p:sp>
        <p:nvSpPr>
          <p:cNvPr id="27" name="Farshore / Phase 2 / 3"/>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Data flow and privacy"/>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Data flow and privacy</a:t>
            </a:r>
            <a:endParaRPr lang="en-US"/>
          </a:p>
        </p:txBody>
      </p:sp>
      <p:sp>
        <p:nvSpPr>
          <p:cNvPr id="3" name="Local text inference with separate browser/OS voice ser"/>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Local text inference with separate browser/OS voice services</a:t>
            </a:r>
            <a:endParaRPr lang="en-US"/>
          </a:p>
        </p:txBody>
      </p:sp>
      <p:sp>
        <p:nvSpPr>
          <p:cNvPr id="4" name="rect"/>
          <p:cNvSpPr txBox="0"/>
          <p:nvPr/>
        </p:nvSpPr>
        <p:spPr>
          <a:xfrm>
            <a:off x="609600" y="1619250"/>
            <a:ext cx="2334577" cy="510507"/>
          </a:xfrm>
          <a:prstGeom prst="rect">
            <a:avLst/>
          </a:prstGeom>
          <a:solidFill>
            <a:srgbClr val="F7FAFB"/>
          </a:solidFill>
          <a:ln w="12700">
            <a:solidFill>
              <a:srgbClr val="79909B"/>
            </a:solidFill>
          </a:ln>
        </p:spPr>
      </p:sp>
      <p:sp>
        <p:nvSpPr>
          <p:cNvPr id="5" name="Player counsel"/>
          <p:cNvSpPr txBox="1"/>
          <p:nvPr/>
        </p:nvSpPr>
        <p:spPr>
          <a:xfrm>
            <a:off x="739902" y="1744913"/>
            <a:ext cx="2073973" cy="444093"/>
          </a:xfrm>
          <a:prstGeom prst="rect">
            <a:avLst/>
          </a:prstGeom>
          <a:noFill/>
          <a:ln>
            <a:noFill/>
          </a:ln>
        </p:spPr>
        <p:txBody>
          <a:bodyPr wrap="square" lIns="0" rIns="0" tIns="0" bIns="0" anchor="t">
            <a:noAutofit/>
          </a:bodyPr>
          <a:lstStyle/>
          <a:p>
            <a:pPr>
              <a:lnSpc>
                <a:spcPct val="130000"/>
              </a:lnSpc>
            </a:pPr>
            <a:r>
              <a:rPr lang="en-US" sz="1795" b="1">
                <a:solidFill>
                  <a:srgbClr val="102E40"/>
                </a:solidFill>
                <a:latin typeface="Arial"/>
              </a:rPr>
              <a:t xml:space="preserve">Player counsel</a:t>
            </a:r>
            <a:endParaRPr lang="en-US"/>
          </a:p>
        </p:txBody>
      </p:sp>
      <p:sp>
        <p:nvSpPr>
          <p:cNvPr id="6" name="rect"/>
          <p:cNvSpPr txBox="0"/>
          <p:nvPr/>
        </p:nvSpPr>
        <p:spPr>
          <a:xfrm>
            <a:off x="4410075" y="1619250"/>
            <a:ext cx="2877502" cy="510507"/>
          </a:xfrm>
          <a:prstGeom prst="rect">
            <a:avLst/>
          </a:prstGeom>
          <a:solidFill>
            <a:srgbClr val="F7FAFB"/>
          </a:solidFill>
          <a:ln w="12700">
            <a:solidFill>
              <a:srgbClr val="79909B"/>
            </a:solidFill>
          </a:ln>
        </p:spPr>
      </p:sp>
      <p:sp>
        <p:nvSpPr>
          <p:cNvPr id="7" name="React input review"/>
          <p:cNvSpPr txBox="1"/>
          <p:nvPr/>
        </p:nvSpPr>
        <p:spPr>
          <a:xfrm>
            <a:off x="4540377" y="1744913"/>
            <a:ext cx="2616898" cy="444093"/>
          </a:xfrm>
          <a:prstGeom prst="rect">
            <a:avLst/>
          </a:prstGeom>
          <a:noFill/>
          <a:ln>
            <a:noFill/>
          </a:ln>
        </p:spPr>
        <p:txBody>
          <a:bodyPr wrap="square" lIns="0" rIns="0" tIns="0" bIns="0" anchor="t">
            <a:noAutofit/>
          </a:bodyPr>
          <a:lstStyle/>
          <a:p>
            <a:pPr>
              <a:lnSpc>
                <a:spcPct val="130000"/>
              </a:lnSpc>
            </a:pPr>
            <a:r>
              <a:rPr lang="en-US" sz="1795" b="1">
                <a:solidFill>
                  <a:srgbClr val="102E40"/>
                </a:solidFill>
                <a:latin typeface="Arial"/>
              </a:rPr>
              <a:t xml:space="preserve">React input review</a:t>
            </a:r>
            <a:endParaRPr lang="en-US"/>
          </a:p>
        </p:txBody>
      </p:sp>
      <p:sp>
        <p:nvSpPr>
          <p:cNvPr id="8" name="rect"/>
          <p:cNvSpPr txBox="0"/>
          <p:nvPr/>
        </p:nvSpPr>
        <p:spPr>
          <a:xfrm>
            <a:off x="8644890" y="1619250"/>
            <a:ext cx="2823210" cy="510507"/>
          </a:xfrm>
          <a:prstGeom prst="rect">
            <a:avLst/>
          </a:prstGeom>
          <a:solidFill>
            <a:srgbClr val="F7FAFB"/>
          </a:solidFill>
          <a:ln w="12700">
            <a:solidFill>
              <a:srgbClr val="79909B"/>
            </a:solidFill>
          </a:ln>
        </p:spPr>
      </p:sp>
      <p:sp>
        <p:nvSpPr>
          <p:cNvPr id="9" name="POST /api/turn"/>
          <p:cNvSpPr txBox="1"/>
          <p:nvPr/>
        </p:nvSpPr>
        <p:spPr>
          <a:xfrm>
            <a:off x="8775192" y="1744913"/>
            <a:ext cx="2562606" cy="444093"/>
          </a:xfrm>
          <a:prstGeom prst="rect">
            <a:avLst/>
          </a:prstGeom>
          <a:noFill/>
          <a:ln>
            <a:noFill/>
          </a:ln>
        </p:spPr>
        <p:txBody>
          <a:bodyPr wrap="square" lIns="0" rIns="0" tIns="0" bIns="0" anchor="t">
            <a:noAutofit/>
          </a:bodyPr>
          <a:lstStyle/>
          <a:p>
            <a:pPr>
              <a:lnSpc>
                <a:spcPct val="130000"/>
              </a:lnSpc>
            </a:pPr>
            <a:r>
              <a:rPr lang="en-US" sz="1795" b="1">
                <a:solidFill>
                  <a:srgbClr val="102E40"/>
                </a:solidFill>
                <a:latin typeface="Arial"/>
              </a:rPr>
              <a:t xml:space="preserve">POST /api/turn</a:t>
            </a:r>
            <a:endParaRPr lang="en-US"/>
          </a:p>
        </p:txBody>
      </p:sp>
      <p:sp>
        <p:nvSpPr>
          <p:cNvPr id="10" name="rect"/>
          <p:cNvSpPr txBox="0"/>
          <p:nvPr/>
        </p:nvSpPr>
        <p:spPr>
          <a:xfrm>
            <a:off x="8644890" y="3229309"/>
            <a:ext cx="2823210" cy="510507"/>
          </a:xfrm>
          <a:prstGeom prst="rect">
            <a:avLst/>
          </a:prstGeom>
          <a:solidFill>
            <a:srgbClr val="F7FAFB"/>
          </a:solidFill>
          <a:ln w="12700">
            <a:solidFill>
              <a:srgbClr val="79909B"/>
            </a:solidFill>
          </a:ln>
        </p:spPr>
      </p:sp>
      <p:sp>
        <p:nvSpPr>
          <p:cNvPr id="11" name="Local Llama 3.2 3B"/>
          <p:cNvSpPr txBox="1"/>
          <p:nvPr/>
        </p:nvSpPr>
        <p:spPr>
          <a:xfrm>
            <a:off x="8775192" y="3354972"/>
            <a:ext cx="2562606" cy="444093"/>
          </a:xfrm>
          <a:prstGeom prst="rect">
            <a:avLst/>
          </a:prstGeom>
          <a:noFill/>
          <a:ln>
            <a:noFill/>
          </a:ln>
        </p:spPr>
        <p:txBody>
          <a:bodyPr wrap="square" lIns="0" rIns="0" tIns="0" bIns="0" anchor="t">
            <a:noAutofit/>
          </a:bodyPr>
          <a:lstStyle/>
          <a:p>
            <a:pPr>
              <a:lnSpc>
                <a:spcPct val="130000"/>
              </a:lnSpc>
            </a:pPr>
            <a:r>
              <a:rPr lang="en-US" sz="1795" b="1">
                <a:solidFill>
                  <a:srgbClr val="102E40"/>
                </a:solidFill>
                <a:latin typeface="Arial"/>
              </a:rPr>
              <a:t xml:space="preserve">Local Llama 3.2 3B</a:t>
            </a:r>
            <a:endParaRPr lang="en-US"/>
          </a:p>
        </p:txBody>
      </p:sp>
      <p:sp>
        <p:nvSpPr>
          <p:cNvPr id="12" name="rect"/>
          <p:cNvSpPr txBox="0"/>
          <p:nvPr/>
        </p:nvSpPr>
        <p:spPr>
          <a:xfrm>
            <a:off x="4410075" y="3229309"/>
            <a:ext cx="3094672" cy="510507"/>
          </a:xfrm>
          <a:prstGeom prst="rect">
            <a:avLst/>
          </a:prstGeom>
          <a:solidFill>
            <a:srgbClr val="F7FAFB"/>
          </a:solidFill>
          <a:ln w="12700">
            <a:solidFill>
              <a:srgbClr val="79909B"/>
            </a:solidFill>
          </a:ln>
        </p:spPr>
      </p:sp>
      <p:sp>
        <p:nvSpPr>
          <p:cNvPr id="13" name="Validate + authored score"/>
          <p:cNvSpPr txBox="1"/>
          <p:nvPr/>
        </p:nvSpPr>
        <p:spPr>
          <a:xfrm>
            <a:off x="4540377" y="3354972"/>
            <a:ext cx="2834068" cy="444093"/>
          </a:xfrm>
          <a:prstGeom prst="rect">
            <a:avLst/>
          </a:prstGeom>
          <a:noFill/>
          <a:ln>
            <a:noFill/>
          </a:ln>
        </p:spPr>
        <p:txBody>
          <a:bodyPr wrap="square" lIns="0" rIns="0" tIns="0" bIns="0" anchor="t">
            <a:noAutofit/>
          </a:bodyPr>
          <a:lstStyle/>
          <a:p>
            <a:pPr>
              <a:lnSpc>
                <a:spcPct val="130000"/>
              </a:lnSpc>
            </a:pPr>
            <a:r>
              <a:rPr lang="en-US" sz="1795" b="1">
                <a:solidFill>
                  <a:srgbClr val="102E40"/>
                </a:solidFill>
                <a:latin typeface="Arial"/>
              </a:rPr>
              <a:t xml:space="preserve">Validate + authored score</a:t>
            </a:r>
            <a:endParaRPr lang="en-US"/>
          </a:p>
        </p:txBody>
      </p:sp>
      <p:sp>
        <p:nvSpPr>
          <p:cNvPr id="14" name="rect"/>
          <p:cNvSpPr txBox="0"/>
          <p:nvPr/>
        </p:nvSpPr>
        <p:spPr>
          <a:xfrm>
            <a:off x="609600" y="3229309"/>
            <a:ext cx="2986088" cy="510507"/>
          </a:xfrm>
          <a:prstGeom prst="rect">
            <a:avLst/>
          </a:prstGeom>
          <a:solidFill>
            <a:srgbClr val="F7FAFB"/>
          </a:solidFill>
          <a:ln w="12700">
            <a:solidFill>
              <a:srgbClr val="79909B"/>
            </a:solidFill>
          </a:ln>
        </p:spPr>
      </p:sp>
      <p:sp>
        <p:nvSpPr>
          <p:cNvPr id="15" name="UI result + explanation"/>
          <p:cNvSpPr txBox="1"/>
          <p:nvPr/>
        </p:nvSpPr>
        <p:spPr>
          <a:xfrm>
            <a:off x="739902" y="3354972"/>
            <a:ext cx="2725484" cy="444093"/>
          </a:xfrm>
          <a:prstGeom prst="rect">
            <a:avLst/>
          </a:prstGeom>
          <a:noFill/>
          <a:ln>
            <a:noFill/>
          </a:ln>
        </p:spPr>
        <p:txBody>
          <a:bodyPr wrap="square" lIns="0" rIns="0" tIns="0" bIns="0" anchor="t">
            <a:noAutofit/>
          </a:bodyPr>
          <a:lstStyle/>
          <a:p>
            <a:pPr>
              <a:lnSpc>
                <a:spcPct val="130000"/>
              </a:lnSpc>
            </a:pPr>
            <a:r>
              <a:rPr lang="en-US" sz="1795" b="1">
                <a:solidFill>
                  <a:srgbClr val="102E40"/>
                </a:solidFill>
                <a:latin typeface="Arial"/>
              </a:rPr>
              <a:t xml:space="preserve">UI result + explanation</a:t>
            </a:r>
            <a:endParaRPr lang="en-US"/>
          </a:p>
        </p:txBody>
      </p:sp>
      <p:sp>
        <p:nvSpPr>
          <p:cNvPr id="16" name="rect"/>
          <p:cNvSpPr txBox="0"/>
          <p:nvPr/>
        </p:nvSpPr>
        <p:spPr>
          <a:xfrm>
            <a:off x="609600" y="4878638"/>
            <a:ext cx="2986088" cy="510507"/>
          </a:xfrm>
          <a:prstGeom prst="rect">
            <a:avLst/>
          </a:prstGeom>
          <a:solidFill>
            <a:srgbClr val="F7FAFB"/>
          </a:solidFill>
          <a:ln w="12700">
            <a:solidFill>
              <a:srgbClr val="79909B"/>
            </a:solidFill>
          </a:ln>
        </p:spPr>
      </p:sp>
      <p:sp>
        <p:nvSpPr>
          <p:cNvPr id="17" name="Browser localStorage"/>
          <p:cNvSpPr txBox="1"/>
          <p:nvPr/>
        </p:nvSpPr>
        <p:spPr>
          <a:xfrm>
            <a:off x="739902" y="5004301"/>
            <a:ext cx="2725484" cy="444093"/>
          </a:xfrm>
          <a:prstGeom prst="rect">
            <a:avLst/>
          </a:prstGeom>
          <a:noFill/>
          <a:ln>
            <a:noFill/>
          </a:ln>
        </p:spPr>
        <p:txBody>
          <a:bodyPr wrap="square" lIns="0" rIns="0" tIns="0" bIns="0" anchor="t">
            <a:noAutofit/>
          </a:bodyPr>
          <a:lstStyle/>
          <a:p>
            <a:pPr>
              <a:lnSpc>
                <a:spcPct val="130000"/>
              </a:lnSpc>
            </a:pPr>
            <a:r>
              <a:rPr lang="en-US" sz="1795" b="1">
                <a:solidFill>
                  <a:srgbClr val="102E40"/>
                </a:solidFill>
                <a:latin typeface="Arial"/>
              </a:rPr>
              <a:t xml:space="preserve">Browser localStorage</a:t>
            </a:r>
            <a:endParaRPr lang="en-US"/>
          </a:p>
        </p:txBody>
      </p:sp>
      <p:sp>
        <p:nvSpPr>
          <p:cNvPr id="18" name="rect"/>
          <p:cNvSpPr txBox="0"/>
          <p:nvPr/>
        </p:nvSpPr>
        <p:spPr>
          <a:xfrm>
            <a:off x="4410075" y="4878638"/>
            <a:ext cx="5212080" cy="510507"/>
          </a:xfrm>
          <a:prstGeom prst="rect">
            <a:avLst/>
          </a:prstGeom>
          <a:solidFill>
            <a:srgbClr val="F7FAFB"/>
          </a:solidFill>
          <a:ln w="12700">
            <a:solidFill>
              <a:srgbClr val="79909B"/>
            </a:solidFill>
          </a:ln>
        </p:spPr>
      </p:sp>
      <p:sp>
        <p:nvSpPr>
          <p:cNvPr id="19" name="Browser / OS speech service"/>
          <p:cNvSpPr txBox="1"/>
          <p:nvPr/>
        </p:nvSpPr>
        <p:spPr>
          <a:xfrm>
            <a:off x="4540377" y="5004301"/>
            <a:ext cx="4951476" cy="444093"/>
          </a:xfrm>
          <a:prstGeom prst="rect">
            <a:avLst/>
          </a:prstGeom>
          <a:noFill/>
          <a:ln>
            <a:noFill/>
          </a:ln>
        </p:spPr>
        <p:txBody>
          <a:bodyPr wrap="square" lIns="0" rIns="0" tIns="0" bIns="0" anchor="t">
            <a:noAutofit/>
          </a:bodyPr>
          <a:lstStyle/>
          <a:p>
            <a:pPr>
              <a:lnSpc>
                <a:spcPct val="130000"/>
              </a:lnSpc>
            </a:pPr>
            <a:r>
              <a:rPr lang="en-US" sz="1795" b="1">
                <a:solidFill>
                  <a:srgbClr val="102E40"/>
                </a:solidFill>
                <a:latin typeface="Arial"/>
              </a:rPr>
              <a:t xml:space="preserve">Browser / OS speech service</a:t>
            </a:r>
            <a:endParaRPr lang="en-US"/>
          </a:p>
        </p:txBody>
      </p:sp>
      <p:cxnSp>
        <p:nvCxnSpPr>
          <p:cNvPr id="20" name="Connector 20"/>
          <p:cNvCxnSpPr/>
          <p:nvPr/>
        </p:nvCxnSpPr>
        <p:spPr>
          <a:xfrm>
            <a:off x="2944177" y="1870576"/>
            <a:ext cx="1465897" cy="0"/>
          </a:xfrm>
          <a:prstGeom prst="line">
            <a:avLst/>
          </a:prstGeom>
          <a:ln w="19050">
            <a:solidFill>
              <a:srgbClr val="526875"/>
            </a:solidFill>
            <a:tailEnd type="triangle"/>
          </a:ln>
        </p:spPr>
      </p:cxnSp>
      <p:cxnSp>
        <p:nvCxnSpPr>
          <p:cNvPr id="21" name="Connector 21"/>
          <p:cNvCxnSpPr/>
          <p:nvPr/>
        </p:nvCxnSpPr>
        <p:spPr>
          <a:xfrm>
            <a:off x="7287577" y="1870576"/>
            <a:ext cx="1357312" cy="0"/>
          </a:xfrm>
          <a:prstGeom prst="line">
            <a:avLst/>
          </a:prstGeom>
          <a:ln w="19050">
            <a:solidFill>
              <a:srgbClr val="526875"/>
            </a:solidFill>
            <a:tailEnd type="triangle"/>
          </a:ln>
        </p:spPr>
      </p:cxnSp>
      <p:cxnSp>
        <p:nvCxnSpPr>
          <p:cNvPr id="22" name="Connector 22"/>
          <p:cNvCxnSpPr/>
          <p:nvPr/>
        </p:nvCxnSpPr>
        <p:spPr>
          <a:xfrm>
            <a:off x="10056495" y="2129757"/>
            <a:ext cx="0" cy="1099553"/>
          </a:xfrm>
          <a:prstGeom prst="line">
            <a:avLst/>
          </a:prstGeom>
          <a:ln w="19050">
            <a:solidFill>
              <a:srgbClr val="526875"/>
            </a:solidFill>
            <a:tailEnd type="triangle"/>
          </a:ln>
        </p:spPr>
      </p:cxnSp>
      <p:cxnSp>
        <p:nvCxnSpPr>
          <p:cNvPr id="23" name="Connector 23"/>
          <p:cNvCxnSpPr/>
          <p:nvPr/>
        </p:nvCxnSpPr>
        <p:spPr>
          <a:xfrm flipH="1">
            <a:off x="7504748" y="3488489"/>
            <a:ext cx="1140142" cy="0"/>
          </a:xfrm>
          <a:prstGeom prst="line">
            <a:avLst/>
          </a:prstGeom>
          <a:ln w="19050">
            <a:solidFill>
              <a:srgbClr val="526875"/>
            </a:solidFill>
            <a:tailEnd type="triangle"/>
          </a:ln>
        </p:spPr>
      </p:cxnSp>
      <p:cxnSp>
        <p:nvCxnSpPr>
          <p:cNvPr id="24" name="Connector 24"/>
          <p:cNvCxnSpPr/>
          <p:nvPr/>
        </p:nvCxnSpPr>
        <p:spPr>
          <a:xfrm flipH="1">
            <a:off x="3595688" y="3488489"/>
            <a:ext cx="814387" cy="0"/>
          </a:xfrm>
          <a:prstGeom prst="line">
            <a:avLst/>
          </a:prstGeom>
          <a:ln w="19050">
            <a:solidFill>
              <a:srgbClr val="526875"/>
            </a:solidFill>
            <a:tailEnd type="triangle"/>
          </a:ln>
        </p:spPr>
      </p:cxnSp>
      <p:cxnSp>
        <p:nvCxnSpPr>
          <p:cNvPr id="25" name="Connector 25"/>
          <p:cNvCxnSpPr/>
          <p:nvPr/>
        </p:nvCxnSpPr>
        <p:spPr>
          <a:xfrm>
            <a:off x="2075497" y="3739816"/>
            <a:ext cx="0" cy="1138822"/>
          </a:xfrm>
          <a:prstGeom prst="line">
            <a:avLst/>
          </a:prstGeom>
          <a:ln w="19050">
            <a:solidFill>
              <a:srgbClr val="526875"/>
            </a:solidFill>
            <a:tailEnd type="triangle"/>
          </a:ln>
        </p:spPr>
      </p:cxnSp>
      <p:sp>
        <p:nvSpPr>
          <p:cNvPr id="26" name="Scene and advice"/>
          <p:cNvSpPr txBox="1"/>
          <p:nvPr/>
        </p:nvSpPr>
        <p:spPr>
          <a:xfrm>
            <a:off x="8688324" y="2443914"/>
            <a:ext cx="1303020" cy="660633"/>
          </a:xfrm>
          <a:prstGeom prst="rect">
            <a:avLst/>
          </a:prstGeom>
          <a:noFill/>
          <a:ln>
            <a:noFill/>
          </a:ln>
        </p:spPr>
        <p:txBody>
          <a:bodyPr wrap="square" lIns="0" rIns="0" tIns="0" bIns="0" anchor="t">
            <a:noAutofit/>
          </a:bodyPr>
          <a:lstStyle/>
          <a:p>
            <a:pPr>
              <a:lnSpc>
                <a:spcPct val="130000"/>
              </a:lnSpc>
            </a:pPr>
            <a:r>
              <a:rPr lang="en-US" sz="1454" b="0">
                <a:solidFill>
                  <a:srgbClr val="526875"/>
                </a:solidFill>
                <a:latin typeface="Arial"/>
              </a:rPr>
              <a:t xml:space="preserve">Scene and advice</a:t>
            </a:r>
            <a:endParaRPr lang="en-US"/>
          </a:p>
        </p:txBody>
      </p:sp>
      <p:sp>
        <p:nvSpPr>
          <p:cNvPr id="27" name="reply / reason / decision flags"/>
          <p:cNvSpPr txBox="1"/>
          <p:nvPr/>
        </p:nvSpPr>
        <p:spPr>
          <a:xfrm>
            <a:off x="8644890" y="3936164"/>
            <a:ext cx="2823210" cy="377465"/>
          </a:xfrm>
          <a:prstGeom prst="rect">
            <a:avLst/>
          </a:prstGeom>
          <a:noFill/>
          <a:ln>
            <a:noFill/>
          </a:ln>
        </p:spPr>
        <p:txBody>
          <a:bodyPr wrap="square" lIns="0" rIns="0" tIns="0" bIns="0" anchor="t">
            <a:noAutofit/>
          </a:bodyPr>
          <a:lstStyle/>
          <a:p>
            <a:pPr>
              <a:lnSpc>
                <a:spcPct val="130000"/>
              </a:lnSpc>
            </a:pPr>
            <a:r>
              <a:rPr lang="en-US" sz="1454" b="0">
                <a:solidFill>
                  <a:srgbClr val="526875"/>
                </a:solidFill>
                <a:latin typeface="Arial"/>
              </a:rPr>
              <a:t xml:space="preserve">reply / reason / decision flags</a:t>
            </a:r>
            <a:endParaRPr lang="en-US"/>
          </a:p>
        </p:txBody>
      </p:sp>
      <p:sp>
        <p:nvSpPr>
          <p:cNvPr id="28" name="Accepted route, log, time/trust and preferences"/>
          <p:cNvSpPr txBox="1"/>
          <p:nvPr/>
        </p:nvSpPr>
        <p:spPr>
          <a:xfrm>
            <a:off x="609600" y="5522662"/>
            <a:ext cx="3148965" cy="660633"/>
          </a:xfrm>
          <a:prstGeom prst="rect">
            <a:avLst/>
          </a:prstGeom>
          <a:noFill/>
          <a:ln>
            <a:noFill/>
          </a:ln>
        </p:spPr>
        <p:txBody>
          <a:bodyPr wrap="square" lIns="0" rIns="0" tIns="0" bIns="0" anchor="t">
            <a:noAutofit/>
          </a:bodyPr>
          <a:lstStyle/>
          <a:p>
            <a:pPr>
              <a:lnSpc>
                <a:spcPct val="130000"/>
              </a:lnSpc>
            </a:pPr>
            <a:r>
              <a:rPr lang="en-US" sz="1454" b="0">
                <a:solidFill>
                  <a:srgbClr val="526875"/>
                </a:solidFill>
                <a:latin typeface="Arial"/>
              </a:rPr>
              <a:t xml:space="preserve">Accepted route, log, time/trust and preferences</a:t>
            </a:r>
            <a:endParaRPr lang="en-US"/>
          </a:p>
        </p:txBody>
      </p:sp>
      <p:sp>
        <p:nvSpPr>
          <p:cNvPr id="29" name="Optional audio or reply text may leave the device throu"/>
          <p:cNvSpPr txBox="1"/>
          <p:nvPr/>
        </p:nvSpPr>
        <p:spPr>
          <a:xfrm>
            <a:off x="4410075" y="5522662"/>
            <a:ext cx="6949440" cy="660633"/>
          </a:xfrm>
          <a:prstGeom prst="rect">
            <a:avLst/>
          </a:prstGeom>
          <a:noFill/>
          <a:ln>
            <a:noFill/>
          </a:ln>
        </p:spPr>
        <p:txBody>
          <a:bodyPr wrap="square" lIns="0" rIns="0" tIns="0" bIns="0" anchor="t">
            <a:noAutofit/>
          </a:bodyPr>
          <a:lstStyle/>
          <a:p>
            <a:pPr>
              <a:lnSpc>
                <a:spcPct val="130000"/>
              </a:lnSpc>
            </a:pPr>
            <a:r>
              <a:rPr lang="en-US" sz="1454" b="0">
                <a:solidFill>
                  <a:srgbClr val="526875"/>
                </a:solidFill>
                <a:latin typeface="Arial"/>
              </a:rPr>
              <a:t xml:space="preserve">Optional audio or reply text may leave the device through a browser/OS voice service. Reviewed transcript returns to React.</a:t>
            </a:r>
            <a:endParaRPr lang="en-US"/>
          </a:p>
        </p:txBody>
      </p:sp>
      <p:cxnSp>
        <p:nvCxnSpPr>
          <p:cNvPr id="30" name="Connector 30"/>
          <p:cNvCxnSpPr/>
          <p:nvPr/>
        </p:nvCxnSpPr>
        <p:spPr>
          <a:xfrm flipH="1">
            <a:off x="4192905" y="2129757"/>
            <a:ext cx="542925" cy="274888"/>
          </a:xfrm>
          <a:prstGeom prst="line">
            <a:avLst/>
          </a:prstGeom>
          <a:ln w="19050">
            <a:solidFill>
              <a:srgbClr val="A9884B"/>
            </a:solidFill>
            <a:prstDash val="dash"/>
            <a:tailEnd type="triangle"/>
          </a:ln>
        </p:spPr>
      </p:cxnSp>
      <p:cxnSp>
        <p:nvCxnSpPr>
          <p:cNvPr id="31" name="Connector 31"/>
          <p:cNvCxnSpPr/>
          <p:nvPr/>
        </p:nvCxnSpPr>
        <p:spPr>
          <a:xfrm>
            <a:off x="4192905" y="2404645"/>
            <a:ext cx="0" cy="2725320"/>
          </a:xfrm>
          <a:prstGeom prst="line">
            <a:avLst/>
          </a:prstGeom>
          <a:ln w="19050">
            <a:solidFill>
              <a:srgbClr val="A9884B"/>
            </a:solidFill>
            <a:prstDash val="dash"/>
            <a:tailEnd type="triangle"/>
          </a:ln>
        </p:spPr>
      </p:cxnSp>
      <p:cxnSp>
        <p:nvCxnSpPr>
          <p:cNvPr id="32" name="Connector 32"/>
          <p:cNvCxnSpPr/>
          <p:nvPr/>
        </p:nvCxnSpPr>
        <p:spPr>
          <a:xfrm>
            <a:off x="4192905" y="5129964"/>
            <a:ext cx="217170" cy="0"/>
          </a:xfrm>
          <a:prstGeom prst="line">
            <a:avLst/>
          </a:prstGeom>
          <a:ln w="19050">
            <a:solidFill>
              <a:srgbClr val="A9884B"/>
            </a:solidFill>
            <a:prstDash val="dash"/>
            <a:tailEnd type="triangle"/>
          </a:ln>
        </p:spPr>
      </p:cxnSp>
      <p:cxnSp>
        <p:nvCxnSpPr>
          <p:cNvPr id="33" name="Connector 33"/>
          <p:cNvCxnSpPr/>
          <p:nvPr/>
        </p:nvCxnSpPr>
        <p:spPr>
          <a:xfrm flipV="1">
            <a:off x="7993380" y="2404645"/>
            <a:ext cx="0" cy="2473993"/>
          </a:xfrm>
          <a:prstGeom prst="line">
            <a:avLst/>
          </a:prstGeom>
          <a:ln w="19050">
            <a:solidFill>
              <a:srgbClr val="A9884B"/>
            </a:solidFill>
            <a:prstDash val="dash"/>
            <a:tailEnd type="triangle"/>
          </a:ln>
        </p:spPr>
      </p:cxnSp>
      <p:cxnSp>
        <p:nvCxnSpPr>
          <p:cNvPr id="34" name="Connector 34"/>
          <p:cNvCxnSpPr/>
          <p:nvPr/>
        </p:nvCxnSpPr>
        <p:spPr>
          <a:xfrm flipH="1" flipV="1">
            <a:off x="6798945" y="2129757"/>
            <a:ext cx="1194435" cy="274888"/>
          </a:xfrm>
          <a:prstGeom prst="line">
            <a:avLst/>
          </a:prstGeom>
          <a:ln w="19050">
            <a:solidFill>
              <a:srgbClr val="A9884B"/>
            </a:solidFill>
            <a:prstDash val="dash"/>
            <a:tailEnd type="triangle"/>
          </a:ln>
        </p:spPr>
      </p:cxnSp>
      <p:sp>
        <p:nvSpPr>
          <p:cNvPr id="35" name="Farshore / Phase 2 / 4"/>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2: Counsel and decision review"/>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F2: Counsel and decision review</a:t>
            </a:r>
            <a:endParaRPr lang="en-US"/>
          </a:p>
        </p:txBody>
      </p:sp>
      <p:sp>
        <p:nvSpPr>
          <p:cNvPr id="3" name="Maya and Rosa / review checkpoint proposed"/>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Maya and Rosa / review checkpoint proposed</a:t>
            </a:r>
            <a:endParaRPr lang="en-US"/>
          </a:p>
        </p:txBody>
      </p:sp>
      <p:sp>
        <p:nvSpPr>
          <p:cNvPr id="4" name="rect"/>
          <p:cNvSpPr txBox="0"/>
          <p:nvPr/>
        </p:nvSpPr>
        <p:spPr>
          <a:xfrm>
            <a:off x="609600" y="1571625"/>
            <a:ext cx="6096000" cy="562054"/>
          </a:xfrm>
          <a:prstGeom prst="rect">
            <a:avLst/>
          </a:prstGeom>
          <a:solidFill>
            <a:srgbClr val="F7FAFB"/>
          </a:solidFill>
          <a:ln w="12700">
            <a:solidFill>
              <a:srgbClr val="79909B"/>
            </a:solidFill>
          </a:ln>
        </p:spPr>
      </p:sp>
      <p:sp>
        <p:nvSpPr>
          <p:cNvPr id="5" name="1. Read scene, time, trust and AI label"/>
          <p:cNvSpPr txBox="1"/>
          <p:nvPr/>
        </p:nvSpPr>
        <p:spPr>
          <a:xfrm>
            <a:off x="781050" y="1704975"/>
            <a:ext cx="57531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1. Read scene, time, trust and AI label</a:t>
            </a:r>
            <a:endParaRPr lang="en-US"/>
          </a:p>
        </p:txBody>
      </p:sp>
      <p:cxnSp>
        <p:nvCxnSpPr>
          <p:cNvPr id="6" name="Connector 6"/>
          <p:cNvCxnSpPr/>
          <p:nvPr/>
        </p:nvCxnSpPr>
        <p:spPr>
          <a:xfrm>
            <a:off x="3657600" y="2133679"/>
            <a:ext cx="0" cy="207883"/>
          </a:xfrm>
          <a:prstGeom prst="line">
            <a:avLst/>
          </a:prstGeom>
          <a:ln w="19050">
            <a:solidFill>
              <a:srgbClr val="526875"/>
            </a:solidFill>
            <a:tailEnd type="triangle"/>
          </a:ln>
        </p:spPr>
      </p:cxnSp>
      <p:sp>
        <p:nvSpPr>
          <p:cNvPr id="7" name="rect"/>
          <p:cNvSpPr txBox="0"/>
          <p:nvPr/>
        </p:nvSpPr>
        <p:spPr>
          <a:xfrm>
            <a:off x="609600" y="2341562"/>
            <a:ext cx="6096000" cy="562054"/>
          </a:xfrm>
          <a:prstGeom prst="rect">
            <a:avLst/>
          </a:prstGeom>
          <a:solidFill>
            <a:srgbClr val="F7FAFB"/>
          </a:solidFill>
          <a:ln w="12700">
            <a:solidFill>
              <a:srgbClr val="79909B"/>
            </a:solidFill>
          </a:ln>
        </p:spPr>
      </p:sp>
      <p:sp>
        <p:nvSpPr>
          <p:cNvPr id="8" name="2. Write/review 3-800 characters"/>
          <p:cNvSpPr txBox="1"/>
          <p:nvPr/>
        </p:nvSpPr>
        <p:spPr>
          <a:xfrm>
            <a:off x="781050" y="2474912"/>
            <a:ext cx="57531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2. Write/review 3-800 characters</a:t>
            </a:r>
            <a:endParaRPr lang="en-US"/>
          </a:p>
        </p:txBody>
      </p:sp>
      <p:cxnSp>
        <p:nvCxnSpPr>
          <p:cNvPr id="9" name="Connector 9"/>
          <p:cNvCxnSpPr/>
          <p:nvPr/>
        </p:nvCxnSpPr>
        <p:spPr>
          <a:xfrm>
            <a:off x="3657600" y="2903617"/>
            <a:ext cx="0" cy="207883"/>
          </a:xfrm>
          <a:prstGeom prst="line">
            <a:avLst/>
          </a:prstGeom>
          <a:ln w="19050">
            <a:solidFill>
              <a:srgbClr val="526875"/>
            </a:solidFill>
            <a:tailEnd type="triangle"/>
          </a:ln>
        </p:spPr>
      </p:cxnSp>
      <p:sp>
        <p:nvSpPr>
          <p:cNvPr id="10" name="rect"/>
          <p:cNvSpPr txBox="0"/>
          <p:nvPr/>
        </p:nvSpPr>
        <p:spPr>
          <a:xfrm>
            <a:off x="609600" y="3111500"/>
            <a:ext cx="6096000" cy="562054"/>
          </a:xfrm>
          <a:prstGeom prst="rect">
            <a:avLst/>
          </a:prstGeom>
          <a:solidFill>
            <a:srgbClr val="F7FAFB"/>
          </a:solidFill>
          <a:ln w="12700">
            <a:solidFill>
              <a:srgbClr val="79909B"/>
            </a:solidFill>
          </a:ln>
        </p:spPr>
      </p:sp>
      <p:sp>
        <p:nvSpPr>
          <p:cNvPr id="11" name="3. Send once and show processing"/>
          <p:cNvSpPr txBox="1"/>
          <p:nvPr/>
        </p:nvSpPr>
        <p:spPr>
          <a:xfrm>
            <a:off x="781050" y="3244850"/>
            <a:ext cx="57531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3. Send once and show processing</a:t>
            </a:r>
            <a:endParaRPr lang="en-US"/>
          </a:p>
        </p:txBody>
      </p:sp>
      <p:cxnSp>
        <p:nvCxnSpPr>
          <p:cNvPr id="12" name="Connector 12"/>
          <p:cNvCxnSpPr/>
          <p:nvPr/>
        </p:nvCxnSpPr>
        <p:spPr>
          <a:xfrm>
            <a:off x="3657600" y="3673554"/>
            <a:ext cx="0" cy="207883"/>
          </a:xfrm>
          <a:prstGeom prst="line">
            <a:avLst/>
          </a:prstGeom>
          <a:ln w="19050">
            <a:solidFill>
              <a:srgbClr val="526875"/>
            </a:solidFill>
            <a:tailEnd type="triangle"/>
          </a:ln>
        </p:spPr>
      </p:cxnSp>
      <p:sp>
        <p:nvSpPr>
          <p:cNvPr id="13" name="rect"/>
          <p:cNvSpPr txBox="0"/>
          <p:nvPr/>
        </p:nvSpPr>
        <p:spPr>
          <a:xfrm>
            <a:off x="609600" y="3881438"/>
            <a:ext cx="6096000" cy="562054"/>
          </a:xfrm>
          <a:prstGeom prst="rect">
            <a:avLst/>
          </a:prstGeom>
          <a:solidFill>
            <a:srgbClr val="F7FAFB"/>
          </a:solidFill>
          <a:ln w="12700">
            <a:solidFill>
              <a:srgbClr val="79909B"/>
            </a:solidFill>
          </a:ln>
        </p:spPr>
      </p:sp>
      <p:sp>
        <p:nvSpPr>
          <p:cNvPr id="14" name="4. Validate model structure"/>
          <p:cNvSpPr txBox="1"/>
          <p:nvPr/>
        </p:nvSpPr>
        <p:spPr>
          <a:xfrm>
            <a:off x="781050" y="4014788"/>
            <a:ext cx="57531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4. Validate model structure</a:t>
            </a:r>
            <a:endParaRPr lang="en-US"/>
          </a:p>
        </p:txBody>
      </p:sp>
      <p:cxnSp>
        <p:nvCxnSpPr>
          <p:cNvPr id="15" name="Connector 15"/>
          <p:cNvCxnSpPr/>
          <p:nvPr/>
        </p:nvCxnSpPr>
        <p:spPr>
          <a:xfrm>
            <a:off x="3657600" y="4443492"/>
            <a:ext cx="0" cy="207883"/>
          </a:xfrm>
          <a:prstGeom prst="line">
            <a:avLst/>
          </a:prstGeom>
          <a:ln w="19050">
            <a:solidFill>
              <a:srgbClr val="526875"/>
            </a:solidFill>
            <a:tailEnd type="triangle"/>
          </a:ln>
        </p:spPr>
      </p:cxnSp>
      <p:sp>
        <p:nvSpPr>
          <p:cNvPr id="16" name="rect"/>
          <p:cNvSpPr txBox="0"/>
          <p:nvPr/>
        </p:nvSpPr>
        <p:spPr>
          <a:xfrm>
            <a:off x="609600" y="4651375"/>
            <a:ext cx="6096000" cy="562054"/>
          </a:xfrm>
          <a:prstGeom prst="rect">
            <a:avLst/>
          </a:prstGeom>
          <a:solidFill>
            <a:srgbClr val="F7FAFB"/>
          </a:solidFill>
          <a:ln w="12700">
            <a:solidFill>
              <a:srgbClr val="79909B"/>
            </a:solidFill>
          </a:ln>
        </p:spPr>
      </p:sp>
      <p:sp>
        <p:nvSpPr>
          <p:cNvPr id="17" name="5. Review action and short rationale"/>
          <p:cNvSpPr txBox="1"/>
          <p:nvPr/>
        </p:nvSpPr>
        <p:spPr>
          <a:xfrm>
            <a:off x="781050" y="4784725"/>
            <a:ext cx="57531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5. Review action and short rationale</a:t>
            </a:r>
            <a:endParaRPr lang="en-US"/>
          </a:p>
        </p:txBody>
      </p:sp>
      <p:cxnSp>
        <p:nvCxnSpPr>
          <p:cNvPr id="18" name="Connector 18"/>
          <p:cNvCxnSpPr/>
          <p:nvPr/>
        </p:nvCxnSpPr>
        <p:spPr>
          <a:xfrm>
            <a:off x="3657600" y="5213429"/>
            <a:ext cx="0" cy="207883"/>
          </a:xfrm>
          <a:prstGeom prst="line">
            <a:avLst/>
          </a:prstGeom>
          <a:ln w="19050">
            <a:solidFill>
              <a:srgbClr val="526875"/>
            </a:solidFill>
            <a:tailEnd type="triangle"/>
          </a:ln>
        </p:spPr>
      </p:cxnSp>
      <p:sp>
        <p:nvSpPr>
          <p:cNvPr id="19" name="rect"/>
          <p:cNvSpPr txBox="0"/>
          <p:nvPr/>
        </p:nvSpPr>
        <p:spPr>
          <a:xfrm>
            <a:off x="609600" y="5421312"/>
            <a:ext cx="6096000" cy="562054"/>
          </a:xfrm>
          <a:prstGeom prst="rect">
            <a:avLst/>
          </a:prstGeom>
          <a:solidFill>
            <a:srgbClr val="F7FAFB"/>
          </a:solidFill>
          <a:ln w="12700">
            <a:solidFill>
              <a:srgbClr val="79909B"/>
            </a:solidFill>
          </a:ln>
        </p:spPr>
      </p:sp>
      <p:sp>
        <p:nvSpPr>
          <p:cNvPr id="20" name="6. Accept once and show consequence"/>
          <p:cNvSpPr txBox="1"/>
          <p:nvPr/>
        </p:nvSpPr>
        <p:spPr>
          <a:xfrm>
            <a:off x="781050" y="5554662"/>
            <a:ext cx="57531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6. Accept once and show consequence</a:t>
            </a:r>
            <a:endParaRPr lang="en-US"/>
          </a:p>
        </p:txBody>
      </p:sp>
      <p:sp>
        <p:nvSpPr>
          <p:cNvPr id="21" name="•"/>
          <p:cNvSpPr txBox="1"/>
          <p:nvPr/>
        </p:nvSpPr>
        <p:spPr>
          <a:xfrm>
            <a:off x="7620000" y="176212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2" name="Read the action and rationale before scoring."/>
          <p:cNvSpPr txBox="1"/>
          <p:nvPr/>
        </p:nvSpPr>
        <p:spPr>
          <a:xfrm>
            <a:off x="7848600" y="1762125"/>
            <a:ext cx="377190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Read the action and rationale before scoring.</a:t>
            </a:r>
            <a:endParaRPr lang="en-US"/>
          </a:p>
        </p:txBody>
      </p:sp>
      <p:sp>
        <p:nvSpPr>
          <p:cNvPr id="23" name="•"/>
          <p:cNvSpPr txBox="1"/>
          <p:nvPr/>
        </p:nvSpPr>
        <p:spPr>
          <a:xfrm>
            <a:off x="7620000" y="274510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4" name="Refine or discard a questionable candidate."/>
          <p:cNvSpPr txBox="1"/>
          <p:nvPr/>
        </p:nvSpPr>
        <p:spPr>
          <a:xfrm>
            <a:off x="7848600" y="2745105"/>
            <a:ext cx="377190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Refine or discard a questionable candidate.</a:t>
            </a:r>
            <a:endParaRPr lang="en-US"/>
          </a:p>
        </p:txBody>
      </p:sp>
      <p:sp>
        <p:nvSpPr>
          <p:cNvPr id="25" name="•"/>
          <p:cNvSpPr txBox="1"/>
          <p:nvPr/>
        </p:nvSpPr>
        <p:spPr>
          <a:xfrm>
            <a:off x="7620000" y="372808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6" name="Commit once, then advance the route."/>
          <p:cNvSpPr txBox="1"/>
          <p:nvPr/>
        </p:nvSpPr>
        <p:spPr>
          <a:xfrm>
            <a:off x="7848600" y="3728085"/>
            <a:ext cx="377190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Commit once, then advance the route.</a:t>
            </a:r>
            <a:endParaRPr lang="en-US"/>
          </a:p>
        </p:txBody>
      </p:sp>
      <p:sp>
        <p:nvSpPr>
          <p:cNvPr id="27" name="•"/>
          <p:cNvSpPr txBox="1"/>
          <p:nvPr/>
        </p:nvSpPr>
        <p:spPr>
          <a:xfrm>
            <a:off x="7620000" y="471106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8" name="Current game commits immediately."/>
          <p:cNvSpPr txBox="1"/>
          <p:nvPr/>
        </p:nvSpPr>
        <p:spPr>
          <a:xfrm>
            <a:off x="7848600" y="4711065"/>
            <a:ext cx="377190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Current game commits immediately.</a:t>
            </a:r>
            <a:endParaRPr lang="en-US"/>
          </a:p>
        </p:txBody>
      </p:sp>
      <p:sp>
        <p:nvSpPr>
          <p:cNvPr id="29" name="Farshore / Phase 2 / 5"/>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3: Dictation and transcript review"/>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F3: Dictation and transcript review</a:t>
            </a:r>
            <a:endParaRPr lang="en-US"/>
          </a:p>
        </p:txBody>
      </p:sp>
      <p:sp>
        <p:nvSpPr>
          <p:cNvPr id="3" name="Daniel / typing remains available throughout"/>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Daniel / typing remains available throughout</a:t>
            </a:r>
            <a:endParaRPr lang="en-US"/>
          </a:p>
        </p:txBody>
      </p:sp>
      <p:sp>
        <p:nvSpPr>
          <p:cNvPr id="4" name="rect"/>
          <p:cNvSpPr txBox="0"/>
          <p:nvPr/>
        </p:nvSpPr>
        <p:spPr>
          <a:xfrm>
            <a:off x="609600" y="1571625"/>
            <a:ext cx="6286500" cy="562054"/>
          </a:xfrm>
          <a:prstGeom prst="rect">
            <a:avLst/>
          </a:prstGeom>
          <a:solidFill>
            <a:srgbClr val="F7FAFB"/>
          </a:solidFill>
          <a:ln w="12700">
            <a:solidFill>
              <a:srgbClr val="79909B"/>
            </a:solidFill>
          </a:ln>
        </p:spPr>
      </p:sp>
      <p:sp>
        <p:nvSpPr>
          <p:cNvPr id="5" name="1. Choose Dictate or Voice typing"/>
          <p:cNvSpPr txBox="1"/>
          <p:nvPr/>
        </p:nvSpPr>
        <p:spPr>
          <a:xfrm>
            <a:off x="781050" y="1704975"/>
            <a:ext cx="59436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1. Choose Dictate or Voice typing</a:t>
            </a:r>
            <a:endParaRPr lang="en-US"/>
          </a:p>
        </p:txBody>
      </p:sp>
      <p:cxnSp>
        <p:nvCxnSpPr>
          <p:cNvPr id="6" name="Connector 6"/>
          <p:cNvCxnSpPr/>
          <p:nvPr/>
        </p:nvCxnSpPr>
        <p:spPr>
          <a:xfrm>
            <a:off x="3752850" y="2133679"/>
            <a:ext cx="0" cy="207883"/>
          </a:xfrm>
          <a:prstGeom prst="line">
            <a:avLst/>
          </a:prstGeom>
          <a:ln w="19050">
            <a:solidFill>
              <a:srgbClr val="526875"/>
            </a:solidFill>
            <a:tailEnd type="triangle"/>
          </a:ln>
        </p:spPr>
      </p:cxnSp>
      <p:sp>
        <p:nvSpPr>
          <p:cNvPr id="7" name="rect"/>
          <p:cNvSpPr txBox="0"/>
          <p:nvPr/>
        </p:nvSpPr>
        <p:spPr>
          <a:xfrm>
            <a:off x="609600" y="2341562"/>
            <a:ext cx="6286500" cy="562054"/>
          </a:xfrm>
          <a:prstGeom prst="rect">
            <a:avLst/>
          </a:prstGeom>
          <a:solidFill>
            <a:srgbClr val="F7FAFB"/>
          </a:solidFill>
          <a:ln w="12700">
            <a:solidFill>
              <a:srgbClr val="79909B"/>
            </a:solidFill>
          </a:ln>
        </p:spPr>
      </p:sp>
      <p:sp>
        <p:nvSpPr>
          <p:cNvPr id="8" name="2. Allow microphone / Windows + H"/>
          <p:cNvSpPr txBox="1"/>
          <p:nvPr/>
        </p:nvSpPr>
        <p:spPr>
          <a:xfrm>
            <a:off x="781050" y="2474912"/>
            <a:ext cx="59436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2. Allow microphone / Windows + H</a:t>
            </a:r>
            <a:endParaRPr lang="en-US"/>
          </a:p>
        </p:txBody>
      </p:sp>
      <p:cxnSp>
        <p:nvCxnSpPr>
          <p:cNvPr id="9" name="Connector 9"/>
          <p:cNvCxnSpPr/>
          <p:nvPr/>
        </p:nvCxnSpPr>
        <p:spPr>
          <a:xfrm>
            <a:off x="3752850" y="2903617"/>
            <a:ext cx="0" cy="207883"/>
          </a:xfrm>
          <a:prstGeom prst="line">
            <a:avLst/>
          </a:prstGeom>
          <a:ln w="19050">
            <a:solidFill>
              <a:srgbClr val="526875"/>
            </a:solidFill>
            <a:tailEnd type="triangle"/>
          </a:ln>
        </p:spPr>
      </p:cxnSp>
      <p:sp>
        <p:nvSpPr>
          <p:cNvPr id="10" name="rect"/>
          <p:cNvSpPr txBox="0"/>
          <p:nvPr/>
        </p:nvSpPr>
        <p:spPr>
          <a:xfrm>
            <a:off x="609600" y="3111500"/>
            <a:ext cx="6286500" cy="562054"/>
          </a:xfrm>
          <a:prstGeom prst="rect">
            <a:avLst/>
          </a:prstGeom>
          <a:solidFill>
            <a:srgbClr val="F7FAFB"/>
          </a:solidFill>
          <a:ln w="12700">
            <a:solidFill>
              <a:srgbClr val="79909B"/>
            </a:solidFill>
          </a:ln>
        </p:spPr>
      </p:sp>
      <p:sp>
        <p:nvSpPr>
          <p:cNvPr id="11" name="3. Wait for Listening"/>
          <p:cNvSpPr txBox="1"/>
          <p:nvPr/>
        </p:nvSpPr>
        <p:spPr>
          <a:xfrm>
            <a:off x="781050" y="3244850"/>
            <a:ext cx="59436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3. Wait for Listening</a:t>
            </a:r>
            <a:endParaRPr lang="en-US"/>
          </a:p>
        </p:txBody>
      </p:sp>
      <p:cxnSp>
        <p:nvCxnSpPr>
          <p:cNvPr id="12" name="Connector 12"/>
          <p:cNvCxnSpPr/>
          <p:nvPr/>
        </p:nvCxnSpPr>
        <p:spPr>
          <a:xfrm>
            <a:off x="3752850" y="3673554"/>
            <a:ext cx="0" cy="207883"/>
          </a:xfrm>
          <a:prstGeom prst="line">
            <a:avLst/>
          </a:prstGeom>
          <a:ln w="19050">
            <a:solidFill>
              <a:srgbClr val="526875"/>
            </a:solidFill>
            <a:tailEnd type="triangle"/>
          </a:ln>
        </p:spPr>
      </p:cxnSp>
      <p:sp>
        <p:nvSpPr>
          <p:cNvPr id="13" name="rect"/>
          <p:cNvSpPr txBox="0"/>
          <p:nvPr/>
        </p:nvSpPr>
        <p:spPr>
          <a:xfrm>
            <a:off x="609600" y="3881438"/>
            <a:ext cx="6286500" cy="562054"/>
          </a:xfrm>
          <a:prstGeom prst="rect">
            <a:avLst/>
          </a:prstGeom>
          <a:solidFill>
            <a:srgbClr val="F7FAFB"/>
          </a:solidFill>
          <a:ln w="12700">
            <a:solidFill>
              <a:srgbClr val="79909B"/>
            </a:solidFill>
          </a:ln>
        </p:spPr>
      </p:sp>
      <p:sp>
        <p:nvSpPr>
          <p:cNvPr id="14" name="4. Speak, then Stop"/>
          <p:cNvSpPr txBox="1"/>
          <p:nvPr/>
        </p:nvSpPr>
        <p:spPr>
          <a:xfrm>
            <a:off x="781050" y="4014788"/>
            <a:ext cx="59436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4. Speak, then Stop</a:t>
            </a:r>
            <a:endParaRPr lang="en-US"/>
          </a:p>
        </p:txBody>
      </p:sp>
      <p:cxnSp>
        <p:nvCxnSpPr>
          <p:cNvPr id="15" name="Connector 15"/>
          <p:cNvCxnSpPr/>
          <p:nvPr/>
        </p:nvCxnSpPr>
        <p:spPr>
          <a:xfrm>
            <a:off x="3752850" y="4443492"/>
            <a:ext cx="0" cy="207883"/>
          </a:xfrm>
          <a:prstGeom prst="line">
            <a:avLst/>
          </a:prstGeom>
          <a:ln w="19050">
            <a:solidFill>
              <a:srgbClr val="526875"/>
            </a:solidFill>
            <a:tailEnd type="triangle"/>
          </a:ln>
        </p:spPr>
      </p:cxnSp>
      <p:sp>
        <p:nvSpPr>
          <p:cNvPr id="16" name="rect"/>
          <p:cNvSpPr txBox="0"/>
          <p:nvPr/>
        </p:nvSpPr>
        <p:spPr>
          <a:xfrm>
            <a:off x="609600" y="4651375"/>
            <a:ext cx="6286500" cy="562054"/>
          </a:xfrm>
          <a:prstGeom prst="rect">
            <a:avLst/>
          </a:prstGeom>
          <a:solidFill>
            <a:srgbClr val="F7FAFB"/>
          </a:solidFill>
          <a:ln w="12700">
            <a:solidFill>
              <a:srgbClr val="79909B"/>
            </a:solidFill>
          </a:ln>
        </p:spPr>
      </p:sp>
      <p:sp>
        <p:nvSpPr>
          <p:cNvPr id="17" name="5. Review and edit transcript"/>
          <p:cNvSpPr txBox="1"/>
          <p:nvPr/>
        </p:nvSpPr>
        <p:spPr>
          <a:xfrm>
            <a:off x="781050" y="4784725"/>
            <a:ext cx="59436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5. Review and edit transcript</a:t>
            </a:r>
            <a:endParaRPr lang="en-US"/>
          </a:p>
        </p:txBody>
      </p:sp>
      <p:cxnSp>
        <p:nvCxnSpPr>
          <p:cNvPr id="18" name="Connector 18"/>
          <p:cNvCxnSpPr/>
          <p:nvPr/>
        </p:nvCxnSpPr>
        <p:spPr>
          <a:xfrm>
            <a:off x="3752850" y="5213429"/>
            <a:ext cx="0" cy="207883"/>
          </a:xfrm>
          <a:prstGeom prst="line">
            <a:avLst/>
          </a:prstGeom>
          <a:ln w="19050">
            <a:solidFill>
              <a:srgbClr val="526875"/>
            </a:solidFill>
            <a:tailEnd type="triangle"/>
          </a:ln>
        </p:spPr>
      </p:cxnSp>
      <p:sp>
        <p:nvSpPr>
          <p:cNvPr id="19" name="rect"/>
          <p:cNvSpPr txBox="0"/>
          <p:nvPr/>
        </p:nvSpPr>
        <p:spPr>
          <a:xfrm>
            <a:off x="609600" y="5421312"/>
            <a:ext cx="6286500" cy="562054"/>
          </a:xfrm>
          <a:prstGeom prst="rect">
            <a:avLst/>
          </a:prstGeom>
          <a:solidFill>
            <a:srgbClr val="F7FAFB"/>
          </a:solidFill>
          <a:ln w="12700">
            <a:solidFill>
              <a:srgbClr val="79909B"/>
            </a:solidFill>
          </a:ln>
        </p:spPr>
      </p:sp>
      <p:sp>
        <p:nvSpPr>
          <p:cNvPr id="20" name="6. Send reviewed text through F2"/>
          <p:cNvSpPr txBox="1"/>
          <p:nvPr/>
        </p:nvSpPr>
        <p:spPr>
          <a:xfrm>
            <a:off x="781050" y="5554662"/>
            <a:ext cx="594360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6. Send reviewed text through F2</a:t>
            </a:r>
            <a:endParaRPr lang="en-US"/>
          </a:p>
        </p:txBody>
      </p:sp>
      <p:sp>
        <p:nvSpPr>
          <p:cNvPr id="21" name="•"/>
          <p:cNvSpPr txBox="1"/>
          <p:nvPr/>
        </p:nvSpPr>
        <p:spPr>
          <a:xfrm>
            <a:off x="7905750" y="176212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2" name="Wait for Listening, then speak."/>
          <p:cNvSpPr txBox="1"/>
          <p:nvPr/>
        </p:nvSpPr>
        <p:spPr>
          <a:xfrm>
            <a:off x="8134350" y="1762125"/>
            <a:ext cx="3343275"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Wait for Listening, then speak.</a:t>
            </a:r>
            <a:endParaRPr lang="en-US"/>
          </a:p>
        </p:txBody>
      </p:sp>
      <p:sp>
        <p:nvSpPr>
          <p:cNvPr id="23" name="•"/>
          <p:cNvSpPr txBox="1"/>
          <p:nvPr/>
        </p:nvSpPr>
        <p:spPr>
          <a:xfrm>
            <a:off x="7905750" y="270700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4" name="Stop and correct the transcript."/>
          <p:cNvSpPr txBox="1"/>
          <p:nvPr/>
        </p:nvSpPr>
        <p:spPr>
          <a:xfrm>
            <a:off x="8134350" y="2707005"/>
            <a:ext cx="3343275"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Stop and correct the transcript.</a:t>
            </a:r>
            <a:endParaRPr lang="en-US"/>
          </a:p>
        </p:txBody>
      </p:sp>
      <p:sp>
        <p:nvSpPr>
          <p:cNvPr id="25" name="•"/>
          <p:cNvSpPr txBox="1"/>
          <p:nvPr/>
        </p:nvSpPr>
        <p:spPr>
          <a:xfrm>
            <a:off x="7905750" y="365188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6" name="Submit only reviewed text."/>
          <p:cNvSpPr txBox="1"/>
          <p:nvPr/>
        </p:nvSpPr>
        <p:spPr>
          <a:xfrm>
            <a:off x="8134350" y="3651885"/>
            <a:ext cx="3343275" cy="488804"/>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Submit only reviewed text.</a:t>
            </a:r>
            <a:endParaRPr lang="en-US"/>
          </a:p>
        </p:txBody>
      </p:sp>
      <p:sp>
        <p:nvSpPr>
          <p:cNvPr id="27" name="•"/>
          <p:cNvSpPr txBox="1"/>
          <p:nvPr/>
        </p:nvSpPr>
        <p:spPr>
          <a:xfrm>
            <a:off x="7905750" y="4262438"/>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8" name="A speech failure offers Type instead."/>
          <p:cNvSpPr txBox="1"/>
          <p:nvPr/>
        </p:nvSpPr>
        <p:spPr>
          <a:xfrm>
            <a:off x="8134350" y="4262438"/>
            <a:ext cx="3343275"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A speech failure offers Type instead.</a:t>
            </a:r>
            <a:endParaRPr lang="en-US"/>
          </a:p>
        </p:txBody>
      </p:sp>
      <p:sp>
        <p:nvSpPr>
          <p:cNvPr id="29" name="Farshore / Phase 2 / 6"/>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4: Error recovery"/>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F4: Error recovery</a:t>
            </a:r>
            <a:endParaRPr lang="en-US"/>
          </a:p>
        </p:txBody>
      </p:sp>
      <p:sp>
        <p:nvSpPr>
          <p:cNvPr id="3" name="Maya and Rosa / failed turns preserve counsel and score"/>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Maya and Rosa / failed turns preserve counsel and score</a:t>
            </a:r>
            <a:endParaRPr lang="en-US"/>
          </a:p>
        </p:txBody>
      </p:sp>
      <p:sp>
        <p:nvSpPr>
          <p:cNvPr id="4" name="rect"/>
          <p:cNvSpPr txBox="0"/>
          <p:nvPr/>
        </p:nvSpPr>
        <p:spPr>
          <a:xfrm>
            <a:off x="609600" y="1571625"/>
            <a:ext cx="6191250" cy="562054"/>
          </a:xfrm>
          <a:prstGeom prst="rect">
            <a:avLst/>
          </a:prstGeom>
          <a:solidFill>
            <a:srgbClr val="F7FAFB"/>
          </a:solidFill>
          <a:ln w="12700">
            <a:solidFill>
              <a:srgbClr val="79909B"/>
            </a:solidFill>
          </a:ln>
        </p:spPr>
      </p:sp>
      <p:sp>
        <p:nvSpPr>
          <p:cNvPr id="5" name="1. Observe failure or flag mismatch"/>
          <p:cNvSpPr txBox="1"/>
          <p:nvPr/>
        </p:nvSpPr>
        <p:spPr>
          <a:xfrm>
            <a:off x="781050" y="1704975"/>
            <a:ext cx="584835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1. Observe failure or flag mismatch</a:t>
            </a:r>
            <a:endParaRPr lang="en-US"/>
          </a:p>
        </p:txBody>
      </p:sp>
      <p:cxnSp>
        <p:nvCxnSpPr>
          <p:cNvPr id="6" name="Connector 6"/>
          <p:cNvCxnSpPr/>
          <p:nvPr/>
        </p:nvCxnSpPr>
        <p:spPr>
          <a:xfrm>
            <a:off x="3705225" y="2133679"/>
            <a:ext cx="0" cy="207883"/>
          </a:xfrm>
          <a:prstGeom prst="line">
            <a:avLst/>
          </a:prstGeom>
          <a:ln w="19050">
            <a:solidFill>
              <a:srgbClr val="526875"/>
            </a:solidFill>
            <a:tailEnd type="triangle"/>
          </a:ln>
        </p:spPr>
      </p:cxnSp>
      <p:sp>
        <p:nvSpPr>
          <p:cNvPr id="7" name="rect"/>
          <p:cNvSpPr txBox="0"/>
          <p:nvPr/>
        </p:nvSpPr>
        <p:spPr>
          <a:xfrm>
            <a:off x="609600" y="2341562"/>
            <a:ext cx="6191250" cy="562054"/>
          </a:xfrm>
          <a:prstGeom prst="rect">
            <a:avLst/>
          </a:prstGeom>
          <a:solidFill>
            <a:srgbClr val="F7FAFB"/>
          </a:solidFill>
          <a:ln w="12700">
            <a:solidFill>
              <a:srgbClr val="79909B"/>
            </a:solidFill>
          </a:ln>
        </p:spPr>
      </p:sp>
      <p:sp>
        <p:nvSpPr>
          <p:cNvPr id="8" name="2. Explain the issue in plain language"/>
          <p:cNvSpPr txBox="1"/>
          <p:nvPr/>
        </p:nvSpPr>
        <p:spPr>
          <a:xfrm>
            <a:off x="781050" y="2474912"/>
            <a:ext cx="584835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2. Explain the issue in plain language</a:t>
            </a:r>
            <a:endParaRPr lang="en-US"/>
          </a:p>
        </p:txBody>
      </p:sp>
      <p:cxnSp>
        <p:nvCxnSpPr>
          <p:cNvPr id="9" name="Connector 9"/>
          <p:cNvCxnSpPr/>
          <p:nvPr/>
        </p:nvCxnSpPr>
        <p:spPr>
          <a:xfrm>
            <a:off x="3705225" y="2903617"/>
            <a:ext cx="0" cy="207883"/>
          </a:xfrm>
          <a:prstGeom prst="line">
            <a:avLst/>
          </a:prstGeom>
          <a:ln w="19050">
            <a:solidFill>
              <a:srgbClr val="526875"/>
            </a:solidFill>
            <a:tailEnd type="triangle"/>
          </a:ln>
        </p:spPr>
      </p:cxnSp>
      <p:sp>
        <p:nvSpPr>
          <p:cNvPr id="10" name="rect"/>
          <p:cNvSpPr txBox="0"/>
          <p:nvPr/>
        </p:nvSpPr>
        <p:spPr>
          <a:xfrm>
            <a:off x="609600" y="3111500"/>
            <a:ext cx="6191250" cy="562054"/>
          </a:xfrm>
          <a:prstGeom prst="rect">
            <a:avLst/>
          </a:prstGeom>
          <a:solidFill>
            <a:srgbClr val="F7FAFB"/>
          </a:solidFill>
          <a:ln w="12700">
            <a:solidFill>
              <a:srgbClr val="79909B"/>
            </a:solidFill>
          </a:ln>
        </p:spPr>
      </p:sp>
      <p:sp>
        <p:nvSpPr>
          <p:cNvPr id="11" name="3. Preserve draft and uncommitted score"/>
          <p:cNvSpPr txBox="1"/>
          <p:nvPr/>
        </p:nvSpPr>
        <p:spPr>
          <a:xfrm>
            <a:off x="781050" y="3244850"/>
            <a:ext cx="584835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3. Preserve draft and uncommitted score</a:t>
            </a:r>
            <a:endParaRPr lang="en-US"/>
          </a:p>
        </p:txBody>
      </p:sp>
      <p:cxnSp>
        <p:nvCxnSpPr>
          <p:cNvPr id="12" name="Connector 12"/>
          <p:cNvCxnSpPr/>
          <p:nvPr/>
        </p:nvCxnSpPr>
        <p:spPr>
          <a:xfrm>
            <a:off x="3705225" y="3673554"/>
            <a:ext cx="0" cy="207883"/>
          </a:xfrm>
          <a:prstGeom prst="line">
            <a:avLst/>
          </a:prstGeom>
          <a:ln w="19050">
            <a:solidFill>
              <a:srgbClr val="526875"/>
            </a:solidFill>
            <a:tailEnd type="triangle"/>
          </a:ln>
        </p:spPr>
      </p:cxnSp>
      <p:sp>
        <p:nvSpPr>
          <p:cNvPr id="13" name="rect"/>
          <p:cNvSpPr txBox="0"/>
          <p:nvPr/>
        </p:nvSpPr>
        <p:spPr>
          <a:xfrm>
            <a:off x="609600" y="3881438"/>
            <a:ext cx="6191250" cy="562054"/>
          </a:xfrm>
          <a:prstGeom prst="rect">
            <a:avLst/>
          </a:prstGeom>
          <a:solidFill>
            <a:srgbClr val="F7FAFB"/>
          </a:solidFill>
          <a:ln w="12700">
            <a:solidFill>
              <a:srgbClr val="79909B"/>
            </a:solidFill>
          </a:ln>
        </p:spPr>
      </p:sp>
      <p:sp>
        <p:nvSpPr>
          <p:cNvPr id="14" name="4. Choose Edit, Retry or Story mode"/>
          <p:cNvSpPr txBox="1"/>
          <p:nvPr/>
        </p:nvSpPr>
        <p:spPr>
          <a:xfrm>
            <a:off x="781050" y="4014788"/>
            <a:ext cx="584835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4. Choose Edit, Retry or Story mode</a:t>
            </a:r>
            <a:endParaRPr lang="en-US"/>
          </a:p>
        </p:txBody>
      </p:sp>
      <p:cxnSp>
        <p:nvCxnSpPr>
          <p:cNvPr id="15" name="Connector 15"/>
          <p:cNvCxnSpPr/>
          <p:nvPr/>
        </p:nvCxnSpPr>
        <p:spPr>
          <a:xfrm>
            <a:off x="3705225" y="4443492"/>
            <a:ext cx="0" cy="207883"/>
          </a:xfrm>
          <a:prstGeom prst="line">
            <a:avLst/>
          </a:prstGeom>
          <a:ln w="19050">
            <a:solidFill>
              <a:srgbClr val="526875"/>
            </a:solidFill>
            <a:tailEnd type="triangle"/>
          </a:ln>
        </p:spPr>
      </p:cxnSp>
      <p:sp>
        <p:nvSpPr>
          <p:cNvPr id="16" name="rect"/>
          <p:cNvSpPr txBox="0"/>
          <p:nvPr/>
        </p:nvSpPr>
        <p:spPr>
          <a:xfrm>
            <a:off x="609600" y="4651375"/>
            <a:ext cx="6191250" cy="562054"/>
          </a:xfrm>
          <a:prstGeom prst="rect">
            <a:avLst/>
          </a:prstGeom>
          <a:solidFill>
            <a:srgbClr val="F7FAFB"/>
          </a:solidFill>
          <a:ln w="12700">
            <a:solidFill>
              <a:srgbClr val="79909B"/>
            </a:solidFill>
          </a:ln>
        </p:spPr>
      </p:sp>
      <p:sp>
        <p:nvSpPr>
          <p:cNvPr id="17" name="5. Re-submit or discard candidate"/>
          <p:cNvSpPr txBox="1"/>
          <p:nvPr/>
        </p:nvSpPr>
        <p:spPr>
          <a:xfrm>
            <a:off x="781050" y="4784725"/>
            <a:ext cx="584835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5. Re-submit or discard candidate</a:t>
            </a:r>
            <a:endParaRPr lang="en-US"/>
          </a:p>
        </p:txBody>
      </p:sp>
      <p:cxnSp>
        <p:nvCxnSpPr>
          <p:cNvPr id="18" name="Connector 18"/>
          <p:cNvCxnSpPr/>
          <p:nvPr/>
        </p:nvCxnSpPr>
        <p:spPr>
          <a:xfrm>
            <a:off x="3705225" y="5213429"/>
            <a:ext cx="0" cy="207883"/>
          </a:xfrm>
          <a:prstGeom prst="line">
            <a:avLst/>
          </a:prstGeom>
          <a:ln w="19050">
            <a:solidFill>
              <a:srgbClr val="526875"/>
            </a:solidFill>
            <a:tailEnd type="triangle"/>
          </a:ln>
        </p:spPr>
      </p:cxnSp>
      <p:sp>
        <p:nvSpPr>
          <p:cNvPr id="19" name="rect"/>
          <p:cNvSpPr txBox="0"/>
          <p:nvPr/>
        </p:nvSpPr>
        <p:spPr>
          <a:xfrm>
            <a:off x="609600" y="5421312"/>
            <a:ext cx="6191250" cy="562054"/>
          </a:xfrm>
          <a:prstGeom prst="rect">
            <a:avLst/>
          </a:prstGeom>
          <a:solidFill>
            <a:srgbClr val="F7FAFB"/>
          </a:solidFill>
          <a:ln w="12700">
            <a:solidFill>
              <a:srgbClr val="79909B"/>
            </a:solidFill>
          </a:ln>
        </p:spPr>
      </p:sp>
      <p:sp>
        <p:nvSpPr>
          <p:cNvPr id="20" name="6. Return to result review"/>
          <p:cNvSpPr txBox="1"/>
          <p:nvPr/>
        </p:nvSpPr>
        <p:spPr>
          <a:xfrm>
            <a:off x="781050" y="5554662"/>
            <a:ext cx="5848350" cy="401136"/>
          </a:xfrm>
          <a:prstGeom prst="rect">
            <a:avLst/>
          </a:prstGeom>
          <a:noFill/>
          <a:ln>
            <a:noFill/>
          </a:ln>
        </p:spPr>
        <p:txBody>
          <a:bodyPr wrap="square" lIns="0" rIns="0" tIns="0" bIns="0" anchor="t">
            <a:noAutofit/>
          </a:bodyPr>
          <a:lstStyle/>
          <a:p>
            <a:pPr>
              <a:lnSpc>
                <a:spcPct val="130000"/>
              </a:lnSpc>
            </a:pPr>
            <a:r>
              <a:rPr lang="en-US" sz="1575" b="0">
                <a:solidFill>
                  <a:srgbClr val="102E40"/>
                </a:solidFill>
                <a:latin typeface="Arial"/>
              </a:rPr>
              <a:t xml:space="preserve">6. Return to result review</a:t>
            </a:r>
            <a:endParaRPr lang="en-US"/>
          </a:p>
        </p:txBody>
      </p:sp>
      <p:sp>
        <p:nvSpPr>
          <p:cNvPr id="21" name="•"/>
          <p:cNvSpPr txBox="1"/>
          <p:nvPr/>
        </p:nvSpPr>
        <p:spPr>
          <a:xfrm>
            <a:off x="7810500" y="176212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2" name="Connection error, timeout or rate limit: retry or Story"/>
          <p:cNvSpPr txBox="1"/>
          <p:nvPr/>
        </p:nvSpPr>
        <p:spPr>
          <a:xfrm>
            <a:off x="8039100" y="1762125"/>
            <a:ext cx="348615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Connection error, timeout or rate limit: retry or Story mode.</a:t>
            </a:r>
            <a:endParaRPr lang="en-US"/>
          </a:p>
        </p:txBody>
      </p:sp>
      <p:sp>
        <p:nvSpPr>
          <p:cNvPr id="23" name="•"/>
          <p:cNvSpPr txBox="1"/>
          <p:nvPr/>
        </p:nvSpPr>
        <p:spPr>
          <a:xfrm>
            <a:off x="7810500" y="272605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4" name="Invalid input: explain the required length inline."/>
          <p:cNvSpPr txBox="1"/>
          <p:nvPr/>
        </p:nvSpPr>
        <p:spPr>
          <a:xfrm>
            <a:off x="8039100" y="2726055"/>
            <a:ext cx="348615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Invalid input: explain the required length inline.</a:t>
            </a:r>
            <a:endParaRPr lang="en-US"/>
          </a:p>
        </p:txBody>
      </p:sp>
      <p:sp>
        <p:nvSpPr>
          <p:cNvPr id="25" name="•"/>
          <p:cNvSpPr txBox="1"/>
          <p:nvPr/>
        </p:nvSpPr>
        <p:spPr>
          <a:xfrm>
            <a:off x="7810500" y="368998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26" name="Wrong or empty reply: reject or review."/>
          <p:cNvSpPr txBox="1"/>
          <p:nvPr/>
        </p:nvSpPr>
        <p:spPr>
          <a:xfrm>
            <a:off x="8039100" y="3689985"/>
            <a:ext cx="348615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Wrong or empty reply: reject or review.</a:t>
            </a:r>
            <a:endParaRPr lang="en-US"/>
          </a:p>
        </p:txBody>
      </p:sp>
      <p:sp>
        <p:nvSpPr>
          <p:cNvPr id="27" name="Farshore / Phase 2 / 7"/>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I interface states"/>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AI interface states</a:t>
            </a:r>
            <a:endParaRPr lang="en-US"/>
          </a:p>
        </p:txBody>
      </p:sp>
      <p:sp>
        <p:nvSpPr>
          <p:cNvPr id="3" name="Input, long-wait feedback and result review"/>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Input, long-wait feedback and result review</a:t>
            </a:r>
            <a:endParaRPr lang="en-US"/>
          </a:p>
        </p:txBody>
      </p:sp>
      <p:sp>
        <p:nvSpPr>
          <p:cNvPr id="4" name="Initial"/>
          <p:cNvSpPr txBox="1"/>
          <p:nvPr/>
        </p:nvSpPr>
        <p:spPr>
          <a:xfrm>
            <a:off x="609600" y="1762125"/>
            <a:ext cx="3429000" cy="532638"/>
          </a:xfrm>
          <a:prstGeom prst="rect">
            <a:avLst/>
          </a:prstGeom>
          <a:noFill/>
          <a:ln>
            <a:noFill/>
          </a:ln>
        </p:spPr>
        <p:txBody>
          <a:bodyPr wrap="square" lIns="0" rIns="0" tIns="0" bIns="0" anchor="t">
            <a:noAutofit/>
          </a:bodyPr>
          <a:lstStyle/>
          <a:p>
            <a:pPr>
              <a:lnSpc>
                <a:spcPct val="130000"/>
              </a:lnSpc>
            </a:pPr>
            <a:r>
              <a:rPr lang="en-US" sz="2250" b="1">
                <a:solidFill>
                  <a:srgbClr val="102E40"/>
                </a:solidFill>
                <a:latin typeface="Arial"/>
              </a:rPr>
              <a:t xml:space="preserve">Initial</a:t>
            </a:r>
            <a:endParaRPr lang="en-US"/>
          </a:p>
        </p:txBody>
      </p:sp>
      <p:sp>
        <p:nvSpPr>
          <p:cNvPr id="5" name="rect"/>
          <p:cNvSpPr txBox="0"/>
          <p:nvPr/>
        </p:nvSpPr>
        <p:spPr>
          <a:xfrm>
            <a:off x="609600" y="2428875"/>
            <a:ext cx="3333750" cy="2809875"/>
          </a:xfrm>
          <a:prstGeom prst="rect">
            <a:avLst/>
          </a:prstGeom>
          <a:solidFill>
            <a:srgbClr val="FFFFFF"/>
          </a:solidFill>
          <a:ln w="12700">
            <a:solidFill>
              <a:srgbClr val="777777"/>
            </a:solidFill>
          </a:ln>
        </p:spPr>
      </p:sp>
      <p:sp>
        <p:nvSpPr>
          <p:cNvPr id="6" name="rect"/>
          <p:cNvSpPr txBox="0"/>
          <p:nvPr/>
        </p:nvSpPr>
        <p:spPr>
          <a:xfrm>
            <a:off x="781050" y="2667000"/>
            <a:ext cx="2990850" cy="619125"/>
          </a:xfrm>
          <a:prstGeom prst="rect">
            <a:avLst/>
          </a:prstGeom>
          <a:solidFill>
            <a:srgbClr val="F1F1F1"/>
          </a:solidFill>
          <a:ln w="12700">
            <a:solidFill>
              <a:srgbClr val="999999"/>
            </a:solidFill>
          </a:ln>
        </p:spPr>
      </p:sp>
      <p:sp>
        <p:nvSpPr>
          <p:cNvPr id="7" name="Scene and current mode"/>
          <p:cNvSpPr txBox="1"/>
          <p:nvPr/>
        </p:nvSpPr>
        <p:spPr>
          <a:xfrm>
            <a:off x="914400" y="2809875"/>
            <a:ext cx="2724150" cy="430359"/>
          </a:xfrm>
          <a:prstGeom prst="rect">
            <a:avLst/>
          </a:prstGeom>
          <a:noFill/>
          <a:ln>
            <a:noFill/>
          </a:ln>
        </p:spPr>
        <p:txBody>
          <a:bodyPr wrap="square" lIns="0" rIns="0" tIns="0" bIns="0" anchor="t">
            <a:noAutofit/>
          </a:bodyPr>
          <a:lstStyle/>
          <a:p>
            <a:pPr>
              <a:lnSpc>
                <a:spcPct val="130000"/>
              </a:lnSpc>
            </a:pPr>
            <a:r>
              <a:rPr lang="en-US" sz="1725" b="0">
                <a:solidFill>
                  <a:srgbClr val="333333"/>
                </a:solidFill>
                <a:latin typeface="Arial"/>
              </a:rPr>
              <a:t xml:space="preserve">Scene and current mode</a:t>
            </a:r>
            <a:endParaRPr lang="en-US"/>
          </a:p>
        </p:txBody>
      </p:sp>
      <p:sp>
        <p:nvSpPr>
          <p:cNvPr id="8" name="rect"/>
          <p:cNvSpPr txBox="0"/>
          <p:nvPr/>
        </p:nvSpPr>
        <p:spPr>
          <a:xfrm>
            <a:off x="781050" y="3448050"/>
            <a:ext cx="2990850" cy="619125"/>
          </a:xfrm>
          <a:prstGeom prst="rect">
            <a:avLst/>
          </a:prstGeom>
          <a:solidFill>
            <a:srgbClr val="F1F1F1"/>
          </a:solidFill>
          <a:ln w="12700">
            <a:solidFill>
              <a:srgbClr val="999999"/>
            </a:solidFill>
          </a:ln>
        </p:spPr>
      </p:sp>
      <p:sp>
        <p:nvSpPr>
          <p:cNvPr id="9" name="Editable counsel"/>
          <p:cNvSpPr txBox="1"/>
          <p:nvPr/>
        </p:nvSpPr>
        <p:spPr>
          <a:xfrm>
            <a:off x="914400" y="3590925"/>
            <a:ext cx="2724150" cy="430359"/>
          </a:xfrm>
          <a:prstGeom prst="rect">
            <a:avLst/>
          </a:prstGeom>
          <a:noFill/>
          <a:ln>
            <a:noFill/>
          </a:ln>
        </p:spPr>
        <p:txBody>
          <a:bodyPr wrap="square" lIns="0" rIns="0" tIns="0" bIns="0" anchor="t">
            <a:noAutofit/>
          </a:bodyPr>
          <a:lstStyle/>
          <a:p>
            <a:pPr>
              <a:lnSpc>
                <a:spcPct val="130000"/>
              </a:lnSpc>
            </a:pPr>
            <a:r>
              <a:rPr lang="en-US" sz="1725" b="0">
                <a:solidFill>
                  <a:srgbClr val="333333"/>
                </a:solidFill>
                <a:latin typeface="Arial"/>
              </a:rPr>
              <a:t xml:space="preserve">Editable counsel</a:t>
            </a:r>
            <a:endParaRPr lang="en-US"/>
          </a:p>
        </p:txBody>
      </p:sp>
      <p:sp>
        <p:nvSpPr>
          <p:cNvPr id="10" name="rect"/>
          <p:cNvSpPr txBox="0"/>
          <p:nvPr/>
        </p:nvSpPr>
        <p:spPr>
          <a:xfrm>
            <a:off x="781050" y="4229100"/>
            <a:ext cx="2990850" cy="619125"/>
          </a:xfrm>
          <a:prstGeom prst="rect">
            <a:avLst/>
          </a:prstGeom>
          <a:solidFill>
            <a:srgbClr val="F1F1F1"/>
          </a:solidFill>
          <a:ln w="12700">
            <a:solidFill>
              <a:srgbClr val="999999"/>
            </a:solidFill>
          </a:ln>
        </p:spPr>
      </p:sp>
      <p:sp>
        <p:nvSpPr>
          <p:cNvPr id="11" name="Dictate / Send"/>
          <p:cNvSpPr txBox="1"/>
          <p:nvPr/>
        </p:nvSpPr>
        <p:spPr>
          <a:xfrm>
            <a:off x="914400" y="4371975"/>
            <a:ext cx="2724150" cy="430359"/>
          </a:xfrm>
          <a:prstGeom prst="rect">
            <a:avLst/>
          </a:prstGeom>
          <a:noFill/>
          <a:ln>
            <a:noFill/>
          </a:ln>
        </p:spPr>
        <p:txBody>
          <a:bodyPr wrap="square" lIns="0" rIns="0" tIns="0" bIns="0" anchor="t">
            <a:noAutofit/>
          </a:bodyPr>
          <a:lstStyle/>
          <a:p>
            <a:pPr>
              <a:lnSpc>
                <a:spcPct val="130000"/>
              </a:lnSpc>
            </a:pPr>
            <a:r>
              <a:rPr lang="en-US" sz="1725" b="0">
                <a:solidFill>
                  <a:srgbClr val="333333"/>
                </a:solidFill>
                <a:latin typeface="Arial"/>
              </a:rPr>
              <a:t xml:space="preserve">Dictate / Send</a:t>
            </a:r>
            <a:endParaRPr lang="en-US"/>
          </a:p>
        </p:txBody>
      </p:sp>
      <p:sp>
        <p:nvSpPr>
          <p:cNvPr id="12" name="Loading"/>
          <p:cNvSpPr txBox="1"/>
          <p:nvPr/>
        </p:nvSpPr>
        <p:spPr>
          <a:xfrm>
            <a:off x="4467225" y="1762125"/>
            <a:ext cx="3429000" cy="532638"/>
          </a:xfrm>
          <a:prstGeom prst="rect">
            <a:avLst/>
          </a:prstGeom>
          <a:noFill/>
          <a:ln>
            <a:noFill/>
          </a:ln>
        </p:spPr>
        <p:txBody>
          <a:bodyPr wrap="square" lIns="0" rIns="0" tIns="0" bIns="0" anchor="t">
            <a:noAutofit/>
          </a:bodyPr>
          <a:lstStyle/>
          <a:p>
            <a:pPr>
              <a:lnSpc>
                <a:spcPct val="130000"/>
              </a:lnSpc>
            </a:pPr>
            <a:r>
              <a:rPr lang="en-US" sz="2250" b="1">
                <a:solidFill>
                  <a:srgbClr val="102E40"/>
                </a:solidFill>
                <a:latin typeface="Arial"/>
              </a:rPr>
              <a:t xml:space="preserve">Loading</a:t>
            </a:r>
            <a:endParaRPr lang="en-US"/>
          </a:p>
        </p:txBody>
      </p:sp>
      <p:sp>
        <p:nvSpPr>
          <p:cNvPr id="13" name="rect"/>
          <p:cNvSpPr txBox="0"/>
          <p:nvPr/>
        </p:nvSpPr>
        <p:spPr>
          <a:xfrm>
            <a:off x="4467225" y="2428875"/>
            <a:ext cx="3333750" cy="2809875"/>
          </a:xfrm>
          <a:prstGeom prst="rect">
            <a:avLst/>
          </a:prstGeom>
          <a:solidFill>
            <a:srgbClr val="FFFFFF"/>
          </a:solidFill>
          <a:ln w="12700">
            <a:solidFill>
              <a:srgbClr val="777777"/>
            </a:solidFill>
          </a:ln>
        </p:spPr>
      </p:sp>
      <p:sp>
        <p:nvSpPr>
          <p:cNvPr id="14" name="rect"/>
          <p:cNvSpPr txBox="0"/>
          <p:nvPr/>
        </p:nvSpPr>
        <p:spPr>
          <a:xfrm>
            <a:off x="4638675" y="2667000"/>
            <a:ext cx="2990850" cy="619125"/>
          </a:xfrm>
          <a:prstGeom prst="rect">
            <a:avLst/>
          </a:prstGeom>
          <a:solidFill>
            <a:srgbClr val="F1F1F1"/>
          </a:solidFill>
          <a:ln w="12700">
            <a:solidFill>
              <a:srgbClr val="999999"/>
            </a:solidFill>
          </a:ln>
        </p:spPr>
      </p:sp>
      <p:sp>
        <p:nvSpPr>
          <p:cNvPr id="15" name="Thinking and elapsed wait"/>
          <p:cNvSpPr txBox="1"/>
          <p:nvPr/>
        </p:nvSpPr>
        <p:spPr>
          <a:xfrm>
            <a:off x="4772025" y="2809875"/>
            <a:ext cx="2724150" cy="430359"/>
          </a:xfrm>
          <a:prstGeom prst="rect">
            <a:avLst/>
          </a:prstGeom>
          <a:noFill/>
          <a:ln>
            <a:noFill/>
          </a:ln>
        </p:spPr>
        <p:txBody>
          <a:bodyPr wrap="square" lIns="0" rIns="0" tIns="0" bIns="0" anchor="t">
            <a:noAutofit/>
          </a:bodyPr>
          <a:lstStyle/>
          <a:p>
            <a:pPr>
              <a:lnSpc>
                <a:spcPct val="130000"/>
              </a:lnSpc>
            </a:pPr>
            <a:r>
              <a:rPr lang="en-US" sz="1725" b="0">
                <a:solidFill>
                  <a:srgbClr val="333333"/>
                </a:solidFill>
                <a:latin typeface="Arial"/>
              </a:rPr>
              <a:t xml:space="preserve">Thinking and elapsed wait</a:t>
            </a:r>
            <a:endParaRPr lang="en-US"/>
          </a:p>
        </p:txBody>
      </p:sp>
      <p:sp>
        <p:nvSpPr>
          <p:cNvPr id="16" name="rect"/>
          <p:cNvSpPr txBox="0"/>
          <p:nvPr/>
        </p:nvSpPr>
        <p:spPr>
          <a:xfrm>
            <a:off x="4638675" y="3448050"/>
            <a:ext cx="2990850" cy="619125"/>
          </a:xfrm>
          <a:prstGeom prst="rect">
            <a:avLst/>
          </a:prstGeom>
          <a:solidFill>
            <a:srgbClr val="F1F1F1"/>
          </a:solidFill>
          <a:ln w="12700">
            <a:solidFill>
              <a:srgbClr val="999999"/>
            </a:solidFill>
          </a:ln>
        </p:spPr>
      </p:sp>
      <p:sp>
        <p:nvSpPr>
          <p:cNvPr id="17" name="Draft retained"/>
          <p:cNvSpPr txBox="1"/>
          <p:nvPr/>
        </p:nvSpPr>
        <p:spPr>
          <a:xfrm>
            <a:off x="4772025" y="3590925"/>
            <a:ext cx="2724150" cy="430359"/>
          </a:xfrm>
          <a:prstGeom prst="rect">
            <a:avLst/>
          </a:prstGeom>
          <a:noFill/>
          <a:ln>
            <a:noFill/>
          </a:ln>
        </p:spPr>
        <p:txBody>
          <a:bodyPr wrap="square" lIns="0" rIns="0" tIns="0" bIns="0" anchor="t">
            <a:noAutofit/>
          </a:bodyPr>
          <a:lstStyle/>
          <a:p>
            <a:pPr>
              <a:lnSpc>
                <a:spcPct val="130000"/>
              </a:lnSpc>
            </a:pPr>
            <a:r>
              <a:rPr lang="en-US" sz="1725" b="0">
                <a:solidFill>
                  <a:srgbClr val="333333"/>
                </a:solidFill>
                <a:latin typeface="Arial"/>
              </a:rPr>
              <a:t xml:space="preserve">Draft retained</a:t>
            </a:r>
            <a:endParaRPr lang="en-US"/>
          </a:p>
        </p:txBody>
      </p:sp>
      <p:sp>
        <p:nvSpPr>
          <p:cNvPr id="18" name="rect"/>
          <p:cNvSpPr txBox="0"/>
          <p:nvPr/>
        </p:nvSpPr>
        <p:spPr>
          <a:xfrm>
            <a:off x="4638675" y="4229100"/>
            <a:ext cx="2990850" cy="619125"/>
          </a:xfrm>
          <a:prstGeom prst="rect">
            <a:avLst/>
          </a:prstGeom>
          <a:solidFill>
            <a:srgbClr val="F1F1F1"/>
          </a:solidFill>
          <a:ln w="12700">
            <a:solidFill>
              <a:srgbClr val="999999"/>
            </a:solidFill>
          </a:ln>
        </p:spPr>
      </p:sp>
      <p:sp>
        <p:nvSpPr>
          <p:cNvPr id="19" name="Cancel request (proposed)"/>
          <p:cNvSpPr txBox="1"/>
          <p:nvPr/>
        </p:nvSpPr>
        <p:spPr>
          <a:xfrm>
            <a:off x="4772025" y="4371975"/>
            <a:ext cx="2724150" cy="430359"/>
          </a:xfrm>
          <a:prstGeom prst="rect">
            <a:avLst/>
          </a:prstGeom>
          <a:noFill/>
          <a:ln>
            <a:noFill/>
          </a:ln>
        </p:spPr>
        <p:txBody>
          <a:bodyPr wrap="square" lIns="0" rIns="0" tIns="0" bIns="0" anchor="t">
            <a:noAutofit/>
          </a:bodyPr>
          <a:lstStyle/>
          <a:p>
            <a:pPr>
              <a:lnSpc>
                <a:spcPct val="130000"/>
              </a:lnSpc>
            </a:pPr>
            <a:r>
              <a:rPr lang="en-US" sz="1725" b="0">
                <a:solidFill>
                  <a:srgbClr val="333333"/>
                </a:solidFill>
                <a:latin typeface="Arial"/>
              </a:rPr>
              <a:t xml:space="preserve">Cancel request (proposed)</a:t>
            </a:r>
            <a:endParaRPr lang="en-US"/>
          </a:p>
        </p:txBody>
      </p:sp>
      <p:sp>
        <p:nvSpPr>
          <p:cNvPr id="20" name="Success"/>
          <p:cNvSpPr txBox="1"/>
          <p:nvPr/>
        </p:nvSpPr>
        <p:spPr>
          <a:xfrm>
            <a:off x="8324850" y="1762125"/>
            <a:ext cx="3429000" cy="532638"/>
          </a:xfrm>
          <a:prstGeom prst="rect">
            <a:avLst/>
          </a:prstGeom>
          <a:noFill/>
          <a:ln>
            <a:noFill/>
          </a:ln>
        </p:spPr>
        <p:txBody>
          <a:bodyPr wrap="square" lIns="0" rIns="0" tIns="0" bIns="0" anchor="t">
            <a:noAutofit/>
          </a:bodyPr>
          <a:lstStyle/>
          <a:p>
            <a:pPr>
              <a:lnSpc>
                <a:spcPct val="130000"/>
              </a:lnSpc>
            </a:pPr>
            <a:r>
              <a:rPr lang="en-US" sz="2250" b="1">
                <a:solidFill>
                  <a:srgbClr val="102E40"/>
                </a:solidFill>
                <a:latin typeface="Arial"/>
              </a:rPr>
              <a:t xml:space="preserve">Success</a:t>
            </a:r>
            <a:endParaRPr lang="en-US"/>
          </a:p>
        </p:txBody>
      </p:sp>
      <p:sp>
        <p:nvSpPr>
          <p:cNvPr id="21" name="rect"/>
          <p:cNvSpPr txBox="0"/>
          <p:nvPr/>
        </p:nvSpPr>
        <p:spPr>
          <a:xfrm>
            <a:off x="8324850" y="2428875"/>
            <a:ext cx="3333750" cy="2809875"/>
          </a:xfrm>
          <a:prstGeom prst="rect">
            <a:avLst/>
          </a:prstGeom>
          <a:solidFill>
            <a:srgbClr val="FFFFFF"/>
          </a:solidFill>
          <a:ln w="12700">
            <a:solidFill>
              <a:srgbClr val="777777"/>
            </a:solidFill>
          </a:ln>
        </p:spPr>
      </p:sp>
      <p:sp>
        <p:nvSpPr>
          <p:cNvPr id="22" name="rect"/>
          <p:cNvSpPr txBox="0"/>
          <p:nvPr/>
        </p:nvSpPr>
        <p:spPr>
          <a:xfrm>
            <a:off x="8496300" y="2667000"/>
            <a:ext cx="2990850" cy="619125"/>
          </a:xfrm>
          <a:prstGeom prst="rect">
            <a:avLst/>
          </a:prstGeom>
          <a:solidFill>
            <a:srgbClr val="F1F1F1"/>
          </a:solidFill>
          <a:ln w="12700">
            <a:solidFill>
              <a:srgbClr val="999999"/>
            </a:solidFill>
          </a:ln>
        </p:spPr>
      </p:sp>
      <p:sp>
        <p:nvSpPr>
          <p:cNvPr id="23" name="Action and rationale"/>
          <p:cNvSpPr txBox="1"/>
          <p:nvPr/>
        </p:nvSpPr>
        <p:spPr>
          <a:xfrm>
            <a:off x="8629650" y="2809875"/>
            <a:ext cx="2724150" cy="430359"/>
          </a:xfrm>
          <a:prstGeom prst="rect">
            <a:avLst/>
          </a:prstGeom>
          <a:noFill/>
          <a:ln>
            <a:noFill/>
          </a:ln>
        </p:spPr>
        <p:txBody>
          <a:bodyPr wrap="square" lIns="0" rIns="0" tIns="0" bIns="0" anchor="t">
            <a:noAutofit/>
          </a:bodyPr>
          <a:lstStyle/>
          <a:p>
            <a:pPr>
              <a:lnSpc>
                <a:spcPct val="130000"/>
              </a:lnSpc>
            </a:pPr>
            <a:r>
              <a:rPr lang="en-US" sz="1725" b="0">
                <a:solidFill>
                  <a:srgbClr val="333333"/>
                </a:solidFill>
                <a:latin typeface="Arial"/>
              </a:rPr>
              <a:t xml:space="preserve">Action and rationale</a:t>
            </a:r>
            <a:endParaRPr lang="en-US"/>
          </a:p>
        </p:txBody>
      </p:sp>
      <p:sp>
        <p:nvSpPr>
          <p:cNvPr id="24" name="rect"/>
          <p:cNvSpPr txBox="0"/>
          <p:nvPr/>
        </p:nvSpPr>
        <p:spPr>
          <a:xfrm>
            <a:off x="8496300" y="3448050"/>
            <a:ext cx="2990850" cy="619125"/>
          </a:xfrm>
          <a:prstGeom prst="rect">
            <a:avLst/>
          </a:prstGeom>
          <a:solidFill>
            <a:srgbClr val="F1F1F1"/>
          </a:solidFill>
          <a:ln w="12700">
            <a:solidFill>
              <a:srgbClr val="999999"/>
            </a:solidFill>
          </a:ln>
        </p:spPr>
      </p:sp>
      <p:sp>
        <p:nvSpPr>
          <p:cNvPr id="25" name="Preview time/trust"/>
          <p:cNvSpPr txBox="1"/>
          <p:nvPr/>
        </p:nvSpPr>
        <p:spPr>
          <a:xfrm>
            <a:off x="8629650" y="3590925"/>
            <a:ext cx="2724150" cy="430359"/>
          </a:xfrm>
          <a:prstGeom prst="rect">
            <a:avLst/>
          </a:prstGeom>
          <a:noFill/>
          <a:ln>
            <a:noFill/>
          </a:ln>
        </p:spPr>
        <p:txBody>
          <a:bodyPr wrap="square" lIns="0" rIns="0" tIns="0" bIns="0" anchor="t">
            <a:noAutofit/>
          </a:bodyPr>
          <a:lstStyle/>
          <a:p>
            <a:pPr>
              <a:lnSpc>
                <a:spcPct val="130000"/>
              </a:lnSpc>
            </a:pPr>
            <a:r>
              <a:rPr lang="en-US" sz="1725" b="0">
                <a:solidFill>
                  <a:srgbClr val="333333"/>
                </a:solidFill>
                <a:latin typeface="Arial"/>
              </a:rPr>
              <a:t xml:space="preserve">Preview time/trust</a:t>
            </a:r>
            <a:endParaRPr lang="en-US"/>
          </a:p>
        </p:txBody>
      </p:sp>
      <p:sp>
        <p:nvSpPr>
          <p:cNvPr id="26" name="rect"/>
          <p:cNvSpPr txBox="0"/>
          <p:nvPr/>
        </p:nvSpPr>
        <p:spPr>
          <a:xfrm>
            <a:off x="8496300" y="4229100"/>
            <a:ext cx="2990850" cy="619125"/>
          </a:xfrm>
          <a:prstGeom prst="rect">
            <a:avLst/>
          </a:prstGeom>
          <a:solidFill>
            <a:srgbClr val="F1F1F1"/>
          </a:solidFill>
          <a:ln w="12700">
            <a:solidFill>
              <a:srgbClr val="999999"/>
            </a:solidFill>
          </a:ln>
        </p:spPr>
      </p:sp>
      <p:sp>
        <p:nvSpPr>
          <p:cNvPr id="27" name="Accept decision (proposed)"/>
          <p:cNvSpPr txBox="1"/>
          <p:nvPr/>
        </p:nvSpPr>
        <p:spPr>
          <a:xfrm>
            <a:off x="8629650" y="4371975"/>
            <a:ext cx="2724150" cy="430359"/>
          </a:xfrm>
          <a:prstGeom prst="rect">
            <a:avLst/>
          </a:prstGeom>
          <a:noFill/>
          <a:ln>
            <a:noFill/>
          </a:ln>
        </p:spPr>
        <p:txBody>
          <a:bodyPr wrap="square" lIns="0" rIns="0" tIns="0" bIns="0" anchor="t">
            <a:noAutofit/>
          </a:bodyPr>
          <a:lstStyle/>
          <a:p>
            <a:pPr>
              <a:lnSpc>
                <a:spcPct val="130000"/>
              </a:lnSpc>
            </a:pPr>
            <a:r>
              <a:rPr lang="en-US" sz="1725" b="0">
                <a:solidFill>
                  <a:srgbClr val="333333"/>
                </a:solidFill>
                <a:latin typeface="Arial"/>
              </a:rPr>
              <a:t xml:space="preserve">Accept decision (proposed)</a:t>
            </a:r>
            <a:endParaRPr lang="en-US"/>
          </a:p>
        </p:txBody>
      </p:sp>
      <p:sp>
        <p:nvSpPr>
          <p:cNvPr id="28" name="W03-W07 cover all five Llama states. W17-W26 cover opti"/>
          <p:cNvSpPr txBox="1"/>
          <p:nvPr/>
        </p:nvSpPr>
        <p:spPr>
          <a:xfrm>
            <a:off x="609600" y="5715000"/>
            <a:ext cx="10953750" cy="430359"/>
          </a:xfrm>
          <a:prstGeom prst="rect">
            <a:avLst/>
          </a:prstGeom>
          <a:noFill/>
          <a:ln>
            <a:noFill/>
          </a:ln>
        </p:spPr>
        <p:txBody>
          <a:bodyPr wrap="square" lIns="0" rIns="0" tIns="0" bIns="0" anchor="t">
            <a:noAutofit/>
          </a:bodyPr>
          <a:lstStyle/>
          <a:p>
            <a:pPr>
              <a:lnSpc>
                <a:spcPct val="130000"/>
              </a:lnSpc>
            </a:pPr>
            <a:r>
              <a:rPr lang="en-US" sz="1725" b="0">
                <a:solidFill>
                  <a:srgbClr val="526875"/>
                </a:solidFill>
                <a:latin typeface="Arial"/>
              </a:rPr>
              <a:t xml:space="preserve">W03-W07 cover all five Llama states. W17-W26 cover optional voice services.</a:t>
            </a:r>
            <a:endParaRPr lang="en-US"/>
          </a:p>
        </p:txBody>
      </p:sp>
      <p:sp>
        <p:nvSpPr>
          <p:cNvPr id="29" name="Farshore / Phase 2 / 8"/>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Uncertainty and user control"/>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Uncertainty and user control</a:t>
            </a:r>
            <a:endParaRPr lang="en-US"/>
          </a:p>
        </p:txBody>
      </p:sp>
      <p:sp>
        <p:nvSpPr>
          <p:cNvPr id="3" name="Proposed review before a candidate changes the score"/>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Proposed review before a candidate changes the score</a:t>
            </a:r>
            <a:endParaRPr lang="en-US"/>
          </a:p>
        </p:txBody>
      </p:sp>
      <p:sp>
        <p:nvSpPr>
          <p:cNvPr id="4" name="rect"/>
          <p:cNvSpPr txBox="0"/>
          <p:nvPr/>
        </p:nvSpPr>
        <p:spPr>
          <a:xfrm>
            <a:off x="609600" y="1762125"/>
            <a:ext cx="5334000" cy="3524250"/>
          </a:xfrm>
          <a:prstGeom prst="rect">
            <a:avLst/>
          </a:prstGeom>
          <a:solidFill>
            <a:srgbClr val="FFFFFF"/>
          </a:solidFill>
          <a:ln w="12700">
            <a:solidFill>
              <a:srgbClr val="777777"/>
            </a:solidFill>
          </a:ln>
        </p:spPr>
      </p:sp>
      <p:sp>
        <p:nvSpPr>
          <p:cNvPr id="5" name="Review this interpretation"/>
          <p:cNvSpPr txBox="1"/>
          <p:nvPr/>
        </p:nvSpPr>
        <p:spPr>
          <a:xfrm>
            <a:off x="838200" y="2000250"/>
            <a:ext cx="4857750" cy="532638"/>
          </a:xfrm>
          <a:prstGeom prst="rect">
            <a:avLst/>
          </a:prstGeom>
          <a:noFill/>
          <a:ln>
            <a:noFill/>
          </a:ln>
        </p:spPr>
        <p:txBody>
          <a:bodyPr wrap="square" lIns="0" rIns="0" tIns="0" bIns="0" anchor="t">
            <a:noAutofit/>
          </a:bodyPr>
          <a:lstStyle/>
          <a:p>
            <a:pPr>
              <a:lnSpc>
                <a:spcPct val="130000"/>
              </a:lnSpc>
            </a:pPr>
            <a:r>
              <a:rPr lang="en-US" sz="2250" b="1">
                <a:solidFill>
                  <a:srgbClr val="102E40"/>
                </a:solidFill>
                <a:latin typeface="Arial"/>
              </a:rPr>
              <a:t xml:space="preserve">Review this interpretation</a:t>
            </a:r>
            <a:endParaRPr lang="en-US"/>
          </a:p>
        </p:txBody>
      </p:sp>
      <p:sp>
        <p:nvSpPr>
          <p:cNvPr id="6" name="Check the action against your counsel"/>
          <p:cNvSpPr txBox="1"/>
          <p:nvPr/>
        </p:nvSpPr>
        <p:spPr>
          <a:xfrm>
            <a:off x="838200" y="2667000"/>
            <a:ext cx="4857750" cy="459581"/>
          </a:xfrm>
          <a:prstGeom prst="rect">
            <a:avLst/>
          </a:prstGeom>
          <a:noFill/>
          <a:ln>
            <a:noFill/>
          </a:ln>
        </p:spPr>
        <p:txBody>
          <a:bodyPr wrap="square" lIns="0" rIns="0" tIns="0" bIns="0" anchor="t">
            <a:noAutofit/>
          </a:bodyPr>
          <a:lstStyle/>
          <a:p>
            <a:pPr>
              <a:lnSpc>
                <a:spcPct val="130000"/>
              </a:lnSpc>
            </a:pPr>
            <a:r>
              <a:rPr lang="en-US" sz="1875" b="0">
                <a:solidFill>
                  <a:srgbClr val="102E40"/>
                </a:solidFill>
                <a:latin typeface="Arial"/>
              </a:rPr>
              <a:t xml:space="preserve">Check the action against your counsel</a:t>
            </a:r>
            <a:endParaRPr lang="en-US"/>
          </a:p>
        </p:txBody>
      </p:sp>
      <p:sp>
        <p:nvSpPr>
          <p:cNvPr id="7" name="Refine and retry Discard result Use Story mode"/>
          <p:cNvSpPr txBox="1"/>
          <p:nvPr/>
        </p:nvSpPr>
        <p:spPr>
          <a:xfrm>
            <a:off x="838200" y="3524250"/>
            <a:ext cx="4857750" cy="1277817"/>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Refine and retry</a:t>
            </a:r>
            <a:endParaRPr lang="en-US"/>
          </a:p>
          <a:p>
            <a:pPr>
              <a:lnSpc>
                <a:spcPct val="130000"/>
              </a:lnSpc>
            </a:pPr>
            <a:r>
              <a:rPr lang="en-US" sz="2025" b="0">
                <a:solidFill>
                  <a:srgbClr val="126978"/>
                </a:solidFill>
                <a:latin typeface="Arial"/>
              </a:rPr>
              <a:t xml:space="preserve">Discard result</a:t>
            </a:r>
            <a:endParaRPr lang="en-US"/>
          </a:p>
          <a:p>
            <a:pPr>
              <a:lnSpc>
                <a:spcPct val="130000"/>
              </a:lnSpc>
            </a:pPr>
            <a:r>
              <a:rPr lang="en-US" sz="2025" b="0">
                <a:solidFill>
                  <a:srgbClr val="126978"/>
                </a:solidFill>
                <a:latin typeface="Arial"/>
              </a:rPr>
              <a:t xml:space="preserve">Use Story mode</a:t>
            </a:r>
            <a:endParaRPr lang="en-US"/>
          </a:p>
        </p:txBody>
      </p:sp>
      <p:sp>
        <p:nvSpPr>
          <p:cNvPr id="8" name="•"/>
          <p:cNvSpPr txBox="1"/>
          <p:nvPr/>
        </p:nvSpPr>
        <p:spPr>
          <a:xfrm>
            <a:off x="6858000" y="185737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9" name="Show rationale and story sources."/>
          <p:cNvSpPr txBox="1"/>
          <p:nvPr/>
        </p:nvSpPr>
        <p:spPr>
          <a:xfrm>
            <a:off x="7086600" y="1857375"/>
            <a:ext cx="4438650" cy="488804"/>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Show rationale and story sources.</a:t>
            </a:r>
            <a:endParaRPr lang="en-US"/>
          </a:p>
        </p:txBody>
      </p:sp>
      <p:sp>
        <p:nvSpPr>
          <p:cNvPr id="10" name="•"/>
          <p:cNvSpPr txBox="1"/>
          <p:nvPr/>
        </p:nvSpPr>
        <p:spPr>
          <a:xfrm>
            <a:off x="6858000" y="2448878"/>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11" name="Avoid invented confidence percentages."/>
          <p:cNvSpPr txBox="1"/>
          <p:nvPr/>
        </p:nvSpPr>
        <p:spPr>
          <a:xfrm>
            <a:off x="7086600" y="2448878"/>
            <a:ext cx="443865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Avoid invented confidence percentages.</a:t>
            </a:r>
            <a:endParaRPr lang="en-US"/>
          </a:p>
        </p:txBody>
      </p:sp>
      <p:sp>
        <p:nvSpPr>
          <p:cNvPr id="12" name="•"/>
          <p:cNvSpPr txBox="1"/>
          <p:nvPr/>
        </p:nvSpPr>
        <p:spPr>
          <a:xfrm>
            <a:off x="6858000" y="3374708"/>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13" name="Practice-only undo restores route, log and scores."/>
          <p:cNvSpPr txBox="1"/>
          <p:nvPr/>
        </p:nvSpPr>
        <p:spPr>
          <a:xfrm>
            <a:off x="7086600" y="3374708"/>
            <a:ext cx="443865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Practice-only undo restores route, log and scores.</a:t>
            </a:r>
            <a:endParaRPr lang="en-US"/>
          </a:p>
        </p:txBody>
      </p:sp>
      <p:sp>
        <p:nvSpPr>
          <p:cNvPr id="14" name="•"/>
          <p:cNvSpPr txBox="1"/>
          <p:nvPr/>
        </p:nvSpPr>
        <p:spPr>
          <a:xfrm>
            <a:off x="6858000" y="4300538"/>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15" name="Semantic mismatch detection remains unvalidated."/>
          <p:cNvSpPr txBox="1"/>
          <p:nvPr/>
        </p:nvSpPr>
        <p:spPr>
          <a:xfrm>
            <a:off x="7086600" y="4300538"/>
            <a:ext cx="443865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Semantic mismatch detection remains unvalidated.</a:t>
            </a:r>
            <a:endParaRPr lang="en-US"/>
          </a:p>
        </p:txBody>
      </p:sp>
      <p:sp>
        <p:nvSpPr>
          <p:cNvPr id="16" name="Farshore / Phase 2 / 9"/>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I technical spike"/>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AI technical spike</a:t>
            </a:r>
            <a:endParaRPr lang="en-US"/>
          </a:p>
        </p:txBody>
      </p:sp>
      <p:sp>
        <p:nvSpPr>
          <p:cNvPr id="3" name="Six real Llama calls on this laptop"/>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Six real Llama calls on this laptop</a:t>
            </a:r>
            <a:endParaRPr lang="en-US"/>
          </a:p>
        </p:txBody>
      </p:sp>
      <p:sp>
        <p:nvSpPr>
          <p:cNvPr id="4" name="Min 8.87s     Mean 26.36s     Max 38.43s"/>
          <p:cNvSpPr txBox="1"/>
          <p:nvPr/>
        </p:nvSpPr>
        <p:spPr>
          <a:xfrm>
            <a:off x="609600" y="1571625"/>
            <a:ext cx="10953750" cy="591083"/>
          </a:xfrm>
          <a:prstGeom prst="rect">
            <a:avLst/>
          </a:prstGeom>
          <a:noFill/>
          <a:ln>
            <a:noFill/>
          </a:ln>
        </p:spPr>
        <p:txBody>
          <a:bodyPr wrap="square" lIns="0" rIns="0" tIns="0" bIns="0" anchor="t">
            <a:noAutofit/>
          </a:bodyPr>
          <a:lstStyle/>
          <a:p>
            <a:pPr>
              <a:lnSpc>
                <a:spcPct val="130000"/>
              </a:lnSpc>
            </a:pPr>
            <a:r>
              <a:rPr lang="en-US" sz="2550" b="1">
                <a:solidFill>
                  <a:srgbClr val="126978"/>
                </a:solidFill>
                <a:latin typeface="Arial"/>
              </a:rPr>
              <a:t xml:space="preserve">Min 8.87s     Mean 26.36s     Max 38.43s</a:t>
            </a:r>
            <a:endParaRPr lang="en-US"/>
          </a:p>
        </p:txBody>
      </p:sp>
      <p:graphicFrame>
        <p:nvGraphicFramePr>
          <p:cNvPr id="5" name="Editable evidence table"/>
          <p:cNvGraphicFramePr/>
          <p:nvPr/>
        </p:nvGraphicFramePr>
        <p:xfrm>
          <a:off x="609600" y="2428875"/>
          <a:ext cx="10953750" cy="3267075"/>
        </p:xfrm>
        <a:graphic>
          <a:graphicData uri="http://schemas.openxmlformats.org/drawingml/2006/table">
            <a:tbl>
              <a:tblPr firstRow="1" bandRow="0"/>
              <a:tblGrid>
                <a:gridCol w="857250"/>
                <a:gridCol w="3429000"/>
                <a:gridCol w="1476375"/>
                <a:gridCol w="5191125"/>
              </a:tblGrid>
              <a:tr h="466725">
                <a:tc>
                  <a:txBody>
                    <a:bodyPr lIns="114300" rIns="114300" tIns="76200" bIns="0"/>
                    <a:lstStyle/>
                    <a:p>
                      <a:pPr>
                        <a:lnSpc>
                          <a:spcPct val="130000"/>
                        </a:lnSpc>
                      </a:pPr>
                      <a:r>
                        <a:rPr lang="en-US" sz="1725" b="1">
                          <a:solidFill>
                            <a:srgbClr val="102E40"/>
                          </a:solidFill>
                          <a:latin typeface="Arial"/>
                        </a:rPr>
                        <a:t xml:space="preserve">Input</a:t>
                      </a:r>
                      <a:endParaRPr lang="en-US"/>
                    </a:p>
                  </a:txBody>
                  <a:tcPr>
                    <a:solidFill>
                      <a:srgbClr val="DCE8EE"/>
                    </a:solidFill>
                  </a:tcPr>
                </a:tc>
                <a:tc>
                  <a:txBody>
                    <a:bodyPr lIns="114300" rIns="114300" tIns="76200" bIns="0"/>
                    <a:lstStyle/>
                    <a:p>
                      <a:pPr>
                        <a:lnSpc>
                          <a:spcPct val="130000"/>
                        </a:lnSpc>
                      </a:pPr>
                      <a:r>
                        <a:rPr lang="en-US" sz="1725" b="1">
                          <a:solidFill>
                            <a:srgbClr val="102E40"/>
                          </a:solidFill>
                          <a:latin typeface="Arial"/>
                        </a:rPr>
                        <a:t xml:space="preserve">Use case</a:t>
                      </a:r>
                      <a:endParaRPr lang="en-US"/>
                    </a:p>
                  </a:txBody>
                  <a:tcPr>
                    <a:solidFill>
                      <a:srgbClr val="DCE8EE"/>
                    </a:solidFill>
                  </a:tcPr>
                </a:tc>
                <a:tc>
                  <a:txBody>
                    <a:bodyPr lIns="114300" rIns="114300" tIns="76200" bIns="0"/>
                    <a:lstStyle/>
                    <a:p>
                      <a:pPr>
                        <a:lnSpc>
                          <a:spcPct val="130000"/>
                        </a:lnSpc>
                      </a:pPr>
                      <a:r>
                        <a:rPr lang="en-US" sz="1725" b="1">
                          <a:solidFill>
                            <a:srgbClr val="102E40"/>
                          </a:solidFill>
                          <a:latin typeface="Arial"/>
                        </a:rPr>
                        <a:t xml:space="preserve">Seconds</a:t>
                      </a:r>
                      <a:endParaRPr lang="en-US"/>
                    </a:p>
                  </a:txBody>
                  <a:tcPr>
                    <a:solidFill>
                      <a:srgbClr val="DCE8EE"/>
                    </a:solidFill>
                  </a:tcPr>
                </a:tc>
                <a:tc>
                  <a:txBody>
                    <a:bodyPr lIns="114300" rIns="114300" tIns="76200" bIns="0"/>
                    <a:lstStyle/>
                    <a:p>
                      <a:pPr>
                        <a:lnSpc>
                          <a:spcPct val="130000"/>
                        </a:lnSpc>
                      </a:pPr>
                      <a:r>
                        <a:rPr lang="en-US" sz="1725" b="1">
                          <a:solidFill>
                            <a:srgbClr val="102E40"/>
                          </a:solidFill>
                          <a:latin typeface="Arial"/>
                        </a:rPr>
                        <a:t xml:space="preserve">Analytic review</a:t>
                      </a:r>
                      <a:endParaRPr lang="en-US"/>
                    </a:p>
                  </a:txBody>
                  <a:tcPr>
                    <a:solidFill>
                      <a:srgbClr val="DCE8EE"/>
                    </a:solidFill>
                  </a:tcPr>
                </a:tc>
              </a:tr>
              <a:tr h="466725">
                <a:tc>
                  <a:txBody>
                    <a:bodyPr lIns="114300" rIns="114300" tIns="76200" bIns="0"/>
                    <a:lstStyle/>
                    <a:p>
                      <a:pPr>
                        <a:lnSpc>
                          <a:spcPct val="130000"/>
                        </a:lnSpc>
                      </a:pPr>
                      <a:r>
                        <a:rPr lang="en-US" sz="1725" b="0">
                          <a:solidFill>
                            <a:srgbClr val="102E40"/>
                          </a:solidFill>
                          <a:latin typeface="Arial"/>
                        </a:rPr>
                        <a:t xml:space="preserve">S1</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Supportive safe counsel</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38.43</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Consistent action and flags</a:t>
                      </a:r>
                      <a:endParaRPr lang="en-US"/>
                    </a:p>
                  </a:txBody>
                  <a:tcPr>
                    <a:solidFill>
                      <a:srgbClr val="FFFFFF"/>
                    </a:solidFill>
                  </a:tcPr>
                </a:tc>
              </a:tr>
              <a:tr h="466725">
                <a:tc>
                  <a:txBody>
                    <a:bodyPr lIns="114300" rIns="114300" tIns="76200" bIns="0"/>
                    <a:lstStyle/>
                    <a:p>
                      <a:pPr>
                        <a:lnSpc>
                          <a:spcPct val="130000"/>
                        </a:lnSpc>
                      </a:pPr>
                      <a:r>
                        <a:rPr lang="en-US" sz="1725" b="0">
                          <a:solidFill>
                            <a:srgbClr val="102E40"/>
                          </a:solidFill>
                          <a:latin typeface="Arial"/>
                        </a:rPr>
                        <a:t xml:space="preserve">S2</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Negation with safe counsel</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28.95</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Negation handled</a:t>
                      </a:r>
                      <a:endParaRPr lang="en-US"/>
                    </a:p>
                  </a:txBody>
                  <a:tcPr>
                    <a:solidFill>
                      <a:srgbClr val="FFFFFF"/>
                    </a:solidFill>
                  </a:tcPr>
                </a:tc>
              </a:tr>
              <a:tr h="466725">
                <a:tc>
                  <a:txBody>
                    <a:bodyPr lIns="114300" rIns="114300" tIns="76200" bIns="0"/>
                    <a:lstStyle/>
                    <a:p>
                      <a:pPr>
                        <a:lnSpc>
                          <a:spcPct val="130000"/>
                        </a:lnSpc>
                      </a:pPr>
                      <a:r>
                        <a:rPr lang="en-US" sz="1725" b="0">
                          <a:solidFill>
                            <a:srgbClr val="102E40"/>
                          </a:solidFill>
                          <a:latin typeface="Arial"/>
                        </a:rPr>
                        <a:t xml:space="preserve">S3</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Polite dangerous counsel</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8.87</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Risky advice understood</a:t>
                      </a:r>
                      <a:endParaRPr lang="en-US"/>
                    </a:p>
                  </a:txBody>
                  <a:tcPr>
                    <a:solidFill>
                      <a:srgbClr val="FFFFFF"/>
                    </a:solidFill>
                  </a:tcPr>
                </a:tc>
              </a:tr>
              <a:tr h="466725">
                <a:tc>
                  <a:txBody>
                    <a:bodyPr lIns="114300" rIns="114300" tIns="76200" bIns="0"/>
                    <a:lstStyle/>
                    <a:p>
                      <a:pPr>
                        <a:lnSpc>
                          <a:spcPct val="130000"/>
                        </a:lnSpc>
                      </a:pPr>
                      <a:r>
                        <a:rPr lang="en-US" sz="1725" b="0">
                          <a:solidFill>
                            <a:srgbClr val="102E40"/>
                          </a:solidFill>
                          <a:latin typeface="Arial"/>
                        </a:rPr>
                        <a:t xml:space="preserve">S4</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Direct safe counsel</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25.43</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Followed flag disagrees</a:t>
                      </a:r>
                      <a:endParaRPr lang="en-US"/>
                    </a:p>
                  </a:txBody>
                  <a:tcPr>
                    <a:solidFill>
                      <a:srgbClr val="FFFFFF"/>
                    </a:solidFill>
                  </a:tcPr>
                </a:tc>
              </a:tr>
              <a:tr h="466725">
                <a:tc>
                  <a:txBody>
                    <a:bodyPr lIns="114300" rIns="114300" tIns="76200" bIns="0"/>
                    <a:lstStyle/>
                    <a:p>
                      <a:pPr>
                        <a:lnSpc>
                          <a:spcPct val="130000"/>
                        </a:lnSpc>
                      </a:pPr>
                      <a:r>
                        <a:rPr lang="en-US" sz="1725" b="0">
                          <a:solidFill>
                            <a:srgbClr val="102E40"/>
                          </a:solidFill>
                          <a:latin typeface="Arial"/>
                        </a:rPr>
                        <a:t xml:space="preserve">S5</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Motivated safe counsel</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29.38</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Followed flag disagrees</a:t>
                      </a:r>
                      <a:endParaRPr lang="en-US"/>
                    </a:p>
                  </a:txBody>
                  <a:tcPr>
                    <a:solidFill>
                      <a:srgbClr val="FFFFFF"/>
                    </a:solidFill>
                  </a:tcPr>
                </a:tc>
              </a:tr>
              <a:tr h="466725">
                <a:tc>
                  <a:txBody>
                    <a:bodyPr lIns="114300" rIns="114300" tIns="76200" bIns="0"/>
                    <a:lstStyle/>
                    <a:p>
                      <a:pPr>
                        <a:lnSpc>
                          <a:spcPct val="130000"/>
                        </a:lnSpc>
                      </a:pPr>
                      <a:r>
                        <a:rPr lang="en-US" sz="1725" b="0">
                          <a:solidFill>
                            <a:srgbClr val="102E40"/>
                          </a:solidFill>
                          <a:latin typeface="Arial"/>
                        </a:rPr>
                        <a:t xml:space="preserve">S6</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Ambiguous counsel</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27.14</a:t>
                      </a:r>
                      <a:endParaRPr lang="en-US"/>
                    </a:p>
                  </a:txBody>
                  <a:tcPr>
                    <a:solidFill>
                      <a:srgbClr val="FFFFFF"/>
                    </a:solidFill>
                  </a:tcPr>
                </a:tc>
                <a:tc>
                  <a:txBody>
                    <a:bodyPr lIns="114300" rIns="114300" tIns="76200" bIns="0"/>
                    <a:lstStyle/>
                    <a:p>
                      <a:pPr>
                        <a:lnSpc>
                          <a:spcPct val="130000"/>
                        </a:lnSpc>
                      </a:pPr>
                      <a:r>
                        <a:rPr lang="en-US" sz="1725" b="0">
                          <a:solidFill>
                            <a:srgbClr val="102E40"/>
                          </a:solidFill>
                          <a:latin typeface="Arial"/>
                        </a:rPr>
                        <a:t xml:space="preserve">No action, but followed=true</a:t>
                      </a:r>
                      <a:endParaRPr lang="en-US"/>
                    </a:p>
                  </a:txBody>
                  <a:tcPr>
                    <a:solidFill>
                      <a:srgbClr val="FFFFFF"/>
                    </a:solidFill>
                  </a:tcPr>
                </a:tc>
              </a:tr>
            </a:tbl>
          </a:graphicData>
        </a:graphic>
      </p:graphicFrame>
      <p:sp>
        <p:nvSpPr>
          <p:cNvPr id="6" name="Single sequential run, first-call loading included. Six"/>
          <p:cNvSpPr txBox="1"/>
          <p:nvPr/>
        </p:nvSpPr>
        <p:spPr>
          <a:xfrm>
            <a:off x="609600" y="5953125"/>
            <a:ext cx="10858500" cy="415747"/>
          </a:xfrm>
          <a:prstGeom prst="rect">
            <a:avLst/>
          </a:prstGeom>
          <a:noFill/>
          <a:ln>
            <a:noFill/>
          </a:ln>
        </p:spPr>
        <p:txBody>
          <a:bodyPr wrap="square" lIns="0" rIns="0" tIns="0" bIns="0" anchor="t">
            <a:noAutofit/>
          </a:bodyPr>
          <a:lstStyle/>
          <a:p>
            <a:pPr>
              <a:lnSpc>
                <a:spcPct val="130000"/>
              </a:lnSpc>
            </a:pPr>
            <a:r>
              <a:rPr lang="en-US" sz="1650" b="0">
                <a:solidFill>
                  <a:srgbClr val="526875"/>
                </a:solidFill>
                <a:latin typeface="Arial"/>
              </a:rPr>
              <a:t xml:space="preserve">Single sequential run, first-call loading included. Six valid structures. Three followed-flag disagreements.</a:t>
            </a:r>
            <a:endParaRPr lang="en-US"/>
          </a:p>
        </p:txBody>
      </p:sp>
      <p:sp>
        <p:nvSpPr>
          <p:cNvPr id="7" name="Farshore / Phase 2 / 10"/>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ailures and design changes"/>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Failures and design changes</a:t>
            </a:r>
            <a:endParaRPr lang="en-US"/>
          </a:p>
        </p:txBody>
      </p:sp>
      <p:sp>
        <p:nvSpPr>
          <p:cNvPr id="3" name="Actual provider errors and separate client/app failures"/>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Actual provider errors and separate client/app failures</a:t>
            </a:r>
            <a:endParaRPr lang="en-US"/>
          </a:p>
        </p:txBody>
      </p:sp>
      <p:graphicFrame>
        <p:nvGraphicFramePr>
          <p:cNvPr id="4" name="Editable evidence table"/>
          <p:cNvGraphicFramePr/>
          <p:nvPr/>
        </p:nvGraphicFramePr>
        <p:xfrm>
          <a:off x="609600" y="1762125"/>
          <a:ext cx="10953750" cy="3817620"/>
        </p:xfrm>
        <a:graphic>
          <a:graphicData uri="http://schemas.openxmlformats.org/drawingml/2006/table">
            <a:tbl>
              <a:tblPr firstRow="1" bandRow="0"/>
              <a:tblGrid>
                <a:gridCol w="3476625"/>
                <a:gridCol w="3667125"/>
                <a:gridCol w="3810000"/>
              </a:tblGrid>
              <a:tr h="525780">
                <a:tc>
                  <a:txBody>
                    <a:bodyPr lIns="114300" rIns="114300" tIns="76200" bIns="0"/>
                    <a:lstStyle/>
                    <a:p>
                      <a:pPr>
                        <a:lnSpc>
                          <a:spcPct val="130000"/>
                        </a:lnSpc>
                      </a:pPr>
                      <a:r>
                        <a:rPr lang="en-US" sz="1800" b="1">
                          <a:solidFill>
                            <a:srgbClr val="102E40"/>
                          </a:solidFill>
                          <a:latin typeface="Arial"/>
                        </a:rPr>
                        <a:t xml:space="preserve">Failure</a:t>
                      </a:r>
                      <a:endParaRPr lang="en-US"/>
                    </a:p>
                  </a:txBody>
                  <a:tcPr>
                    <a:solidFill>
                      <a:srgbClr val="DCE8EE"/>
                    </a:solidFill>
                  </a:tcPr>
                </a:tc>
                <a:tc>
                  <a:txBody>
                    <a:bodyPr lIns="114300" rIns="114300" tIns="76200" bIns="0"/>
                    <a:lstStyle/>
                    <a:p>
                      <a:pPr>
                        <a:lnSpc>
                          <a:spcPct val="130000"/>
                        </a:lnSpc>
                      </a:pPr>
                      <a:r>
                        <a:rPr lang="en-US" sz="1800" b="1">
                          <a:solidFill>
                            <a:srgbClr val="102E40"/>
                          </a:solidFill>
                          <a:latin typeface="Arial"/>
                        </a:rPr>
                        <a:t xml:space="preserve">Observed response</a:t>
                      </a:r>
                      <a:endParaRPr lang="en-US"/>
                    </a:p>
                  </a:txBody>
                  <a:tcPr>
                    <a:solidFill>
                      <a:srgbClr val="DCE8EE"/>
                    </a:solidFill>
                  </a:tcPr>
                </a:tc>
                <a:tc>
                  <a:txBody>
                    <a:bodyPr lIns="114300" rIns="114300" tIns="76200" bIns="0"/>
                    <a:lstStyle/>
                    <a:p>
                      <a:pPr>
                        <a:lnSpc>
                          <a:spcPct val="130000"/>
                        </a:lnSpc>
                      </a:pPr>
                      <a:r>
                        <a:rPr lang="en-US" sz="1800" b="1">
                          <a:solidFill>
                            <a:srgbClr val="102E40"/>
                          </a:solidFill>
                          <a:latin typeface="Arial"/>
                        </a:rPr>
                        <a:t xml:space="preserve">Design response</a:t>
                      </a:r>
                      <a:endParaRPr lang="en-US"/>
                    </a:p>
                  </a:txBody>
                  <a:tcPr>
                    <a:solidFill>
                      <a:srgbClr val="DCE8EE"/>
                    </a:solidFill>
                  </a:tcPr>
                </a:tc>
              </a:tr>
              <a:tr h="822960">
                <a:tc>
                  <a:txBody>
                    <a:bodyPr lIns="114300" rIns="114300" tIns="76200" bIns="0"/>
                    <a:lstStyle/>
                    <a:p>
                      <a:pPr>
                        <a:lnSpc>
                          <a:spcPct val="130000"/>
                        </a:lnSpc>
                      </a:pPr>
                      <a:r>
                        <a:rPr lang="en-US" sz="1800" b="0">
                          <a:solidFill>
                            <a:srgbClr val="102E40"/>
                          </a:solidFill>
                          <a:latin typeface="Arial"/>
                        </a:rPr>
                        <a:t xml:space="preserve">Malformed model JSON</a:t>
                      </a:r>
                      <a:endParaRPr lang="en-US"/>
                    </a:p>
                  </a:txBody>
                  <a:tcPr>
                    <a:solidFill>
                      <a:srgbClr val="FFFFFF"/>
                    </a:solidFill>
                  </a:tcPr>
                </a:tc>
                <a:tc>
                  <a:txBody>
                    <a:bodyPr lIns="114300" rIns="114300" tIns="76200" bIns="0"/>
                    <a:lstStyle/>
                    <a:p>
                      <a:pPr>
                        <a:lnSpc>
                          <a:spcPct val="130000"/>
                        </a:lnSpc>
                      </a:pPr>
                      <a:r>
                        <a:rPr lang="en-US" sz="1800" b="0">
                          <a:solidFill>
                            <a:srgbClr val="102E40"/>
                          </a:solidFill>
                          <a:latin typeface="Arial"/>
                        </a:rPr>
                        <a:t xml:space="preserve">HTTP 400: unexpected EOF</a:t>
                      </a:r>
                      <a:endParaRPr lang="en-US"/>
                    </a:p>
                  </a:txBody>
                  <a:tcPr>
                    <a:solidFill>
                      <a:srgbClr val="FFFFFF"/>
                    </a:solidFill>
                  </a:tcPr>
                </a:tc>
                <a:tc>
                  <a:txBody>
                    <a:bodyPr lIns="114300" rIns="114300" tIns="76200" bIns="0"/>
                    <a:lstStyle/>
                    <a:p>
                      <a:pPr>
                        <a:lnSpc>
                          <a:spcPct val="130000"/>
                        </a:lnSpc>
                      </a:pPr>
                      <a:r>
                        <a:rPr lang="en-US" sz="1800" b="0">
                          <a:solidFill>
                            <a:srgbClr val="102E40"/>
                          </a:solidFill>
                          <a:latin typeface="Arial"/>
                        </a:rPr>
                        <a:t xml:space="preserve">Explain invalid request / preserve draft</a:t>
                      </a:r>
                      <a:endParaRPr lang="en-US"/>
                    </a:p>
                  </a:txBody>
                  <a:tcPr>
                    <a:solidFill>
                      <a:srgbClr val="FFFFFF"/>
                    </a:solidFill>
                  </a:tcPr>
                </a:tc>
              </a:tr>
              <a:tr h="822960">
                <a:tc>
                  <a:txBody>
                    <a:bodyPr lIns="114300" rIns="114300" tIns="76200" bIns="0"/>
                    <a:lstStyle/>
                    <a:p>
                      <a:pPr>
                        <a:lnSpc>
                          <a:spcPct val="130000"/>
                        </a:lnSpc>
                      </a:pPr>
                      <a:r>
                        <a:rPr lang="en-US" sz="1800" b="0">
                          <a:solidFill>
                            <a:srgbClr val="102E40"/>
                          </a:solidFill>
                          <a:latin typeface="Arial"/>
                        </a:rPr>
                        <a:t xml:space="preserve">Missing model</a:t>
                      </a:r>
                      <a:endParaRPr lang="en-US"/>
                    </a:p>
                  </a:txBody>
                  <a:tcPr>
                    <a:solidFill>
                      <a:srgbClr val="FFFFFF"/>
                    </a:solidFill>
                  </a:tcPr>
                </a:tc>
                <a:tc>
                  <a:txBody>
                    <a:bodyPr lIns="114300" rIns="114300" tIns="76200" bIns="0"/>
                    <a:lstStyle/>
                    <a:p>
                      <a:pPr>
                        <a:lnSpc>
                          <a:spcPct val="130000"/>
                        </a:lnSpc>
                      </a:pPr>
                      <a:r>
                        <a:rPr lang="en-US" sz="1800" b="0">
                          <a:solidFill>
                            <a:srgbClr val="102E40"/>
                          </a:solidFill>
                          <a:latin typeface="Arial"/>
                        </a:rPr>
                        <a:t xml:space="preserve">HTTP 404: model not found</a:t>
                      </a:r>
                      <a:endParaRPr lang="en-US"/>
                    </a:p>
                  </a:txBody>
                  <a:tcPr>
                    <a:solidFill>
                      <a:srgbClr val="FFFFFF"/>
                    </a:solidFill>
                  </a:tcPr>
                </a:tc>
                <a:tc>
                  <a:txBody>
                    <a:bodyPr lIns="114300" rIns="114300" tIns="76200" bIns="0"/>
                    <a:lstStyle/>
                    <a:p>
                      <a:pPr>
                        <a:lnSpc>
                          <a:spcPct val="130000"/>
                        </a:lnSpc>
                      </a:pPr>
                      <a:r>
                        <a:rPr lang="en-US" sz="1800" b="0">
                          <a:solidFill>
                            <a:srgbClr val="102E40"/>
                          </a:solidFill>
                          <a:latin typeface="Arial"/>
                        </a:rPr>
                        <a:t xml:space="preserve">Connection check / explicit Story mode</a:t>
                      </a:r>
                      <a:endParaRPr lang="en-US"/>
                    </a:p>
                  </a:txBody>
                  <a:tcPr>
                    <a:solidFill>
                      <a:srgbClr val="FFFFFF"/>
                    </a:solidFill>
                  </a:tcPr>
                </a:tc>
              </a:tr>
              <a:tr h="822960">
                <a:tc>
                  <a:txBody>
                    <a:bodyPr lIns="114300" rIns="114300" tIns="76200" bIns="0"/>
                    <a:lstStyle/>
                    <a:p>
                      <a:pPr>
                        <a:lnSpc>
                          <a:spcPct val="130000"/>
                        </a:lnSpc>
                      </a:pPr>
                      <a:r>
                        <a:rPr lang="en-US" sz="1800" b="0">
                          <a:solidFill>
                            <a:srgbClr val="102E40"/>
                          </a:solidFill>
                          <a:latin typeface="Arial"/>
                        </a:rPr>
                        <a:t xml:space="preserve">1ms client deadline</a:t>
                      </a:r>
                      <a:endParaRPr lang="en-US"/>
                    </a:p>
                  </a:txBody>
                  <a:tcPr>
                    <a:solidFill>
                      <a:srgbClr val="FFFFFF"/>
                    </a:solidFill>
                  </a:tcPr>
                </a:tc>
                <a:tc>
                  <a:txBody>
                    <a:bodyPr lIns="114300" rIns="114300" tIns="76200" bIns="0"/>
                    <a:lstStyle/>
                    <a:p>
                      <a:pPr>
                        <a:lnSpc>
                          <a:spcPct val="130000"/>
                        </a:lnSpc>
                      </a:pPr>
                      <a:r>
                        <a:rPr lang="en-US" sz="1800" b="0">
                          <a:solidFill>
                            <a:srgbClr val="102E40"/>
                          </a:solidFill>
                          <a:latin typeface="Arial"/>
                        </a:rPr>
                        <a:t xml:space="preserve">TimeoutError, no received model body</a:t>
                      </a:r>
                      <a:endParaRPr lang="en-US"/>
                    </a:p>
                  </a:txBody>
                  <a:tcPr>
                    <a:solidFill>
                      <a:srgbClr val="FFFFFF"/>
                    </a:solidFill>
                  </a:tcPr>
                </a:tc>
                <a:tc>
                  <a:txBody>
                    <a:bodyPr lIns="114300" rIns="114300" tIns="76200" bIns="0"/>
                    <a:lstStyle/>
                    <a:p>
                      <a:pPr>
                        <a:lnSpc>
                          <a:spcPct val="130000"/>
                        </a:lnSpc>
                      </a:pPr>
                      <a:r>
                        <a:rPr lang="en-US" sz="1800" b="0">
                          <a:solidFill>
                            <a:srgbClr val="102E40"/>
                          </a:solidFill>
                          <a:latin typeface="Arial"/>
                        </a:rPr>
                        <a:t xml:space="preserve">Cancel long waits / retain counsel</a:t>
                      </a:r>
                      <a:endParaRPr lang="en-US"/>
                    </a:p>
                  </a:txBody>
                  <a:tcPr>
                    <a:solidFill>
                      <a:srgbClr val="FFFFFF"/>
                    </a:solidFill>
                  </a:tcPr>
                </a:tc>
              </a:tr>
              <a:tr h="822960">
                <a:tc>
                  <a:txBody>
                    <a:bodyPr lIns="114300" rIns="114300" tIns="76200" bIns="0"/>
                    <a:lstStyle/>
                    <a:p>
                      <a:pPr>
                        <a:lnSpc>
                          <a:spcPct val="130000"/>
                        </a:lnSpc>
                      </a:pPr>
                      <a:r>
                        <a:rPr lang="en-US" sz="1800" b="0">
                          <a:solidFill>
                            <a:srgbClr val="102E40"/>
                          </a:solidFill>
                          <a:latin typeface="Arial"/>
                        </a:rPr>
                        <a:t xml:space="preserve">One-character counsel</a:t>
                      </a:r>
                      <a:endParaRPr lang="en-US"/>
                    </a:p>
                  </a:txBody>
                  <a:tcPr>
                    <a:solidFill>
                      <a:srgbClr val="FFFFFF"/>
                    </a:solidFill>
                  </a:tcPr>
                </a:tc>
                <a:tc>
                  <a:txBody>
                    <a:bodyPr lIns="114300" rIns="114300" tIns="76200" bIns="0"/>
                    <a:lstStyle/>
                    <a:p>
                      <a:pPr>
                        <a:lnSpc>
                          <a:spcPct val="130000"/>
                        </a:lnSpc>
                      </a:pPr>
                      <a:r>
                        <a:rPr lang="en-US" sz="1800" b="0">
                          <a:solidFill>
                            <a:srgbClr val="102E40"/>
                          </a:solidFill>
                          <a:latin typeface="Arial"/>
                        </a:rPr>
                        <a:t xml:space="preserve">App HTTP 400 before model contact</a:t>
                      </a:r>
                      <a:endParaRPr lang="en-US"/>
                    </a:p>
                  </a:txBody>
                  <a:tcPr>
                    <a:solidFill>
                      <a:srgbClr val="FFFFFF"/>
                    </a:solidFill>
                  </a:tcPr>
                </a:tc>
                <a:tc>
                  <a:txBody>
                    <a:bodyPr lIns="114300" rIns="114300" tIns="76200" bIns="0"/>
                    <a:lstStyle/>
                    <a:p>
                      <a:pPr>
                        <a:lnSpc>
                          <a:spcPct val="130000"/>
                        </a:lnSpc>
                      </a:pPr>
                      <a:r>
                        <a:rPr lang="en-US" sz="1800" b="0">
                          <a:solidFill>
                            <a:srgbClr val="102E40"/>
                          </a:solidFill>
                          <a:latin typeface="Arial"/>
                        </a:rPr>
                        <a:t xml:space="preserve">Inline input guidance</a:t>
                      </a:r>
                      <a:endParaRPr lang="en-US"/>
                    </a:p>
                  </a:txBody>
                  <a:tcPr>
                    <a:solidFill>
                      <a:srgbClr val="FFFFFF"/>
                    </a:solidFill>
                  </a:tcPr>
                </a:tc>
              </a:tr>
            </a:tbl>
          </a:graphicData>
        </a:graphic>
      </p:graphicFrame>
      <p:sp>
        <p:nvSpPr>
          <p:cNvPr id="5" name="No quota benchmark or API fee. Hardware and speech cost"/>
          <p:cNvSpPr txBox="1"/>
          <p:nvPr/>
        </p:nvSpPr>
        <p:spPr>
          <a:xfrm>
            <a:off x="609600" y="5762625"/>
            <a:ext cx="10953750" cy="430359"/>
          </a:xfrm>
          <a:prstGeom prst="rect">
            <a:avLst/>
          </a:prstGeom>
          <a:noFill/>
          <a:ln>
            <a:noFill/>
          </a:ln>
        </p:spPr>
        <p:txBody>
          <a:bodyPr wrap="square" lIns="0" rIns="0" tIns="0" bIns="0" anchor="t">
            <a:noAutofit/>
          </a:bodyPr>
          <a:lstStyle/>
          <a:p>
            <a:pPr>
              <a:lnSpc>
                <a:spcPct val="130000"/>
              </a:lnSpc>
            </a:pPr>
            <a:r>
              <a:rPr lang="en-US" sz="1725" b="0">
                <a:solidFill>
                  <a:srgbClr val="526875"/>
                </a:solidFill>
                <a:latin typeface="Arial"/>
              </a:rPr>
              <a:t xml:space="preserve">No quota benchmark or API fee. Hardware and speech costs unmeasured.</a:t>
            </a:r>
            <a:endParaRPr lang="en-US"/>
          </a:p>
        </p:txBody>
      </p:sp>
      <p:sp>
        <p:nvSpPr>
          <p:cNvPr id="6" name="Farshore / Phase 2 / 11"/>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rent prototype and Phase 2 design"/>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Current prototype and Phase 2 design</a:t>
            </a:r>
            <a:endParaRPr lang="en-US"/>
          </a:p>
        </p:txBody>
      </p:sp>
      <p:sp>
        <p:nvSpPr>
          <p:cNvPr id="3" name="Implemented behavior, proposed controls and remaining h"/>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Implemented behavior, proposed controls and remaining human review</a:t>
            </a:r>
            <a:endParaRPr lang="en-US"/>
          </a:p>
        </p:txBody>
      </p:sp>
      <p:sp>
        <p:nvSpPr>
          <p:cNvPr id="4" name="Implemented"/>
          <p:cNvSpPr txBox="1"/>
          <p:nvPr/>
        </p:nvSpPr>
        <p:spPr>
          <a:xfrm>
            <a:off x="609600" y="1809750"/>
            <a:ext cx="4953000" cy="547249"/>
          </a:xfrm>
          <a:prstGeom prst="rect">
            <a:avLst/>
          </a:prstGeom>
          <a:noFill/>
          <a:ln>
            <a:noFill/>
          </a:ln>
        </p:spPr>
        <p:txBody>
          <a:bodyPr wrap="square" lIns="0" rIns="0" tIns="0" bIns="0" anchor="t">
            <a:noAutofit/>
          </a:bodyPr>
          <a:lstStyle/>
          <a:p>
            <a:pPr>
              <a:lnSpc>
                <a:spcPct val="130000"/>
              </a:lnSpc>
            </a:pPr>
            <a:r>
              <a:rPr lang="en-US" sz="2325" b="1">
                <a:solidFill>
                  <a:srgbClr val="102E40"/>
                </a:solidFill>
                <a:latin typeface="Arial"/>
              </a:rPr>
              <a:t xml:space="preserve">Implemented</a:t>
            </a:r>
            <a:endParaRPr lang="en-US"/>
          </a:p>
        </p:txBody>
      </p:sp>
      <p:sp>
        <p:nvSpPr>
          <p:cNvPr id="5" name="•"/>
          <p:cNvSpPr txBox="1"/>
          <p:nvPr/>
        </p:nvSpPr>
        <p:spPr>
          <a:xfrm>
            <a:off x="609600" y="238125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6" name="Playable 15-chapter game and branches"/>
          <p:cNvSpPr txBox="1"/>
          <p:nvPr/>
        </p:nvSpPr>
        <p:spPr>
          <a:xfrm>
            <a:off x="838200" y="2381250"/>
            <a:ext cx="4914900" cy="47419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Playable 15-chapter game and branches</a:t>
            </a:r>
            <a:endParaRPr lang="en-US"/>
          </a:p>
        </p:txBody>
      </p:sp>
      <p:sp>
        <p:nvSpPr>
          <p:cNvPr id="7" name="•"/>
          <p:cNvSpPr txBox="1"/>
          <p:nvPr/>
        </p:nvSpPr>
        <p:spPr>
          <a:xfrm>
            <a:off x="609600" y="297942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8" name="Local Llama integration and real evidence"/>
          <p:cNvSpPr txBox="1"/>
          <p:nvPr/>
        </p:nvSpPr>
        <p:spPr>
          <a:xfrm>
            <a:off x="838200" y="2979420"/>
            <a:ext cx="4914900" cy="47419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Local Llama integration and real evidence</a:t>
            </a:r>
            <a:endParaRPr lang="en-US"/>
          </a:p>
        </p:txBody>
      </p:sp>
      <p:sp>
        <p:nvSpPr>
          <p:cNvPr id="9" name="•"/>
          <p:cNvSpPr txBox="1"/>
          <p:nvPr/>
        </p:nvSpPr>
        <p:spPr>
          <a:xfrm>
            <a:off x="609600" y="357759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10" name="Editable counsel, explanations and retry"/>
          <p:cNvSpPr txBox="1"/>
          <p:nvPr/>
        </p:nvSpPr>
        <p:spPr>
          <a:xfrm>
            <a:off x="838200" y="3577590"/>
            <a:ext cx="4914900" cy="47419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Editable counsel, explanations and retry</a:t>
            </a:r>
            <a:endParaRPr lang="en-US"/>
          </a:p>
        </p:txBody>
      </p:sp>
      <p:sp>
        <p:nvSpPr>
          <p:cNvPr id="11" name="Proposed"/>
          <p:cNvSpPr txBox="1"/>
          <p:nvPr/>
        </p:nvSpPr>
        <p:spPr>
          <a:xfrm>
            <a:off x="6858000" y="1809750"/>
            <a:ext cx="4667250" cy="547249"/>
          </a:xfrm>
          <a:prstGeom prst="rect">
            <a:avLst/>
          </a:prstGeom>
          <a:noFill/>
          <a:ln>
            <a:noFill/>
          </a:ln>
        </p:spPr>
        <p:txBody>
          <a:bodyPr wrap="square" lIns="0" rIns="0" tIns="0" bIns="0" anchor="t">
            <a:noAutofit/>
          </a:bodyPr>
          <a:lstStyle/>
          <a:p>
            <a:pPr>
              <a:lnSpc>
                <a:spcPct val="130000"/>
              </a:lnSpc>
            </a:pPr>
            <a:r>
              <a:rPr lang="en-US" sz="2325" b="1">
                <a:solidFill>
                  <a:srgbClr val="102E40"/>
                </a:solidFill>
                <a:latin typeface="Arial"/>
              </a:rPr>
              <a:t xml:space="preserve">Proposed</a:t>
            </a:r>
            <a:endParaRPr lang="en-US"/>
          </a:p>
        </p:txBody>
      </p:sp>
      <p:sp>
        <p:nvSpPr>
          <p:cNvPr id="12" name="•"/>
          <p:cNvSpPr txBox="1"/>
          <p:nvPr/>
        </p:nvSpPr>
        <p:spPr>
          <a:xfrm>
            <a:off x="6858000" y="238125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13" name="Elapsed waits and request cancellation"/>
          <p:cNvSpPr txBox="1"/>
          <p:nvPr/>
        </p:nvSpPr>
        <p:spPr>
          <a:xfrm>
            <a:off x="7086600" y="2381250"/>
            <a:ext cx="4438650" cy="47419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Elapsed waits and request cancellation</a:t>
            </a:r>
            <a:endParaRPr lang="en-US"/>
          </a:p>
        </p:txBody>
      </p:sp>
      <p:sp>
        <p:nvSpPr>
          <p:cNvPr id="14" name="•"/>
          <p:cNvSpPr txBox="1"/>
          <p:nvPr/>
        </p:nvSpPr>
        <p:spPr>
          <a:xfrm>
            <a:off x="6858000" y="297942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15" name="Unscored review, refine and discard"/>
          <p:cNvSpPr txBox="1"/>
          <p:nvPr/>
        </p:nvSpPr>
        <p:spPr>
          <a:xfrm>
            <a:off x="7086600" y="2979420"/>
            <a:ext cx="4438650" cy="47419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Unscored review, refine and discard</a:t>
            </a:r>
            <a:endParaRPr lang="en-US"/>
          </a:p>
        </p:txBody>
      </p:sp>
      <p:sp>
        <p:nvSpPr>
          <p:cNvPr id="16" name="•"/>
          <p:cNvSpPr txBox="1"/>
          <p:nvPr/>
        </p:nvSpPr>
        <p:spPr>
          <a:xfrm>
            <a:off x="6858000" y="357759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17" name="Practice undo and uncertainty states"/>
          <p:cNvSpPr txBox="1"/>
          <p:nvPr/>
        </p:nvSpPr>
        <p:spPr>
          <a:xfrm>
            <a:off x="7086600" y="3577590"/>
            <a:ext cx="4438650" cy="47419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Practice undo and uncertainty states</a:t>
            </a:r>
            <a:endParaRPr lang="en-US"/>
          </a:p>
        </p:txBody>
      </p:sp>
      <p:sp>
        <p:nvSpPr>
          <p:cNvPr id="18" name="Before submission: review contributions, collect peer c"/>
          <p:cNvSpPr txBox="1"/>
          <p:nvPr/>
        </p:nvSpPr>
        <p:spPr>
          <a:xfrm>
            <a:off x="609600" y="5429250"/>
            <a:ext cx="10858500" cy="824865"/>
          </a:xfrm>
          <a:prstGeom prst="rect">
            <a:avLst/>
          </a:prstGeom>
          <a:noFill/>
          <a:ln>
            <a:noFill/>
          </a:ln>
        </p:spPr>
        <p:txBody>
          <a:bodyPr wrap="square" lIns="0" rIns="0" tIns="0" bIns="0" anchor="t">
            <a:noAutofit/>
          </a:bodyPr>
          <a:lstStyle/>
          <a:p>
            <a:pPr>
              <a:lnSpc>
                <a:spcPct val="130000"/>
              </a:lnSpc>
            </a:pPr>
            <a:r>
              <a:rPr lang="en-US" sz="1875" b="0">
                <a:solidFill>
                  <a:srgbClr val="526875"/>
                </a:solidFill>
                <a:latin typeface="Arial"/>
              </a:rPr>
              <a:t xml:space="preserve">Before submission: review contributions, collect peer critique and verify the solo arrangement. Personas remain provisional.</a:t>
            </a:r>
            <a:endParaRPr lang="en-US"/>
          </a:p>
        </p:txBody>
      </p:sp>
      <p:sp>
        <p:nvSpPr>
          <p:cNvPr id="19" name="Farshore / Phase 2 / 12"/>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12</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